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67736C"/>
                </a:solidFill>
                <a:latin typeface="Calibri"/>
              </a:defRPr>
            </a:pPr>
            <a:r>
              <a:rPr sz="1100" b="0" i="0" u="none" strike="noStrike">
                <a:solidFill>
                  <a:srgbClr val="67736C"/>
                </a:solidFill>
                <a:latin typeface="Calibri"/>
              </a:rPr>
              <a:t>Margin against wastage — midpoints of industry ranges (demo)</a:t>
            </a:r>
          </a:p>
        </c:rich>
      </c:tx>
      <c:layout/>
      <c:overlay val="0"/>
    </c:title>
    <c:autoTitleDeleted val="0"/>
    <c:plotArea>
      <c:layout/>
      <c:barChart>
        <c:barDir val="col"/>
        <c:grouping val="clustered"/>
        <c:varyColors val="0"/>
        <c:ser>
          <c:idx val="0"/>
          <c:order val="0"/>
          <c:tx>
            <c:strRef>
              <c:f>Sheet1!$B$1</c:f>
              <c:strCache>
                <c:ptCount val="1"/>
                <c:pt idx="0">
                  <c:v>Gross margin %</c:v>
                </c:pt>
              </c:strCache>
            </c:strRef>
          </c:tx>
          <c:spPr>
            <a:solidFill>
              <a:srgbClr val="1F7A4D"/>
            </a:solidFill>
            <a:effectLst/>
          </c:spPr>
          <c:invertIfNegative val="0"/>
          <c:dLbls>
            <c:numFmt formatCode="0.0&quot;%&quot;" sourceLinked="0"/>
            <c:txPr>
              <a:bodyPr/>
              <a:lstStyle/>
              <a:p>
                <a:pPr>
                  <a:defRPr b="0" i="0" strike="noStrike" sz="1000" u="none">
                    <a:solidFill>
                      <a:srgbClr val="3D4A4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Staples &amp; grocery</c:v>
                  </c:pt>
                  <c:pt idx="1">
                    <c:v>Fruits &amp; vegetables</c:v>
                  </c:pt>
                  <c:pt idx="2">
                    <c:v>Beauty &amp; personal care</c:v>
                  </c:pt>
                </c:lvl>
              </c:multiLvlStrCache>
            </c:multiLvlStrRef>
          </c:cat>
          <c:val>
            <c:numRef>
              <c:f>Sheet1!$B$2:$B$4</c:f>
              <c:numCache>
                <c:formatCode>General</c:formatCode>
                <c:ptCount val="3"/>
                <c:pt idx="0">
                  <c:v>5.5</c:v>
                </c:pt>
                <c:pt idx="1">
                  <c:v>18.5</c:v>
                </c:pt>
                <c:pt idx="2">
                  <c:v>18.5</c:v>
                </c:pt>
              </c:numCache>
            </c:numRef>
          </c:val>
        </c:ser>
        <c:ser>
          <c:idx val="1"/>
          <c:order val="1"/>
          <c:tx>
            <c:strRef>
              <c:f>Sheet1!$C$1</c:f>
              <c:strCache>
                <c:ptCount val="1"/>
                <c:pt idx="0">
                  <c:v>Wastage %</c:v>
                </c:pt>
              </c:strCache>
            </c:strRef>
          </c:tx>
          <c:spPr>
            <a:solidFill>
              <a:srgbClr val="A33228"/>
            </a:solidFill>
            <a:effectLst/>
          </c:spPr>
          <c:invertIfNegative val="0"/>
          <c:dLbls>
            <c:numFmt formatCode="0.0&quot;%&quot;" sourceLinked="0"/>
            <c:txPr>
              <a:bodyPr/>
              <a:lstStyle/>
              <a:p>
                <a:pPr>
                  <a:defRPr b="0" i="0" strike="noStrike" sz="1000" u="none">
                    <a:solidFill>
                      <a:srgbClr val="3D4A4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Staples &amp; grocery</c:v>
                  </c:pt>
                  <c:pt idx="1">
                    <c:v>Fruits &amp; vegetables</c:v>
                  </c:pt>
                  <c:pt idx="2">
                    <c:v>Beauty &amp; personal care</c:v>
                  </c:pt>
                </c:lvl>
              </c:multiLvlStrCache>
            </c:multiLvlStrRef>
          </c:cat>
          <c:val>
            <c:numRef>
              <c:f>Sheet1!$C$2:$C$4</c:f>
              <c:numCache>
                <c:formatCode>General</c:formatCode>
                <c:ptCount val="3"/>
                <c:pt idx="0">
                  <c:v>0.5</c:v>
                </c:pt>
                <c:pt idx="1">
                  <c:v>11.5</c:v>
                </c:pt>
                <c:pt idx="2">
                  <c:v>1</c:v>
                </c:pt>
              </c:numCache>
            </c:numRef>
          </c:val>
        </c:ser>
        <c:dLbls>
          <c:numFmt formatCode="0.0&quot;%&quot;" sourceLinked="0"/>
          <c:txPr>
            <a:bodyPr/>
            <a:lstStyle/>
            <a:p>
              <a:pPr>
                <a:defRPr b="0" i="0" strike="noStrike" sz="1000" u="none">
                  <a:solidFill>
                    <a:srgbClr val="3D4A43"/>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3D4A43"/>
                </a:solidFill>
                <a:latin typeface="Calibri"/>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12700" cap="flat">
              <a:solidFill>
                <a:srgbClr val="D6D5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7736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3D4A4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this is not a startup idea looking for customers. The business exists and trades today. What we are building is the control layer that lets it scale past what one person can hold in their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here: the hub is where buying power lives, and branches are execution points, not decision points. Same-state means transfers are simple delivery challans with no tax leg — a real simplification.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framing: nothing here is broken today. It is bounded. The ceiling is one person's attention, and the software raises the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in one line: we stopped renting out a shopfront and started trading goods. Every consequence in this deck — credit, working capital, wastage — follows from owning the stock.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of the pivot. Roughly the same contribution percentage, but nineteen times the rupees per order — because delivery cost is per drop, not per rupee.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strategy in one slide. The retail segment is a reorder product — search barely matters, the pre-filled last order is the interface.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Fruits and vegetables carry the most margin and the most risk. Everything the system does about wastage exists because of the red bar on this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second bar as a magnifying glass on the thin green sliver in the first. That sliver is the entire business, and five costs eat two-thirds of it before anything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that separates a real distribution plan from a hopeful one. Growing 40 percent on 30-day credit without funding it is how profitable distributors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ranking is derived from demo numbers. If the founder's real wastage or staples margin differ materially, the ranking shifts and so should the phase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rest of the deck — sell is slide 12, inventory is 13, collect is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undelivered-confirmed-orders term is the one people forget, and it is exactly how credit limits get breached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firm slice protects a two-lakh event from being sold out from under it by eleven walk-up orders. The transit slice stops the same crate being promised at both ends of its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is textbook practice today. It gets tuned to the founder's real trade terms before launch — a policy customers reject is worse than a looser one they respect.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technical audience: the boundary CI checks are the single most valuable thing we did early. They are why a business-model pivot costs one phase instead of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phase starts until the one before passes its gate. The gates are written as observable facts, not opinions — that is what stops a phase being declared done because everyone is tired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risk-control slide. It pre-agrees what 'not yet' looks like, so the decision to slow down is made calmly instead of under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plan that names its own failure modes is easier to trust than one that does not. Over-building is on the risk list too — the business runs fine on a notebook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plainly to any audience: the numbers are placeholders by choice, not by oversight, and the structure does not depend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asymmetry: the hard part — customers, supply, stock, vehicles — already exists. What is being built is the part that lets it grow past one person's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A16"/>
        </a:solidFill>
      </p:bgPr>
    </p:bg>
    <p:spTree>
      <p:nvGrpSpPr>
        <p:cNvPr id="1" name=""/>
        <p:cNvGrpSpPr/>
        <p:nvPr/>
      </p:nvGrpSpPr>
      <p:grpSpPr>
        <a:xfrm>
          <a:off x="0" y="0"/>
          <a:ext cx="0" cy="0"/>
          <a:chOff x="0" y="0"/>
          <a:chExt cx="0" cy="0"/>
        </a:xfrm>
      </p:grpSpPr>
      <p:sp>
        <p:nvSpPr>
          <p:cNvPr id="2" name="Text 0"/>
          <p:cNvSpPr/>
          <p:nvPr/>
        </p:nvSpPr>
        <p:spPr>
          <a:xfrm>
            <a:off x="548640" y="1371600"/>
            <a:ext cx="11064240" cy="274320"/>
          </a:xfrm>
          <a:prstGeom prst="rect">
            <a:avLst/>
          </a:prstGeom>
          <a:noFill/>
          <a:ln/>
        </p:spPr>
        <p:txBody>
          <a:bodyPr wrap="square" lIns="0" tIns="0" rIns="0" bIns="0" rtlCol="0" anchor="ctr"/>
          <a:lstStyle/>
          <a:p>
            <a:pPr indent="0" marL="0">
              <a:buNone/>
            </a:pPr>
            <a:r>
              <a:rPr lang="en-US" sz="1200" b="1" spc="300" kern="0" dirty="0">
                <a:solidFill>
                  <a:srgbClr val="6EC79A"/>
                </a:solidFill>
                <a:latin typeface="Calibri" pitchFamily="34" charset="0"/>
                <a:ea typeface="Calibri" pitchFamily="34" charset="-122"/>
                <a:cs typeface="Calibri" pitchFamily="34" charset="-120"/>
              </a:rPr>
              <a:t>FRESHKIRANA</a:t>
            </a:r>
            <a:endParaRPr lang="en-US" sz="1200" dirty="0"/>
          </a:p>
        </p:txBody>
      </p:sp>
      <p:sp>
        <p:nvSpPr>
          <p:cNvPr id="3" name="Text 1"/>
          <p:cNvSpPr/>
          <p:nvPr/>
        </p:nvSpPr>
        <p:spPr>
          <a:xfrm>
            <a:off x="548640" y="1783080"/>
            <a:ext cx="8595360" cy="1920240"/>
          </a:xfrm>
          <a:prstGeom prst="rect">
            <a:avLst/>
          </a:prstGeom>
          <a:noFill/>
          <a:ln/>
        </p:spPr>
        <p:txBody>
          <a:bodyPr wrap="square" lIns="0" tIns="0" rIns="0" bIns="0" rtlCol="0" anchor="ctr"/>
          <a:lstStyle/>
          <a:p>
            <a:pPr indent="0" marL="0">
              <a:lnSpc>
                <a:spcPct val="102000"/>
              </a:lnSpc>
              <a:buNone/>
            </a:pPr>
            <a:r>
              <a:rPr lang="en-US" sz="5200" b="1" dirty="0">
                <a:solidFill>
                  <a:srgbClr val="E9ECE7"/>
                </a:solidFill>
                <a:latin typeface="Cambria" pitchFamily="34" charset="0"/>
                <a:ea typeface="Cambria" pitchFamily="34" charset="-122"/>
                <a:cs typeface="Cambria" pitchFamily="34" charset="-120"/>
              </a:rPr>
              <a:t>One hub.</a:t>
            </a:r>
            <a:endParaRPr lang="en-US" sz="5200" dirty="0"/>
          </a:p>
          <a:p>
            <a:pPr indent="0" marL="0">
              <a:lnSpc>
                <a:spcPct val="102000"/>
              </a:lnSpc>
              <a:buNone/>
            </a:pPr>
            <a:r>
              <a:rPr lang="en-US" sz="5200" b="1" dirty="0">
                <a:solidFill>
                  <a:srgbClr val="E9ECE7"/>
                </a:solidFill>
                <a:latin typeface="Cambria" pitchFamily="34" charset="0"/>
                <a:ea typeface="Cambria" pitchFamily="34" charset="-122"/>
                <a:cs typeface="Cambria" pitchFamily="34" charset="-120"/>
              </a:rPr>
              <a:t>Every shop supplied.</a:t>
            </a:r>
            <a:endParaRPr lang="en-US" sz="5200" dirty="0"/>
          </a:p>
        </p:txBody>
      </p:sp>
      <p:sp>
        <p:nvSpPr>
          <p:cNvPr id="4" name="Text 2"/>
          <p:cNvSpPr/>
          <p:nvPr/>
        </p:nvSpPr>
        <p:spPr>
          <a:xfrm>
            <a:off x="548640" y="3886200"/>
            <a:ext cx="7863840" cy="914400"/>
          </a:xfrm>
          <a:prstGeom prst="rect">
            <a:avLst/>
          </a:prstGeom>
          <a:noFill/>
          <a:ln/>
        </p:spPr>
        <p:txBody>
          <a:bodyPr wrap="square" lIns="0" tIns="0" rIns="0" bIns="0" rtlCol="0" anchor="ctr"/>
          <a:lstStyle/>
          <a:p>
            <a:pPr indent="0" marL="0">
              <a:lnSpc>
                <a:spcPct val="125000"/>
              </a:lnSpc>
              <a:buNone/>
            </a:pPr>
            <a:r>
              <a:rPr lang="en-US" sz="1500" dirty="0">
                <a:solidFill>
                  <a:srgbClr val="9AA69F"/>
                </a:solidFill>
                <a:latin typeface="Calibri" pitchFamily="34" charset="0"/>
                <a:ea typeface="Calibri" pitchFamily="34" charset="-122"/>
                <a:cs typeface="Calibri" pitchFamily="34" charset="-120"/>
              </a:rPr>
              <a:t>A B2B grocery distribution business — real shops, real stock, real vehicles — being given a single digital control tower, so it runs from one place and grows without breaking.</a:t>
            </a:r>
            <a:endParaRPr lang="en-US" sz="1500" dirty="0"/>
          </a:p>
        </p:txBody>
      </p:sp>
      <p:sp>
        <p:nvSpPr>
          <p:cNvPr id="5" name="Shape 3"/>
          <p:cNvSpPr/>
          <p:nvPr/>
        </p:nvSpPr>
        <p:spPr>
          <a:xfrm>
            <a:off x="548640" y="5074920"/>
            <a:ext cx="2578608" cy="841248"/>
          </a:xfrm>
          <a:prstGeom prst="roundRect">
            <a:avLst>
              <a:gd name="adj" fmla="val 6522"/>
            </a:avLst>
          </a:prstGeom>
          <a:solidFill>
            <a:srgbClr val="1B2A23"/>
          </a:solidFill>
          <a:ln w="12700">
            <a:solidFill>
              <a:srgbClr val="2C3E35"/>
            </a:solidFill>
            <a:prstDash val="solid"/>
          </a:ln>
        </p:spPr>
      </p:sp>
      <p:sp>
        <p:nvSpPr>
          <p:cNvPr id="6" name="Text 4"/>
          <p:cNvSpPr/>
          <p:nvPr/>
        </p:nvSpPr>
        <p:spPr>
          <a:xfrm>
            <a:off x="749808" y="5175504"/>
            <a:ext cx="2194560" cy="274320"/>
          </a:xfrm>
          <a:prstGeom prst="rect">
            <a:avLst/>
          </a:prstGeom>
          <a:noFill/>
          <a:ln/>
        </p:spPr>
        <p:txBody>
          <a:bodyPr wrap="square" lIns="0" tIns="0" rIns="0" bIns="0" rtlCol="0" anchor="ctr"/>
          <a:lstStyle/>
          <a:p>
            <a:pPr indent="0" marL="0">
              <a:buNone/>
            </a:pPr>
            <a:r>
              <a:rPr lang="en-US" sz="1300" b="1" dirty="0">
                <a:solidFill>
                  <a:srgbClr val="6EC79A"/>
                </a:solidFill>
                <a:latin typeface="Calibri" pitchFamily="34" charset="0"/>
                <a:ea typeface="Calibri" pitchFamily="34" charset="-122"/>
                <a:cs typeface="Calibri" pitchFamily="34" charset="-120"/>
              </a:rPr>
              <a:t>Running business</a:t>
            </a:r>
            <a:endParaRPr lang="en-US" sz="1300" dirty="0"/>
          </a:p>
        </p:txBody>
      </p:sp>
      <p:sp>
        <p:nvSpPr>
          <p:cNvPr id="7" name="Text 5"/>
          <p:cNvSpPr/>
          <p:nvPr/>
        </p:nvSpPr>
        <p:spPr>
          <a:xfrm>
            <a:off x="749808" y="5449824"/>
            <a:ext cx="2194560" cy="274320"/>
          </a:xfrm>
          <a:prstGeom prst="rect">
            <a:avLst/>
          </a:prstGeom>
          <a:noFill/>
          <a:ln/>
        </p:spPr>
        <p:txBody>
          <a:bodyPr wrap="square" lIns="0" tIns="0" rIns="0" bIns="0" rtlCol="0" anchor="ctr"/>
          <a:lstStyle/>
          <a:p>
            <a:pPr indent="0" marL="0">
              <a:buNone/>
            </a:pPr>
            <a:r>
              <a:rPr lang="en-US" sz="1100" dirty="0">
                <a:solidFill>
                  <a:srgbClr val="9AA69F"/>
                </a:solidFill>
                <a:latin typeface="Calibri" pitchFamily="34" charset="0"/>
                <a:ea typeface="Calibri" pitchFamily="34" charset="-122"/>
                <a:cs typeface="Calibri" pitchFamily="34" charset="-120"/>
              </a:rPr>
              <a:t>not a concept</a:t>
            </a:r>
            <a:endParaRPr lang="en-US" sz="1100" dirty="0"/>
          </a:p>
        </p:txBody>
      </p:sp>
      <p:sp>
        <p:nvSpPr>
          <p:cNvPr id="8" name="Shape 6"/>
          <p:cNvSpPr/>
          <p:nvPr/>
        </p:nvSpPr>
        <p:spPr>
          <a:xfrm>
            <a:off x="3346704" y="5074920"/>
            <a:ext cx="2578608" cy="841248"/>
          </a:xfrm>
          <a:prstGeom prst="roundRect">
            <a:avLst>
              <a:gd name="adj" fmla="val 6522"/>
            </a:avLst>
          </a:prstGeom>
          <a:solidFill>
            <a:srgbClr val="1B2A23"/>
          </a:solidFill>
          <a:ln w="12700">
            <a:solidFill>
              <a:srgbClr val="2C3E35"/>
            </a:solidFill>
            <a:prstDash val="solid"/>
          </a:ln>
        </p:spPr>
      </p:sp>
      <p:sp>
        <p:nvSpPr>
          <p:cNvPr id="9" name="Text 7"/>
          <p:cNvSpPr/>
          <p:nvPr/>
        </p:nvSpPr>
        <p:spPr>
          <a:xfrm>
            <a:off x="3547872" y="5175504"/>
            <a:ext cx="2194560" cy="274320"/>
          </a:xfrm>
          <a:prstGeom prst="rect">
            <a:avLst/>
          </a:prstGeom>
          <a:noFill/>
          <a:ln/>
        </p:spPr>
        <p:txBody>
          <a:bodyPr wrap="square" lIns="0" tIns="0" rIns="0" bIns="0" rtlCol="0" anchor="ctr"/>
          <a:lstStyle/>
          <a:p>
            <a:pPr indent="0" marL="0">
              <a:buNone/>
            </a:pPr>
            <a:r>
              <a:rPr lang="en-US" sz="1300" b="1" dirty="0">
                <a:solidFill>
                  <a:srgbClr val="6EC79A"/>
                </a:solidFill>
                <a:latin typeface="Calibri" pitchFamily="34" charset="0"/>
                <a:ea typeface="Calibri" pitchFamily="34" charset="-122"/>
                <a:cs typeface="Calibri" pitchFamily="34" charset="-120"/>
              </a:rPr>
              <a:t>Platform live</a:t>
            </a:r>
            <a:endParaRPr lang="en-US" sz="1300" dirty="0"/>
          </a:p>
        </p:txBody>
      </p:sp>
      <p:sp>
        <p:nvSpPr>
          <p:cNvPr id="10" name="Text 8"/>
          <p:cNvSpPr/>
          <p:nvPr/>
        </p:nvSpPr>
        <p:spPr>
          <a:xfrm>
            <a:off x="3547872" y="5449824"/>
            <a:ext cx="2194560" cy="274320"/>
          </a:xfrm>
          <a:prstGeom prst="rect">
            <a:avLst/>
          </a:prstGeom>
          <a:noFill/>
          <a:ln/>
        </p:spPr>
        <p:txBody>
          <a:bodyPr wrap="square" lIns="0" tIns="0" rIns="0" bIns="0" rtlCol="0" anchor="ctr"/>
          <a:lstStyle/>
          <a:p>
            <a:pPr indent="0" marL="0">
              <a:buNone/>
            </a:pPr>
            <a:r>
              <a:rPr lang="en-US" sz="1100" dirty="0">
                <a:solidFill>
                  <a:srgbClr val="9AA69F"/>
                </a:solidFill>
                <a:latin typeface="Calibri" pitchFamily="34" charset="0"/>
                <a:ea typeface="Calibri" pitchFamily="34" charset="-122"/>
                <a:cs typeface="Calibri" pitchFamily="34" charset="-120"/>
              </a:rPr>
              <a:t>on Google Cloud</a:t>
            </a:r>
            <a:endParaRPr lang="en-US" sz="1100" dirty="0"/>
          </a:p>
        </p:txBody>
      </p:sp>
      <p:sp>
        <p:nvSpPr>
          <p:cNvPr id="11" name="Shape 9"/>
          <p:cNvSpPr/>
          <p:nvPr/>
        </p:nvSpPr>
        <p:spPr>
          <a:xfrm>
            <a:off x="6144768" y="5074920"/>
            <a:ext cx="2578608" cy="841248"/>
          </a:xfrm>
          <a:prstGeom prst="roundRect">
            <a:avLst>
              <a:gd name="adj" fmla="val 6522"/>
            </a:avLst>
          </a:prstGeom>
          <a:solidFill>
            <a:srgbClr val="1B2A23"/>
          </a:solidFill>
          <a:ln w="12700">
            <a:solidFill>
              <a:srgbClr val="2C3E35"/>
            </a:solidFill>
            <a:prstDash val="solid"/>
          </a:ln>
        </p:spPr>
      </p:sp>
      <p:sp>
        <p:nvSpPr>
          <p:cNvPr id="12" name="Text 10"/>
          <p:cNvSpPr/>
          <p:nvPr/>
        </p:nvSpPr>
        <p:spPr>
          <a:xfrm>
            <a:off x="6345936" y="5175504"/>
            <a:ext cx="2194560" cy="274320"/>
          </a:xfrm>
          <a:prstGeom prst="rect">
            <a:avLst/>
          </a:prstGeom>
          <a:noFill/>
          <a:ln/>
        </p:spPr>
        <p:txBody>
          <a:bodyPr wrap="square" lIns="0" tIns="0" rIns="0" bIns="0" rtlCol="0" anchor="ctr"/>
          <a:lstStyle/>
          <a:p>
            <a:pPr indent="0" marL="0">
              <a:buNone/>
            </a:pPr>
            <a:r>
              <a:rPr lang="en-US" sz="1300" b="1" dirty="0">
                <a:solidFill>
                  <a:srgbClr val="6EC79A"/>
                </a:solidFill>
                <a:latin typeface="Calibri" pitchFamily="34" charset="0"/>
                <a:ea typeface="Calibri" pitchFamily="34" charset="-122"/>
                <a:cs typeface="Calibri" pitchFamily="34" charset="-120"/>
              </a:rPr>
              <a:t>753 tests</a:t>
            </a:r>
            <a:endParaRPr lang="en-US" sz="1300" dirty="0"/>
          </a:p>
        </p:txBody>
      </p:sp>
      <p:sp>
        <p:nvSpPr>
          <p:cNvPr id="13" name="Text 11"/>
          <p:cNvSpPr/>
          <p:nvPr/>
        </p:nvSpPr>
        <p:spPr>
          <a:xfrm>
            <a:off x="6345936" y="5449824"/>
            <a:ext cx="2194560" cy="274320"/>
          </a:xfrm>
          <a:prstGeom prst="rect">
            <a:avLst/>
          </a:prstGeom>
          <a:noFill/>
          <a:ln/>
        </p:spPr>
        <p:txBody>
          <a:bodyPr wrap="square" lIns="0" tIns="0" rIns="0" bIns="0" rtlCol="0" anchor="ctr"/>
          <a:lstStyle/>
          <a:p>
            <a:pPr indent="0" marL="0">
              <a:buNone/>
            </a:pPr>
            <a:r>
              <a:rPr lang="en-US" sz="1100" dirty="0">
                <a:solidFill>
                  <a:srgbClr val="9AA69F"/>
                </a:solidFill>
                <a:latin typeface="Calibri" pitchFamily="34" charset="0"/>
                <a:ea typeface="Calibri" pitchFamily="34" charset="-122"/>
                <a:cs typeface="Calibri" pitchFamily="34" charset="-120"/>
              </a:rPr>
              <a:t>green in CI</a:t>
            </a:r>
            <a:endParaRPr lang="en-US" sz="1100" dirty="0"/>
          </a:p>
        </p:txBody>
      </p:sp>
      <p:sp>
        <p:nvSpPr>
          <p:cNvPr id="14" name="Shape 12"/>
          <p:cNvSpPr/>
          <p:nvPr/>
        </p:nvSpPr>
        <p:spPr>
          <a:xfrm>
            <a:off x="8942832" y="5074920"/>
            <a:ext cx="2578608" cy="841248"/>
          </a:xfrm>
          <a:prstGeom prst="roundRect">
            <a:avLst>
              <a:gd name="adj" fmla="val 6522"/>
            </a:avLst>
          </a:prstGeom>
          <a:solidFill>
            <a:srgbClr val="1B2A23"/>
          </a:solidFill>
          <a:ln w="12700">
            <a:solidFill>
              <a:srgbClr val="2C3E35"/>
            </a:solidFill>
            <a:prstDash val="solid"/>
          </a:ln>
        </p:spPr>
      </p:sp>
      <p:sp>
        <p:nvSpPr>
          <p:cNvPr id="15" name="Text 13"/>
          <p:cNvSpPr/>
          <p:nvPr/>
        </p:nvSpPr>
        <p:spPr>
          <a:xfrm>
            <a:off x="9144000" y="5175504"/>
            <a:ext cx="2194560" cy="274320"/>
          </a:xfrm>
          <a:prstGeom prst="rect">
            <a:avLst/>
          </a:prstGeom>
          <a:noFill/>
          <a:ln/>
        </p:spPr>
        <p:txBody>
          <a:bodyPr wrap="square" lIns="0" tIns="0" rIns="0" bIns="0" rtlCol="0" anchor="ctr"/>
          <a:lstStyle/>
          <a:p>
            <a:pPr indent="0" marL="0">
              <a:buNone/>
            </a:pPr>
            <a:r>
              <a:rPr lang="en-US" sz="1300" b="1" dirty="0">
                <a:solidFill>
                  <a:srgbClr val="6EC79A"/>
                </a:solidFill>
                <a:latin typeface="Calibri" pitchFamily="34" charset="0"/>
                <a:ea typeface="Calibri" pitchFamily="34" charset="-122"/>
                <a:cs typeface="Calibri" pitchFamily="34" charset="-120"/>
              </a:rPr>
              <a:t>8 phases</a:t>
            </a:r>
            <a:endParaRPr lang="en-US" sz="1300" dirty="0"/>
          </a:p>
        </p:txBody>
      </p:sp>
      <p:sp>
        <p:nvSpPr>
          <p:cNvPr id="16" name="Text 14"/>
          <p:cNvSpPr/>
          <p:nvPr/>
        </p:nvSpPr>
        <p:spPr>
          <a:xfrm>
            <a:off x="9144000" y="5449824"/>
            <a:ext cx="2194560" cy="274320"/>
          </a:xfrm>
          <a:prstGeom prst="rect">
            <a:avLst/>
          </a:prstGeom>
          <a:noFill/>
          <a:ln/>
        </p:spPr>
        <p:txBody>
          <a:bodyPr wrap="square" lIns="0" tIns="0" rIns="0" bIns="0" rtlCol="0" anchor="ctr"/>
          <a:lstStyle/>
          <a:p>
            <a:pPr indent="0" marL="0">
              <a:buNone/>
            </a:pPr>
            <a:r>
              <a:rPr lang="en-US" sz="1100" dirty="0">
                <a:solidFill>
                  <a:srgbClr val="9AA69F"/>
                </a:solidFill>
                <a:latin typeface="Calibri" pitchFamily="34" charset="0"/>
                <a:ea typeface="Calibri" pitchFamily="34" charset="-122"/>
                <a:cs typeface="Calibri" pitchFamily="34" charset="-120"/>
              </a:rPr>
              <a:t>mapped ahead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BUSINESS TODAY</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Hub and spoke, already running</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The main shop buys and holds depth. Branch shops carry stock sized to their own local demand. All of it sits in one state, under one GST registration.</a:t>
            </a:r>
            <a:endParaRPr lang="en-US" sz="1400" dirty="0"/>
          </a:p>
        </p:txBody>
      </p:sp>
      <p:sp>
        <p:nvSpPr>
          <p:cNvPr id="5" name="Shape 3"/>
          <p:cNvSpPr/>
          <p:nvPr/>
        </p:nvSpPr>
        <p:spPr>
          <a:xfrm>
            <a:off x="4160520" y="1874520"/>
            <a:ext cx="3840480" cy="777240"/>
          </a:xfrm>
          <a:prstGeom prst="roundRect">
            <a:avLst>
              <a:gd name="adj" fmla="val 7059"/>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6" name="Text 4"/>
          <p:cNvSpPr/>
          <p:nvPr/>
        </p:nvSpPr>
        <p:spPr>
          <a:xfrm>
            <a:off x="4160520" y="1956816"/>
            <a:ext cx="3840480" cy="256032"/>
          </a:xfrm>
          <a:prstGeom prst="rect">
            <a:avLst/>
          </a:prstGeom>
          <a:noFill/>
          <a:ln/>
        </p:spPr>
        <p:txBody>
          <a:bodyPr wrap="square" lIns="0" tIns="0" rIns="0" bIns="0" rtlCol="0" anchor="ctr"/>
          <a:lstStyle/>
          <a:p>
            <a:pPr algn="ctr" indent="0" marL="0">
              <a:buNone/>
            </a:pPr>
            <a:r>
              <a:rPr lang="en-US" sz="1100" b="1" spc="140" kern="0" dirty="0">
                <a:solidFill>
                  <a:srgbClr val="1F7A4D"/>
                </a:solidFill>
                <a:latin typeface="Calibri" pitchFamily="34" charset="0"/>
                <a:ea typeface="Calibri" pitchFamily="34" charset="-122"/>
                <a:cs typeface="Calibri" pitchFamily="34" charset="-120"/>
              </a:rPr>
              <a:t>THE HUB</a:t>
            </a:r>
            <a:endParaRPr lang="en-US" sz="1100" dirty="0"/>
          </a:p>
        </p:txBody>
      </p:sp>
      <p:sp>
        <p:nvSpPr>
          <p:cNvPr id="7" name="Text 5"/>
          <p:cNvSpPr/>
          <p:nvPr/>
        </p:nvSpPr>
        <p:spPr>
          <a:xfrm>
            <a:off x="4251960" y="2231136"/>
            <a:ext cx="3657600" cy="310896"/>
          </a:xfrm>
          <a:prstGeom prst="rect">
            <a:avLst/>
          </a:prstGeom>
          <a:noFill/>
          <a:ln/>
        </p:spPr>
        <p:txBody>
          <a:bodyPr wrap="square" lIns="0" tIns="0" rIns="0" bIns="0" rtlCol="0" anchor="ctr"/>
          <a:lstStyle/>
          <a:p>
            <a:pPr algn="ctr" indent="0" marL="0">
              <a:buNone/>
            </a:pPr>
            <a:r>
              <a:rPr lang="en-US" sz="1100" dirty="0">
                <a:solidFill>
                  <a:srgbClr val="3D4A43"/>
                </a:solidFill>
                <a:latin typeface="Calibri" pitchFamily="34" charset="0"/>
                <a:ea typeface="Calibri" pitchFamily="34" charset="-122"/>
                <a:cs typeface="Calibri" pitchFamily="34" charset="-120"/>
              </a:rPr>
              <a:t>main shop + main inventory · all buying happens here</a:t>
            </a:r>
            <a:endParaRPr lang="en-US" sz="1100" dirty="0"/>
          </a:p>
        </p:txBody>
      </p:sp>
      <p:sp>
        <p:nvSpPr>
          <p:cNvPr id="8" name="Shape 6"/>
          <p:cNvSpPr/>
          <p:nvPr/>
        </p:nvSpPr>
        <p:spPr>
          <a:xfrm>
            <a:off x="6080760" y="2651760"/>
            <a:ext cx="0" cy="274320"/>
          </a:xfrm>
          <a:prstGeom prst="line">
            <a:avLst/>
          </a:prstGeom>
          <a:noFill/>
          <a:ln w="19050">
            <a:solidFill>
              <a:srgbClr val="D6D5CB"/>
            </a:solidFill>
            <a:prstDash val="solid"/>
            <a:tailEnd type="triangle"/>
          </a:ln>
        </p:spPr>
      </p:sp>
      <p:sp>
        <p:nvSpPr>
          <p:cNvPr id="9" name="Text 7"/>
          <p:cNvSpPr/>
          <p:nvPr/>
        </p:nvSpPr>
        <p:spPr>
          <a:xfrm>
            <a:off x="6355080" y="2670048"/>
            <a:ext cx="4937760" cy="237744"/>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stock transfer on a delivery challan — same state, no tax leg</a:t>
            </a:r>
            <a:endParaRPr lang="en-US" sz="1000" dirty="0"/>
          </a:p>
        </p:txBody>
      </p:sp>
      <p:sp>
        <p:nvSpPr>
          <p:cNvPr id="10" name="Shape 8"/>
          <p:cNvSpPr/>
          <p:nvPr/>
        </p:nvSpPr>
        <p:spPr>
          <a:xfrm>
            <a:off x="850392" y="2999232"/>
            <a:ext cx="2331720" cy="786384"/>
          </a:xfrm>
          <a:prstGeom prst="roundRect">
            <a:avLst>
              <a:gd name="adj" fmla="val 6977"/>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1" name="Text 9"/>
          <p:cNvSpPr/>
          <p:nvPr/>
        </p:nvSpPr>
        <p:spPr>
          <a:xfrm>
            <a:off x="850392" y="3090672"/>
            <a:ext cx="2331720" cy="256032"/>
          </a:xfrm>
          <a:prstGeom prst="rect">
            <a:avLst/>
          </a:prstGeom>
          <a:noFill/>
          <a:ln/>
        </p:spPr>
        <p:txBody>
          <a:bodyPr wrap="square" lIns="0" tIns="0" rIns="0" bIns="0" rtlCol="0" anchor="ctr"/>
          <a:lstStyle/>
          <a:p>
            <a:pPr algn="ctr" indent="0" marL="0">
              <a:buNone/>
            </a:pPr>
            <a:r>
              <a:rPr lang="en-US" sz="1300" b="1" dirty="0">
                <a:solidFill>
                  <a:srgbClr val="14201A"/>
                </a:solidFill>
                <a:latin typeface="Calibri" pitchFamily="34" charset="0"/>
                <a:ea typeface="Calibri" pitchFamily="34" charset="-122"/>
                <a:cs typeface="Calibri" pitchFamily="34" charset="-120"/>
              </a:rPr>
              <a:t>Branch 1</a:t>
            </a:r>
            <a:endParaRPr lang="en-US" sz="1300" dirty="0"/>
          </a:p>
        </p:txBody>
      </p:sp>
      <p:sp>
        <p:nvSpPr>
          <p:cNvPr id="12" name="Text 10"/>
          <p:cNvSpPr/>
          <p:nvPr/>
        </p:nvSpPr>
        <p:spPr>
          <a:xfrm>
            <a:off x="941832" y="3346704"/>
            <a:ext cx="2148840" cy="256032"/>
          </a:xfrm>
          <a:prstGeom prst="rect">
            <a:avLst/>
          </a:prstGeom>
          <a:noFill/>
          <a:ln/>
        </p:spPr>
        <p:txBody>
          <a:bodyPr wrap="square" lIns="0" tIns="0" rIns="0" bIns="0" rtlCol="0" anchor="ctr"/>
          <a:lstStyle/>
          <a:p>
            <a:pPr algn="ctr" indent="0" marL="0">
              <a:buNone/>
            </a:pPr>
            <a:r>
              <a:rPr lang="en-US" sz="1000" dirty="0">
                <a:solidFill>
                  <a:srgbClr val="67736C"/>
                </a:solidFill>
                <a:latin typeface="Calibri" pitchFamily="34" charset="0"/>
                <a:ea typeface="Calibri" pitchFamily="34" charset="-122"/>
                <a:cs typeface="Calibri" pitchFamily="34" charset="-120"/>
              </a:rPr>
              <a:t>stock sized to local demand</a:t>
            </a:r>
            <a:endParaRPr lang="en-US" sz="1000" dirty="0"/>
          </a:p>
        </p:txBody>
      </p:sp>
      <p:sp>
        <p:nvSpPr>
          <p:cNvPr id="13" name="Shape 11"/>
          <p:cNvSpPr/>
          <p:nvPr/>
        </p:nvSpPr>
        <p:spPr>
          <a:xfrm>
            <a:off x="2016252" y="3785616"/>
            <a:ext cx="0" cy="274320"/>
          </a:xfrm>
          <a:prstGeom prst="line">
            <a:avLst/>
          </a:prstGeom>
          <a:noFill/>
          <a:ln w="19050">
            <a:solidFill>
              <a:srgbClr val="D6D5CB"/>
            </a:solidFill>
            <a:prstDash val="solid"/>
            <a:tailEnd type="triangle"/>
          </a:ln>
        </p:spPr>
      </p:sp>
      <p:sp>
        <p:nvSpPr>
          <p:cNvPr id="14" name="Shape 12"/>
          <p:cNvSpPr/>
          <p:nvPr/>
        </p:nvSpPr>
        <p:spPr>
          <a:xfrm>
            <a:off x="3465576" y="2999232"/>
            <a:ext cx="2331720" cy="786384"/>
          </a:xfrm>
          <a:prstGeom prst="roundRect">
            <a:avLst>
              <a:gd name="adj" fmla="val 6977"/>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5" name="Text 13"/>
          <p:cNvSpPr/>
          <p:nvPr/>
        </p:nvSpPr>
        <p:spPr>
          <a:xfrm>
            <a:off x="3465576" y="3090672"/>
            <a:ext cx="2331720" cy="256032"/>
          </a:xfrm>
          <a:prstGeom prst="rect">
            <a:avLst/>
          </a:prstGeom>
          <a:noFill/>
          <a:ln/>
        </p:spPr>
        <p:txBody>
          <a:bodyPr wrap="square" lIns="0" tIns="0" rIns="0" bIns="0" rtlCol="0" anchor="ctr"/>
          <a:lstStyle/>
          <a:p>
            <a:pPr algn="ctr" indent="0" marL="0">
              <a:buNone/>
            </a:pPr>
            <a:r>
              <a:rPr lang="en-US" sz="1300" b="1" dirty="0">
                <a:solidFill>
                  <a:srgbClr val="14201A"/>
                </a:solidFill>
                <a:latin typeface="Calibri" pitchFamily="34" charset="0"/>
                <a:ea typeface="Calibri" pitchFamily="34" charset="-122"/>
                <a:cs typeface="Calibri" pitchFamily="34" charset="-120"/>
              </a:rPr>
              <a:t>Branch 2</a:t>
            </a:r>
            <a:endParaRPr lang="en-US" sz="1300" dirty="0"/>
          </a:p>
        </p:txBody>
      </p:sp>
      <p:sp>
        <p:nvSpPr>
          <p:cNvPr id="16" name="Text 14"/>
          <p:cNvSpPr/>
          <p:nvPr/>
        </p:nvSpPr>
        <p:spPr>
          <a:xfrm>
            <a:off x="3557016" y="3346704"/>
            <a:ext cx="2148840" cy="256032"/>
          </a:xfrm>
          <a:prstGeom prst="rect">
            <a:avLst/>
          </a:prstGeom>
          <a:noFill/>
          <a:ln/>
        </p:spPr>
        <p:txBody>
          <a:bodyPr wrap="square" lIns="0" tIns="0" rIns="0" bIns="0" rtlCol="0" anchor="ctr"/>
          <a:lstStyle/>
          <a:p>
            <a:pPr algn="ctr" indent="0" marL="0">
              <a:buNone/>
            </a:pPr>
            <a:r>
              <a:rPr lang="en-US" sz="1000" dirty="0">
                <a:solidFill>
                  <a:srgbClr val="67736C"/>
                </a:solidFill>
                <a:latin typeface="Calibri" pitchFamily="34" charset="0"/>
                <a:ea typeface="Calibri" pitchFamily="34" charset="-122"/>
                <a:cs typeface="Calibri" pitchFamily="34" charset="-120"/>
              </a:rPr>
              <a:t>stock sized to local demand</a:t>
            </a:r>
            <a:endParaRPr lang="en-US" sz="1000" dirty="0"/>
          </a:p>
        </p:txBody>
      </p:sp>
      <p:sp>
        <p:nvSpPr>
          <p:cNvPr id="17" name="Shape 15"/>
          <p:cNvSpPr/>
          <p:nvPr/>
        </p:nvSpPr>
        <p:spPr>
          <a:xfrm>
            <a:off x="4631436" y="3785616"/>
            <a:ext cx="0" cy="274320"/>
          </a:xfrm>
          <a:prstGeom prst="line">
            <a:avLst/>
          </a:prstGeom>
          <a:noFill/>
          <a:ln w="19050">
            <a:solidFill>
              <a:srgbClr val="D6D5CB"/>
            </a:solidFill>
            <a:prstDash val="solid"/>
            <a:tailEnd type="triangle"/>
          </a:ln>
        </p:spPr>
      </p:sp>
      <p:sp>
        <p:nvSpPr>
          <p:cNvPr id="18" name="Shape 16"/>
          <p:cNvSpPr/>
          <p:nvPr/>
        </p:nvSpPr>
        <p:spPr>
          <a:xfrm>
            <a:off x="6080760" y="2999232"/>
            <a:ext cx="2331720" cy="786384"/>
          </a:xfrm>
          <a:prstGeom prst="roundRect">
            <a:avLst>
              <a:gd name="adj" fmla="val 6977"/>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9" name="Text 17"/>
          <p:cNvSpPr/>
          <p:nvPr/>
        </p:nvSpPr>
        <p:spPr>
          <a:xfrm>
            <a:off x="6080760" y="3090672"/>
            <a:ext cx="2331720" cy="256032"/>
          </a:xfrm>
          <a:prstGeom prst="rect">
            <a:avLst/>
          </a:prstGeom>
          <a:noFill/>
          <a:ln/>
        </p:spPr>
        <p:txBody>
          <a:bodyPr wrap="square" lIns="0" tIns="0" rIns="0" bIns="0" rtlCol="0" anchor="ctr"/>
          <a:lstStyle/>
          <a:p>
            <a:pPr algn="ctr" indent="0" marL="0">
              <a:buNone/>
            </a:pPr>
            <a:r>
              <a:rPr lang="en-US" sz="1300" b="1" dirty="0">
                <a:solidFill>
                  <a:srgbClr val="14201A"/>
                </a:solidFill>
                <a:latin typeface="Calibri" pitchFamily="34" charset="0"/>
                <a:ea typeface="Calibri" pitchFamily="34" charset="-122"/>
                <a:cs typeface="Calibri" pitchFamily="34" charset="-120"/>
              </a:rPr>
              <a:t>Branch 3</a:t>
            </a:r>
            <a:endParaRPr lang="en-US" sz="1300" dirty="0"/>
          </a:p>
        </p:txBody>
      </p:sp>
      <p:sp>
        <p:nvSpPr>
          <p:cNvPr id="20" name="Text 18"/>
          <p:cNvSpPr/>
          <p:nvPr/>
        </p:nvSpPr>
        <p:spPr>
          <a:xfrm>
            <a:off x="6172200" y="3346704"/>
            <a:ext cx="2148840" cy="256032"/>
          </a:xfrm>
          <a:prstGeom prst="rect">
            <a:avLst/>
          </a:prstGeom>
          <a:noFill/>
          <a:ln/>
        </p:spPr>
        <p:txBody>
          <a:bodyPr wrap="square" lIns="0" tIns="0" rIns="0" bIns="0" rtlCol="0" anchor="ctr"/>
          <a:lstStyle/>
          <a:p>
            <a:pPr algn="ctr" indent="0" marL="0">
              <a:buNone/>
            </a:pPr>
            <a:r>
              <a:rPr lang="en-US" sz="1000" dirty="0">
                <a:solidFill>
                  <a:srgbClr val="67736C"/>
                </a:solidFill>
                <a:latin typeface="Calibri" pitchFamily="34" charset="0"/>
                <a:ea typeface="Calibri" pitchFamily="34" charset="-122"/>
                <a:cs typeface="Calibri" pitchFamily="34" charset="-120"/>
              </a:rPr>
              <a:t>stock sized to local demand</a:t>
            </a:r>
            <a:endParaRPr lang="en-US" sz="1000" dirty="0"/>
          </a:p>
        </p:txBody>
      </p:sp>
      <p:sp>
        <p:nvSpPr>
          <p:cNvPr id="21" name="Shape 19"/>
          <p:cNvSpPr/>
          <p:nvPr/>
        </p:nvSpPr>
        <p:spPr>
          <a:xfrm>
            <a:off x="7246620" y="3785616"/>
            <a:ext cx="0" cy="274320"/>
          </a:xfrm>
          <a:prstGeom prst="line">
            <a:avLst/>
          </a:prstGeom>
          <a:noFill/>
          <a:ln w="19050">
            <a:solidFill>
              <a:srgbClr val="D6D5CB"/>
            </a:solidFill>
            <a:prstDash val="solid"/>
            <a:tailEnd type="triangle"/>
          </a:ln>
        </p:spPr>
      </p:sp>
      <p:sp>
        <p:nvSpPr>
          <p:cNvPr id="22" name="Shape 20"/>
          <p:cNvSpPr/>
          <p:nvPr/>
        </p:nvSpPr>
        <p:spPr>
          <a:xfrm>
            <a:off x="8695944" y="2999232"/>
            <a:ext cx="2331720" cy="786384"/>
          </a:xfrm>
          <a:prstGeom prst="roundRect">
            <a:avLst>
              <a:gd name="adj" fmla="val 6977"/>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3" name="Text 21"/>
          <p:cNvSpPr/>
          <p:nvPr/>
        </p:nvSpPr>
        <p:spPr>
          <a:xfrm>
            <a:off x="8695944" y="3090672"/>
            <a:ext cx="2331720" cy="256032"/>
          </a:xfrm>
          <a:prstGeom prst="rect">
            <a:avLst/>
          </a:prstGeom>
          <a:noFill/>
          <a:ln/>
        </p:spPr>
        <p:txBody>
          <a:bodyPr wrap="square" lIns="0" tIns="0" rIns="0" bIns="0" rtlCol="0" anchor="ctr"/>
          <a:lstStyle/>
          <a:p>
            <a:pPr algn="ctr" indent="0" marL="0">
              <a:buNone/>
            </a:pPr>
            <a:r>
              <a:rPr lang="en-US" sz="1300" b="1" dirty="0">
                <a:solidFill>
                  <a:srgbClr val="14201A"/>
                </a:solidFill>
                <a:latin typeface="Calibri" pitchFamily="34" charset="0"/>
                <a:ea typeface="Calibri" pitchFamily="34" charset="-122"/>
                <a:cs typeface="Calibri" pitchFamily="34" charset="-120"/>
              </a:rPr>
              <a:t>Branch N</a:t>
            </a:r>
            <a:endParaRPr lang="en-US" sz="1300" dirty="0"/>
          </a:p>
        </p:txBody>
      </p:sp>
      <p:sp>
        <p:nvSpPr>
          <p:cNvPr id="24" name="Text 22"/>
          <p:cNvSpPr/>
          <p:nvPr/>
        </p:nvSpPr>
        <p:spPr>
          <a:xfrm>
            <a:off x="8787384" y="3346704"/>
            <a:ext cx="2148840" cy="256032"/>
          </a:xfrm>
          <a:prstGeom prst="rect">
            <a:avLst/>
          </a:prstGeom>
          <a:noFill/>
          <a:ln/>
        </p:spPr>
        <p:txBody>
          <a:bodyPr wrap="square" lIns="0" tIns="0" rIns="0" bIns="0" rtlCol="0" anchor="ctr"/>
          <a:lstStyle/>
          <a:p>
            <a:pPr algn="ctr" indent="0" marL="0">
              <a:buNone/>
            </a:pPr>
            <a:r>
              <a:rPr lang="en-US" sz="1000" dirty="0">
                <a:solidFill>
                  <a:srgbClr val="67736C"/>
                </a:solidFill>
                <a:latin typeface="Calibri" pitchFamily="34" charset="0"/>
                <a:ea typeface="Calibri" pitchFamily="34" charset="-122"/>
                <a:cs typeface="Calibri" pitchFamily="34" charset="-120"/>
              </a:rPr>
              <a:t>stock sized to local demand</a:t>
            </a:r>
            <a:endParaRPr lang="en-US" sz="1000" dirty="0"/>
          </a:p>
        </p:txBody>
      </p:sp>
      <p:sp>
        <p:nvSpPr>
          <p:cNvPr id="25" name="Shape 23"/>
          <p:cNvSpPr/>
          <p:nvPr/>
        </p:nvSpPr>
        <p:spPr>
          <a:xfrm>
            <a:off x="9861804" y="3785616"/>
            <a:ext cx="0" cy="274320"/>
          </a:xfrm>
          <a:prstGeom prst="line">
            <a:avLst/>
          </a:prstGeom>
          <a:noFill/>
          <a:ln w="19050">
            <a:solidFill>
              <a:srgbClr val="D6D5CB"/>
            </a:solidFill>
            <a:prstDash val="solid"/>
            <a:tailEnd type="triangle"/>
          </a:ln>
        </p:spPr>
      </p:sp>
      <p:sp>
        <p:nvSpPr>
          <p:cNvPr id="26" name="Shape 24"/>
          <p:cNvSpPr/>
          <p:nvPr/>
        </p:nvSpPr>
        <p:spPr>
          <a:xfrm>
            <a:off x="850392" y="4133088"/>
            <a:ext cx="10460736" cy="841248"/>
          </a:xfrm>
          <a:prstGeom prst="roundRect">
            <a:avLst>
              <a:gd name="adj" fmla="val 6522"/>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7" name="Text 25"/>
          <p:cNvSpPr/>
          <p:nvPr/>
        </p:nvSpPr>
        <p:spPr>
          <a:xfrm>
            <a:off x="1097280" y="4233672"/>
            <a:ext cx="2011680" cy="256032"/>
          </a:xfrm>
          <a:prstGeom prst="rect">
            <a:avLst/>
          </a:prstGeom>
          <a:noFill/>
          <a:ln/>
        </p:spPr>
        <p:txBody>
          <a:bodyPr wrap="square" lIns="0" tIns="0" rIns="0" bIns="0" rtlCol="0" anchor="ctr"/>
          <a:lstStyle/>
          <a:p>
            <a:pPr indent="0" marL="0">
              <a:buNone/>
            </a:pPr>
            <a:r>
              <a:rPr lang="en-US" sz="1100" b="1" spc="140" kern="0" dirty="0">
                <a:solidFill>
                  <a:srgbClr val="1F7A4D"/>
                </a:solidFill>
                <a:latin typeface="Calibri" pitchFamily="34" charset="0"/>
                <a:ea typeface="Calibri" pitchFamily="34" charset="-122"/>
                <a:cs typeface="Calibri" pitchFamily="34" charset="-120"/>
              </a:rPr>
              <a:t>CUSTOMERS</a:t>
            </a:r>
            <a:endParaRPr lang="en-US" sz="1100" dirty="0"/>
          </a:p>
        </p:txBody>
      </p:sp>
      <p:sp>
        <p:nvSpPr>
          <p:cNvPr id="28" name="Text 26"/>
          <p:cNvSpPr/>
          <p:nvPr/>
        </p:nvSpPr>
        <p:spPr>
          <a:xfrm>
            <a:off x="1097280" y="4480560"/>
            <a:ext cx="7315200" cy="274320"/>
          </a:xfrm>
          <a:prstGeom prst="rect">
            <a:avLst/>
          </a:prstGeom>
          <a:noFill/>
          <a:ln/>
        </p:spPr>
        <p:txBody>
          <a:bodyPr wrap="square" lIns="0" tIns="0" rIns="0" bIns="0" rtlCol="0" anchor="ctr"/>
          <a:lstStyle/>
          <a:p>
            <a:pPr indent="0" marL="0">
              <a:buNone/>
            </a:pPr>
            <a:r>
              <a:rPr lang="en-US" sz="1300" dirty="0">
                <a:solidFill>
                  <a:srgbClr val="14201A"/>
                </a:solidFill>
                <a:latin typeface="Calibri" pitchFamily="34" charset="0"/>
                <a:ea typeface="Calibri" pitchFamily="34" charset="-122"/>
                <a:cs typeface="Calibri" pitchFamily="34" charset="-120"/>
              </a:rPr>
              <a:t>small retail shops  ·  caterers  ·  event managers  ·  walk-ins at the counter</a:t>
            </a:r>
            <a:endParaRPr lang="en-US" sz="1300" dirty="0"/>
          </a:p>
        </p:txBody>
      </p:sp>
      <p:sp>
        <p:nvSpPr>
          <p:cNvPr id="29" name="Text 27"/>
          <p:cNvSpPr/>
          <p:nvPr/>
        </p:nvSpPr>
        <p:spPr>
          <a:xfrm>
            <a:off x="7680960" y="4462272"/>
            <a:ext cx="3474720" cy="310896"/>
          </a:xfrm>
          <a:prstGeom prst="rect">
            <a:avLst/>
          </a:prstGeom>
          <a:noFill/>
          <a:ln/>
        </p:spPr>
        <p:txBody>
          <a:bodyPr wrap="square" lIns="0" tIns="0" rIns="0" bIns="0" rtlCol="0" anchor="ctr"/>
          <a:lstStyle/>
          <a:p>
            <a:pPr algn="r" indent="0" marL="0">
              <a:buNone/>
            </a:pPr>
            <a:r>
              <a:rPr lang="en-US" sz="1100" i="1" dirty="0">
                <a:solidFill>
                  <a:srgbClr val="67736C"/>
                </a:solidFill>
                <a:latin typeface="Calibri" pitchFamily="34" charset="0"/>
                <a:ea typeface="Calibri" pitchFamily="34" charset="-122"/>
                <a:cs typeface="Calibri" pitchFamily="34" charset="-120"/>
              </a:rPr>
              <a:t>pickup at a branch, or delivery to their site</a:t>
            </a:r>
            <a:endParaRPr lang="en-US" sz="1100" dirty="0"/>
          </a:p>
        </p:txBody>
      </p:sp>
      <p:sp>
        <p:nvSpPr>
          <p:cNvPr id="30" name="Shape 28"/>
          <p:cNvSpPr/>
          <p:nvPr/>
        </p:nvSpPr>
        <p:spPr>
          <a:xfrm>
            <a:off x="850392" y="5138928"/>
            <a:ext cx="10460736" cy="786384"/>
          </a:xfrm>
          <a:prstGeom prst="roundRect">
            <a:avLst>
              <a:gd name="adj" fmla="val 6977"/>
            </a:avLst>
          </a:prstGeom>
          <a:solidFill>
            <a:srgbClr val="F6EAD8"/>
          </a:solidFill>
          <a:ln w="12700">
            <a:solidFill>
              <a:srgbClr val="9E5E10"/>
            </a:solidFill>
            <a:prstDash val="solid"/>
          </a:ln>
          <a:effectLst>
            <a:outerShdw sx="100000" sy="100000" kx="0" ky="0" algn="bl" rotWithShape="0" blurRad="127000" dist="12700" dir="5400000">
              <a:srgbClr val="14201A">
                <a:alpha val="9000"/>
              </a:srgbClr>
            </a:outerShdw>
          </a:effectLst>
        </p:spPr>
      </p:sp>
      <p:sp>
        <p:nvSpPr>
          <p:cNvPr id="31" name="Text 29"/>
          <p:cNvSpPr/>
          <p:nvPr/>
        </p:nvSpPr>
        <p:spPr>
          <a:xfrm>
            <a:off x="1097280" y="5239512"/>
            <a:ext cx="2743200" cy="256032"/>
          </a:xfrm>
          <a:prstGeom prst="rect">
            <a:avLst/>
          </a:prstGeom>
          <a:noFill/>
          <a:ln/>
        </p:spPr>
        <p:txBody>
          <a:bodyPr wrap="square" lIns="0" tIns="0" rIns="0" bIns="0" rtlCol="0" anchor="ctr"/>
          <a:lstStyle/>
          <a:p>
            <a:pPr indent="0" marL="0">
              <a:buNone/>
            </a:pPr>
            <a:r>
              <a:rPr lang="en-US" sz="1100" b="1" spc="140" kern="0" dirty="0">
                <a:solidFill>
                  <a:srgbClr val="9E5E10"/>
                </a:solidFill>
                <a:latin typeface="Calibri" pitchFamily="34" charset="0"/>
                <a:ea typeface="Calibri" pitchFamily="34" charset="-122"/>
                <a:cs typeface="Calibri" pitchFamily="34" charset="-120"/>
              </a:rPr>
              <a:t>CONTROL TOWER</a:t>
            </a:r>
            <a:endParaRPr lang="en-US" sz="1100" dirty="0"/>
          </a:p>
        </p:txBody>
      </p:sp>
      <p:sp>
        <p:nvSpPr>
          <p:cNvPr id="32" name="Text 30"/>
          <p:cNvSpPr/>
          <p:nvPr/>
        </p:nvSpPr>
        <p:spPr>
          <a:xfrm>
            <a:off x="1097280" y="5486400"/>
            <a:ext cx="9966960" cy="292608"/>
          </a:xfrm>
          <a:prstGeom prst="rect">
            <a:avLst/>
          </a:prstGeom>
          <a:noFill/>
          <a:ln/>
        </p:spPr>
        <p:txBody>
          <a:bodyPr wrap="square" lIns="0" tIns="0" rIns="0" bIns="0" rtlCol="0" anchor="ctr"/>
          <a:lstStyle/>
          <a:p>
            <a:pPr indent="0" marL="0">
              <a:buNone/>
            </a:pPr>
            <a:r>
              <a:rPr lang="en-US" sz="1200" dirty="0">
                <a:solidFill>
                  <a:srgbClr val="3D4A43"/>
                </a:solidFill>
                <a:latin typeface="Calibri" pitchFamily="34" charset="0"/>
                <a:ea typeface="Calibri" pitchFamily="34" charset="-122"/>
                <a:cs typeface="Calibri" pitchFamily="34" charset="-120"/>
              </a:rPr>
              <a:t>Catalog, pricing, credit, purchasing and replenishment decided centrally. Branches hold stock and fulfil — they don't guess.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Today the system is a person's memory</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B2B grocery distribution in India mostly runs the way it has for decades. It works — right up until it has to grow.</a:t>
            </a:r>
            <a:endParaRPr lang="en-US" sz="1400" dirty="0"/>
          </a:p>
        </p:txBody>
      </p:sp>
      <p:sp>
        <p:nvSpPr>
          <p:cNvPr id="5" name="Shape 3"/>
          <p:cNvSpPr/>
          <p:nvPr/>
        </p:nvSpPr>
        <p:spPr>
          <a:xfrm>
            <a:off x="548640" y="1828800"/>
            <a:ext cx="2560320" cy="1965960"/>
          </a:xfrm>
          <a:prstGeom prst="roundRect">
            <a:avLst>
              <a:gd name="adj" fmla="val 2791"/>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Shape 4"/>
          <p:cNvSpPr/>
          <p:nvPr/>
        </p:nvSpPr>
        <p:spPr>
          <a:xfrm>
            <a:off x="804672" y="2066544"/>
            <a:ext cx="402336" cy="402336"/>
          </a:xfrm>
          <a:prstGeom prst="ellipse">
            <a:avLst/>
          </a:prstGeom>
          <a:solidFill>
            <a:srgbClr val="1F7A4D"/>
          </a:solidFill>
          <a:ln w="12700">
            <a:solidFill>
              <a:srgbClr val="1F7A4D"/>
            </a:solidFill>
            <a:prstDash val="solid"/>
          </a:ln>
        </p:spPr>
      </p:sp>
      <p:sp>
        <p:nvSpPr>
          <p:cNvPr id="7" name="Text 5"/>
          <p:cNvSpPr/>
          <p:nvPr/>
        </p:nvSpPr>
        <p:spPr>
          <a:xfrm>
            <a:off x="804672" y="2066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25880" y="2121408"/>
            <a:ext cx="1645920" cy="292608"/>
          </a:xfrm>
          <a:prstGeom prst="rect">
            <a:avLst/>
          </a:prstGeom>
          <a:noFill/>
          <a:ln/>
        </p:spPr>
        <p:txBody>
          <a:bodyPr wrap="square" lIns="0" tIns="0" rIns="0" bIns="0" rtlCol="0" anchor="ctr"/>
          <a:lstStyle/>
          <a:p>
            <a:pPr indent="0" marL="0">
              <a:buNone/>
            </a:pPr>
            <a:r>
              <a:rPr lang="en-US" sz="1700" b="1" dirty="0">
                <a:solidFill>
                  <a:srgbClr val="14201A"/>
                </a:solidFill>
                <a:latin typeface="Cambria" pitchFamily="34" charset="0"/>
                <a:ea typeface="Cambria" pitchFamily="34" charset="-122"/>
                <a:cs typeface="Cambria" pitchFamily="34" charset="-120"/>
              </a:rPr>
              <a:t>Orders</a:t>
            </a:r>
            <a:endParaRPr lang="en-US" sz="1700" dirty="0"/>
          </a:p>
        </p:txBody>
      </p:sp>
      <p:sp>
        <p:nvSpPr>
          <p:cNvPr id="9" name="Text 7"/>
          <p:cNvSpPr/>
          <p:nvPr/>
        </p:nvSpPr>
        <p:spPr>
          <a:xfrm>
            <a:off x="804672" y="2615184"/>
            <a:ext cx="2084832" cy="1097280"/>
          </a:xfrm>
          <a:prstGeom prst="rect">
            <a:avLst/>
          </a:prstGeom>
          <a:noFill/>
          <a:ln/>
        </p:spPr>
        <p:txBody>
          <a:bodyPr wrap="square" lIns="0" tIns="0" rIns="0" bIns="0" rtlCol="0" anchor="ctr"/>
          <a:lstStyle/>
          <a:p>
            <a:pPr indent="0" marL="0">
              <a:lnSpc>
                <a:spcPct val="114000"/>
              </a:lnSpc>
              <a:buNone/>
            </a:pPr>
            <a:r>
              <a:rPr lang="en-US" sz="1100" dirty="0">
                <a:solidFill>
                  <a:srgbClr val="3D4A43"/>
                </a:solidFill>
                <a:latin typeface="Calibri" pitchFamily="34" charset="0"/>
                <a:ea typeface="Calibri" pitchFamily="34" charset="-122"/>
                <a:cs typeface="Calibri" pitchFamily="34" charset="-120"/>
              </a:rPr>
              <a:t>Arrive by phone call and WhatsApp. Written in a notebook or remembered. No two channels agree on what was ordered.</a:t>
            </a:r>
            <a:endParaRPr lang="en-US" sz="1100" dirty="0"/>
          </a:p>
        </p:txBody>
      </p:sp>
      <p:sp>
        <p:nvSpPr>
          <p:cNvPr id="10" name="Shape 8"/>
          <p:cNvSpPr/>
          <p:nvPr/>
        </p:nvSpPr>
        <p:spPr>
          <a:xfrm>
            <a:off x="3360420" y="1828800"/>
            <a:ext cx="2560320" cy="1965960"/>
          </a:xfrm>
          <a:prstGeom prst="roundRect">
            <a:avLst>
              <a:gd name="adj" fmla="val 2791"/>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1" name="Shape 9"/>
          <p:cNvSpPr/>
          <p:nvPr/>
        </p:nvSpPr>
        <p:spPr>
          <a:xfrm>
            <a:off x="3616452" y="2066544"/>
            <a:ext cx="402336" cy="402336"/>
          </a:xfrm>
          <a:prstGeom prst="ellipse">
            <a:avLst/>
          </a:prstGeom>
          <a:solidFill>
            <a:srgbClr val="1F7A4D"/>
          </a:solidFill>
          <a:ln w="12700">
            <a:solidFill>
              <a:srgbClr val="1F7A4D"/>
            </a:solidFill>
            <a:prstDash val="solid"/>
          </a:ln>
        </p:spPr>
      </p:sp>
      <p:sp>
        <p:nvSpPr>
          <p:cNvPr id="12" name="Text 10"/>
          <p:cNvSpPr/>
          <p:nvPr/>
        </p:nvSpPr>
        <p:spPr>
          <a:xfrm>
            <a:off x="3616452" y="2066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p:nvPr/>
        </p:nvSpPr>
        <p:spPr>
          <a:xfrm>
            <a:off x="4137660" y="2121408"/>
            <a:ext cx="1645920" cy="292608"/>
          </a:xfrm>
          <a:prstGeom prst="rect">
            <a:avLst/>
          </a:prstGeom>
          <a:noFill/>
          <a:ln/>
        </p:spPr>
        <p:txBody>
          <a:bodyPr wrap="square" lIns="0" tIns="0" rIns="0" bIns="0" rtlCol="0" anchor="ctr"/>
          <a:lstStyle/>
          <a:p>
            <a:pPr indent="0" marL="0">
              <a:buNone/>
            </a:pPr>
            <a:r>
              <a:rPr lang="en-US" sz="1700" b="1" dirty="0">
                <a:solidFill>
                  <a:srgbClr val="14201A"/>
                </a:solidFill>
                <a:latin typeface="Cambria" pitchFamily="34" charset="0"/>
                <a:ea typeface="Cambria" pitchFamily="34" charset="-122"/>
                <a:cs typeface="Cambria" pitchFamily="34" charset="-120"/>
              </a:rPr>
              <a:t>Prices</a:t>
            </a:r>
            <a:endParaRPr lang="en-US" sz="1700" dirty="0"/>
          </a:p>
        </p:txBody>
      </p:sp>
      <p:sp>
        <p:nvSpPr>
          <p:cNvPr id="14" name="Text 12"/>
          <p:cNvSpPr/>
          <p:nvPr/>
        </p:nvSpPr>
        <p:spPr>
          <a:xfrm>
            <a:off x="3616452" y="2615184"/>
            <a:ext cx="2084832" cy="1097280"/>
          </a:xfrm>
          <a:prstGeom prst="rect">
            <a:avLst/>
          </a:prstGeom>
          <a:noFill/>
          <a:ln/>
        </p:spPr>
        <p:txBody>
          <a:bodyPr wrap="square" lIns="0" tIns="0" rIns="0" bIns="0" rtlCol="0" anchor="ctr"/>
          <a:lstStyle/>
          <a:p>
            <a:pPr indent="0" marL="0">
              <a:lnSpc>
                <a:spcPct val="114000"/>
              </a:lnSpc>
              <a:buNone/>
            </a:pPr>
            <a:r>
              <a:rPr lang="en-US" sz="1100" dirty="0">
                <a:solidFill>
                  <a:srgbClr val="3D4A43"/>
                </a:solidFill>
                <a:latin typeface="Calibri" pitchFamily="34" charset="0"/>
                <a:ea typeface="Calibri" pitchFamily="34" charset="-122"/>
                <a:cs typeface="Calibri" pitchFamily="34" charset="-120"/>
              </a:rPr>
              <a:t>Live in the owner's head. Every customer negotiates. Nobody can say what margin an order actually earned.</a:t>
            </a:r>
            <a:endParaRPr lang="en-US" sz="1100" dirty="0"/>
          </a:p>
        </p:txBody>
      </p:sp>
      <p:sp>
        <p:nvSpPr>
          <p:cNvPr id="15" name="Shape 13"/>
          <p:cNvSpPr/>
          <p:nvPr/>
        </p:nvSpPr>
        <p:spPr>
          <a:xfrm>
            <a:off x="6172200" y="1828800"/>
            <a:ext cx="2560320" cy="1965960"/>
          </a:xfrm>
          <a:prstGeom prst="roundRect">
            <a:avLst>
              <a:gd name="adj" fmla="val 2791"/>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6" name="Shape 14"/>
          <p:cNvSpPr/>
          <p:nvPr/>
        </p:nvSpPr>
        <p:spPr>
          <a:xfrm>
            <a:off x="6428232" y="2066544"/>
            <a:ext cx="402336" cy="402336"/>
          </a:xfrm>
          <a:prstGeom prst="ellipse">
            <a:avLst/>
          </a:prstGeom>
          <a:solidFill>
            <a:srgbClr val="1F7A4D"/>
          </a:solidFill>
          <a:ln w="12700">
            <a:solidFill>
              <a:srgbClr val="1F7A4D"/>
            </a:solidFill>
            <a:prstDash val="solid"/>
          </a:ln>
        </p:spPr>
      </p:sp>
      <p:sp>
        <p:nvSpPr>
          <p:cNvPr id="17" name="Text 15"/>
          <p:cNvSpPr/>
          <p:nvPr/>
        </p:nvSpPr>
        <p:spPr>
          <a:xfrm>
            <a:off x="6428232" y="2066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8" name="Text 16"/>
          <p:cNvSpPr/>
          <p:nvPr/>
        </p:nvSpPr>
        <p:spPr>
          <a:xfrm>
            <a:off x="6949440" y="2121408"/>
            <a:ext cx="1645920" cy="292608"/>
          </a:xfrm>
          <a:prstGeom prst="rect">
            <a:avLst/>
          </a:prstGeom>
          <a:noFill/>
          <a:ln/>
        </p:spPr>
        <p:txBody>
          <a:bodyPr wrap="square" lIns="0" tIns="0" rIns="0" bIns="0" rtlCol="0" anchor="ctr"/>
          <a:lstStyle/>
          <a:p>
            <a:pPr indent="0" marL="0">
              <a:buNone/>
            </a:pPr>
            <a:r>
              <a:rPr lang="en-US" sz="1700" b="1" dirty="0">
                <a:solidFill>
                  <a:srgbClr val="14201A"/>
                </a:solidFill>
                <a:latin typeface="Cambria" pitchFamily="34" charset="0"/>
                <a:ea typeface="Cambria" pitchFamily="34" charset="-122"/>
                <a:cs typeface="Cambria" pitchFamily="34" charset="-120"/>
              </a:rPr>
              <a:t>Credit</a:t>
            </a:r>
            <a:endParaRPr lang="en-US" sz="1700" dirty="0"/>
          </a:p>
        </p:txBody>
      </p:sp>
      <p:sp>
        <p:nvSpPr>
          <p:cNvPr id="19" name="Text 17"/>
          <p:cNvSpPr/>
          <p:nvPr/>
        </p:nvSpPr>
        <p:spPr>
          <a:xfrm>
            <a:off x="6428232" y="2615184"/>
            <a:ext cx="2084832" cy="1097280"/>
          </a:xfrm>
          <a:prstGeom prst="rect">
            <a:avLst/>
          </a:prstGeom>
          <a:noFill/>
          <a:ln/>
        </p:spPr>
        <p:txBody>
          <a:bodyPr wrap="square" lIns="0" tIns="0" rIns="0" bIns="0" rtlCol="0" anchor="ctr"/>
          <a:lstStyle/>
          <a:p>
            <a:pPr indent="0" marL="0">
              <a:lnSpc>
                <a:spcPct val="114000"/>
              </a:lnSpc>
              <a:buNone/>
            </a:pPr>
            <a:r>
              <a:rPr lang="en-US" sz="1100" dirty="0">
                <a:solidFill>
                  <a:srgbClr val="3D4A43"/>
                </a:solidFill>
                <a:latin typeface="Calibri" pitchFamily="34" charset="0"/>
                <a:ea typeface="Calibri" pitchFamily="34" charset="-122"/>
                <a:cs typeface="Calibri" pitchFamily="34" charset="-120"/>
              </a:rPr>
              <a:t>Tracked in a ledger book. Who owes what, since when, against which bill — answerable by one person only.</a:t>
            </a:r>
            <a:endParaRPr lang="en-US" sz="1100" dirty="0"/>
          </a:p>
        </p:txBody>
      </p:sp>
      <p:sp>
        <p:nvSpPr>
          <p:cNvPr id="20" name="Shape 18"/>
          <p:cNvSpPr/>
          <p:nvPr/>
        </p:nvSpPr>
        <p:spPr>
          <a:xfrm>
            <a:off x="8983980" y="1828800"/>
            <a:ext cx="2560320" cy="1965960"/>
          </a:xfrm>
          <a:prstGeom prst="roundRect">
            <a:avLst>
              <a:gd name="adj" fmla="val 2791"/>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1" name="Shape 19"/>
          <p:cNvSpPr/>
          <p:nvPr/>
        </p:nvSpPr>
        <p:spPr>
          <a:xfrm>
            <a:off x="9240012" y="2066544"/>
            <a:ext cx="402336" cy="402336"/>
          </a:xfrm>
          <a:prstGeom prst="ellipse">
            <a:avLst/>
          </a:prstGeom>
          <a:solidFill>
            <a:srgbClr val="1F7A4D"/>
          </a:solidFill>
          <a:ln w="12700">
            <a:solidFill>
              <a:srgbClr val="1F7A4D"/>
            </a:solidFill>
            <a:prstDash val="solid"/>
          </a:ln>
        </p:spPr>
      </p:sp>
      <p:sp>
        <p:nvSpPr>
          <p:cNvPr id="22" name="Text 20"/>
          <p:cNvSpPr/>
          <p:nvPr/>
        </p:nvSpPr>
        <p:spPr>
          <a:xfrm>
            <a:off x="9240012" y="2066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3" name="Text 21"/>
          <p:cNvSpPr/>
          <p:nvPr/>
        </p:nvSpPr>
        <p:spPr>
          <a:xfrm>
            <a:off x="9761220" y="2121408"/>
            <a:ext cx="1645920" cy="292608"/>
          </a:xfrm>
          <a:prstGeom prst="rect">
            <a:avLst/>
          </a:prstGeom>
          <a:noFill/>
          <a:ln/>
        </p:spPr>
        <p:txBody>
          <a:bodyPr wrap="square" lIns="0" tIns="0" rIns="0" bIns="0" rtlCol="0" anchor="ctr"/>
          <a:lstStyle/>
          <a:p>
            <a:pPr indent="0" marL="0">
              <a:buNone/>
            </a:pPr>
            <a:r>
              <a:rPr lang="en-US" sz="1700" b="1" dirty="0">
                <a:solidFill>
                  <a:srgbClr val="14201A"/>
                </a:solidFill>
                <a:latin typeface="Cambria" pitchFamily="34" charset="0"/>
                <a:ea typeface="Cambria" pitchFamily="34" charset="-122"/>
                <a:cs typeface="Cambria" pitchFamily="34" charset="-120"/>
              </a:rPr>
              <a:t>Stock</a:t>
            </a:r>
            <a:endParaRPr lang="en-US" sz="1700" dirty="0"/>
          </a:p>
        </p:txBody>
      </p:sp>
      <p:sp>
        <p:nvSpPr>
          <p:cNvPr id="24" name="Text 22"/>
          <p:cNvSpPr/>
          <p:nvPr/>
        </p:nvSpPr>
        <p:spPr>
          <a:xfrm>
            <a:off x="9240012" y="2615184"/>
            <a:ext cx="2084832" cy="1097280"/>
          </a:xfrm>
          <a:prstGeom prst="rect">
            <a:avLst/>
          </a:prstGeom>
          <a:noFill/>
          <a:ln/>
        </p:spPr>
        <p:txBody>
          <a:bodyPr wrap="square" lIns="0" tIns="0" rIns="0" bIns="0" rtlCol="0" anchor="ctr"/>
          <a:lstStyle/>
          <a:p>
            <a:pPr indent="0" marL="0">
              <a:lnSpc>
                <a:spcPct val="114000"/>
              </a:lnSpc>
              <a:buNone/>
            </a:pPr>
            <a:r>
              <a:rPr lang="en-US" sz="1100" dirty="0">
                <a:solidFill>
                  <a:srgbClr val="3D4A43"/>
                </a:solidFill>
                <a:latin typeface="Calibri" pitchFamily="34" charset="0"/>
                <a:ea typeface="Calibri" pitchFamily="34" charset="-122"/>
                <a:cs typeface="Calibri" pitchFamily="34" charset="-120"/>
              </a:rPr>
              <a:t>Known by walking the aisle. Branches over-order to be safe, or run out. Wastage shows up after the money is gone.</a:t>
            </a:r>
            <a:endParaRPr lang="en-US" sz="1100" dirty="0"/>
          </a:p>
        </p:txBody>
      </p:sp>
      <p:sp>
        <p:nvSpPr>
          <p:cNvPr id="25" name="Shape 23"/>
          <p:cNvSpPr/>
          <p:nvPr/>
        </p:nvSpPr>
        <p:spPr>
          <a:xfrm>
            <a:off x="548640" y="4069080"/>
            <a:ext cx="11064240" cy="1417320"/>
          </a:xfrm>
          <a:prstGeom prst="roundRect">
            <a:avLst>
              <a:gd name="adj" fmla="val 3871"/>
            </a:avLst>
          </a:prstGeom>
          <a:solidFill>
            <a:srgbClr val="F5E2E0"/>
          </a:solidFill>
          <a:ln w="12700">
            <a:solidFill>
              <a:srgbClr val="A33228"/>
            </a:solidFill>
            <a:prstDash val="solid"/>
          </a:ln>
          <a:effectLst>
            <a:outerShdw sx="100000" sy="100000" kx="0" ky="0" algn="bl" rotWithShape="0" blurRad="127000" dist="12700" dir="5400000">
              <a:srgbClr val="14201A">
                <a:alpha val="9000"/>
              </a:srgbClr>
            </a:outerShdw>
          </a:effectLst>
        </p:spPr>
      </p:sp>
      <p:sp>
        <p:nvSpPr>
          <p:cNvPr id="26" name="Text 24"/>
          <p:cNvSpPr/>
          <p:nvPr/>
        </p:nvSpPr>
        <p:spPr>
          <a:xfrm>
            <a:off x="914400" y="4224528"/>
            <a:ext cx="5486400" cy="310896"/>
          </a:xfrm>
          <a:prstGeom prst="rect">
            <a:avLst/>
          </a:prstGeom>
          <a:noFill/>
          <a:ln/>
        </p:spPr>
        <p:txBody>
          <a:bodyPr wrap="square" lIns="0" tIns="0" rIns="0" bIns="0" rtlCol="0" anchor="ctr"/>
          <a:lstStyle/>
          <a:p>
            <a:pPr indent="0" marL="0">
              <a:buNone/>
            </a:pPr>
            <a:r>
              <a:rPr lang="en-US" sz="1900" b="1" dirty="0">
                <a:solidFill>
                  <a:srgbClr val="A33228"/>
                </a:solidFill>
                <a:latin typeface="Cambria" pitchFamily="34" charset="0"/>
                <a:ea typeface="Cambria" pitchFamily="34" charset="-122"/>
                <a:cs typeface="Cambria" pitchFamily="34" charset="-120"/>
              </a:rPr>
              <a:t>Why this breaks at scale</a:t>
            </a:r>
            <a:endParaRPr lang="en-US" sz="1900" dirty="0"/>
          </a:p>
        </p:txBody>
      </p:sp>
      <p:sp>
        <p:nvSpPr>
          <p:cNvPr id="27" name="Text 25"/>
          <p:cNvSpPr/>
          <p:nvPr/>
        </p:nvSpPr>
        <p:spPr>
          <a:xfrm>
            <a:off x="914400" y="4572000"/>
            <a:ext cx="10241280" cy="384048"/>
          </a:xfrm>
          <a:prstGeom prst="rect">
            <a:avLst/>
          </a:prstGeom>
          <a:noFill/>
          <a:ln/>
        </p:spPr>
        <p:txBody>
          <a:bodyPr wrap="square" lIns="0" tIns="0" rIns="0" bIns="0" rtlCol="0" anchor="ctr"/>
          <a:lstStyle/>
          <a:p>
            <a:pPr indent="0" marL="0">
              <a:buNone/>
            </a:pPr>
            <a:r>
              <a:rPr lang="en-US" sz="1300" dirty="0">
                <a:solidFill>
                  <a:srgbClr val="3D4A43"/>
                </a:solidFill>
                <a:latin typeface="Calibri" pitchFamily="34" charset="0"/>
                <a:ea typeface="Calibri" pitchFamily="34" charset="-122"/>
                <a:cs typeface="Calibri" pitchFamily="34" charset="-120"/>
              </a:rPr>
              <a:t>Every branch multiplies the guesswork. N branches means N notebooks, N stock counts done by eye, N credit books — and one founder holding all of it.</a:t>
            </a:r>
            <a:endParaRPr lang="en-US" sz="1300" dirty="0"/>
          </a:p>
        </p:txBody>
      </p:sp>
      <p:sp>
        <p:nvSpPr>
          <p:cNvPr id="28" name="Text 26"/>
          <p:cNvSpPr/>
          <p:nvPr/>
        </p:nvSpPr>
        <p:spPr>
          <a:xfrm>
            <a:off x="914400" y="4992624"/>
            <a:ext cx="10241280" cy="310896"/>
          </a:xfrm>
          <a:prstGeom prst="rect">
            <a:avLst/>
          </a:prstGeom>
          <a:noFill/>
          <a:ln/>
        </p:spPr>
        <p:txBody>
          <a:bodyPr wrap="square" lIns="0" tIns="0" rIns="0" bIns="0" rtlCol="0" anchor="ctr"/>
          <a:lstStyle/>
          <a:p>
            <a:pPr indent="0" marL="0">
              <a:buNone/>
            </a:pPr>
            <a:r>
              <a:rPr lang="en-US" sz="1400" b="1" dirty="0">
                <a:solidFill>
                  <a:srgbClr val="A33228"/>
                </a:solidFill>
                <a:latin typeface="Calibri" pitchFamily="34" charset="0"/>
                <a:ea typeface="Calibri" pitchFamily="34" charset="-122"/>
                <a:cs typeface="Calibri" pitchFamily="34" charset="-120"/>
              </a:rPr>
              <a:t>The founder is the system. And a person does not scale.</a:t>
            </a:r>
            <a:endParaRPr lang="en-US" sz="1400" dirty="0"/>
          </a:p>
        </p:txBody>
      </p:sp>
      <p:sp>
        <p:nvSpPr>
          <p:cNvPr id="29" name="Text 27"/>
          <p:cNvSpPr/>
          <p:nvPr/>
        </p:nvSpPr>
        <p:spPr>
          <a:xfrm>
            <a:off x="548640" y="5669280"/>
            <a:ext cx="11064240" cy="365760"/>
          </a:xfrm>
          <a:prstGeom prst="rect">
            <a:avLst/>
          </a:prstGeom>
          <a:noFill/>
          <a:ln/>
        </p:spPr>
        <p:txBody>
          <a:bodyPr wrap="square" lIns="0" tIns="0" rIns="0" bIns="0" rtlCol="0" anchor="ctr"/>
          <a:lstStyle/>
          <a:p>
            <a:pPr indent="0" marL="0">
              <a:buNone/>
            </a:pPr>
            <a:r>
              <a:rPr lang="en-US" sz="1250" dirty="0">
                <a:solidFill>
                  <a:srgbClr val="3D4A43"/>
                </a:solidFill>
                <a:latin typeface="Calibri" pitchFamily="34" charset="0"/>
                <a:ea typeface="Calibri" pitchFamily="34" charset="-122"/>
                <a:cs typeface="Calibri" pitchFamily="34" charset="-120"/>
              </a:rPr>
              <a:t>The product replaces founder-memory with one catalog, one price policy, one credit book and one view of stock — while keeping the ways of working customers already trust.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MODEL</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Buy. Own. Sell. Revenue is margin.</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FreshKirana is not a marketplace. It buys at the hub, owns the stock, and sells to business customers. Revenue is the gap between landed cost and selling price.</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01952"/>
          <a:ext cx="11064240" cy="914400"/>
        </p:xfrm>
        <a:graphic>
          <a:graphicData uri="http://schemas.openxmlformats.org/drawingml/2006/table">
            <a:tbl>
              <a:tblPr/>
              <a:tblGrid>
                <a:gridCol w="2743200"/>
                <a:gridCol w="3977640"/>
                <a:gridCol w="4343400"/>
              </a:tblGrid>
              <a:tr h="420624">
                <a:tc>
                  <a:txBody>
                    <a:bodyPr/>
                    <a:lstStyle/>
                    <a:p>
                      <a:pPr indent="0" marL="0">
                        <a:buNone/>
                      </a:pPr>
                      <a:endParaRPr lang="en-US" sz="1200" dirty="0"/>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050" b="1" spc="100" kern="0" dirty="0">
                          <a:solidFill>
                            <a:srgbClr val="67736C"/>
                          </a:solidFill>
                          <a:latin typeface="Calibri" pitchFamily="34" charset="0"/>
                          <a:ea typeface="Calibri" pitchFamily="34" charset="-122"/>
                          <a:cs typeface="Calibri" pitchFamily="34" charset="-120"/>
                        </a:rPr>
                        <a:t>MARKETPLACE — what we moved away from</a:t>
                      </a:r>
                      <a:endParaRPr lang="en-US" sz="105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050" b="1" spc="100" kern="0" dirty="0">
                          <a:solidFill>
                            <a:srgbClr val="1F7A4D"/>
                          </a:solidFill>
                          <a:latin typeface="Calibri" pitchFamily="34" charset="0"/>
                          <a:ea typeface="Calibri" pitchFamily="34" charset="-122"/>
                          <a:cs typeface="Calibri" pitchFamily="34" charset="-120"/>
                        </a:rPr>
                        <a:t>DISTRIBUTION — what this is</a:t>
                      </a:r>
                      <a:endParaRPr lang="en-US" sz="105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4201A"/>
                          </a:solidFill>
                          <a:latin typeface="Calibri" pitchFamily="34" charset="0"/>
                          <a:ea typeface="Calibri" pitchFamily="34" charset="-122"/>
                          <a:cs typeface="Calibri" pitchFamily="34" charset="-120"/>
                        </a:rPr>
                        <a:t>Who owns the stock</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200" dirty="0">
                          <a:solidFill>
                            <a:srgbClr val="67736C"/>
                          </a:solidFill>
                          <a:latin typeface="Calibri" pitchFamily="34" charset="0"/>
                          <a:ea typeface="Calibri" pitchFamily="34" charset="-122"/>
                          <a:cs typeface="Calibri" pitchFamily="34" charset="-120"/>
                        </a:rPr>
                        <a:t>Third-party vendors</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200" b="1" dirty="0">
                          <a:solidFill>
                            <a:srgbClr val="1F7A4D"/>
                          </a:solidFill>
                          <a:latin typeface="Calibri" pitchFamily="34" charset="0"/>
                          <a:ea typeface="Calibri" pitchFamily="34" charset="-122"/>
                          <a:cs typeface="Calibri" pitchFamily="34" charset="-120"/>
                        </a:rPr>
                        <a:t>We do</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4201A"/>
                          </a:solidFill>
                          <a:latin typeface="Calibri" pitchFamily="34" charset="0"/>
                          <a:ea typeface="Calibri" pitchFamily="34" charset="-122"/>
                          <a:cs typeface="Calibri" pitchFamily="34" charset="-120"/>
                        </a:rPr>
                        <a:t>Where revenue comes from</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200" dirty="0">
                          <a:solidFill>
                            <a:srgbClr val="67736C"/>
                          </a:solidFill>
                          <a:latin typeface="Calibri" pitchFamily="34" charset="0"/>
                          <a:ea typeface="Calibri" pitchFamily="34" charset="-122"/>
                          <a:cs typeface="Calibri" pitchFamily="34" charset="-120"/>
                        </a:rPr>
                        <a:t>Commission on other people's sales</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200" b="1" dirty="0">
                          <a:solidFill>
                            <a:srgbClr val="1F7A4D"/>
                          </a:solidFill>
                          <a:latin typeface="Calibri" pitchFamily="34" charset="0"/>
                          <a:ea typeface="Calibri" pitchFamily="34" charset="-122"/>
                          <a:cs typeface="Calibri" pitchFamily="34" charset="-120"/>
                        </a:rPr>
                        <a:t>Gross margin: sell price − landed cost</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r>
              <a:tr h="420624">
                <a:tc>
                  <a:txBody>
                    <a:bodyPr/>
                    <a:lstStyle/>
                    <a:p>
                      <a:pPr indent="0" marL="0">
                        <a:buNone/>
                      </a:pPr>
                      <a:r>
                        <a:rPr lang="en-US" sz="1200" b="1" dirty="0">
                          <a:solidFill>
                            <a:srgbClr val="14201A"/>
                          </a:solidFill>
                          <a:latin typeface="Calibri" pitchFamily="34" charset="0"/>
                          <a:ea typeface="Calibri" pitchFamily="34" charset="-122"/>
                          <a:cs typeface="Calibri" pitchFamily="34" charset="-120"/>
                        </a:rPr>
                        <a:t>Who owes us money</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200" dirty="0">
                          <a:solidFill>
                            <a:srgbClr val="67736C"/>
                          </a:solidFill>
                          <a:latin typeface="Calibri" pitchFamily="34" charset="0"/>
                          <a:ea typeface="Calibri" pitchFamily="34" charset="-122"/>
                          <a:cs typeface="Calibri" pitchFamily="34" charset="-120"/>
                        </a:rPr>
                        <a:t>Nobody</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200" b="1" dirty="0">
                          <a:solidFill>
                            <a:srgbClr val="1F7A4D"/>
                          </a:solidFill>
                          <a:latin typeface="Calibri" pitchFamily="34" charset="0"/>
                          <a:ea typeface="Calibri" pitchFamily="34" charset="-122"/>
                          <a:cs typeface="Calibri" pitchFamily="34" charset="-120"/>
                        </a:rPr>
                        <a:t>Customers, on credit terms</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4201A"/>
                          </a:solidFill>
                          <a:latin typeface="Calibri" pitchFamily="34" charset="0"/>
                          <a:ea typeface="Calibri" pitchFamily="34" charset="-122"/>
                          <a:cs typeface="Calibri" pitchFamily="34" charset="-120"/>
                        </a:rPr>
                        <a:t>Who we owe</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200" dirty="0">
                          <a:solidFill>
                            <a:srgbClr val="67736C"/>
                          </a:solidFill>
                          <a:latin typeface="Calibri" pitchFamily="34" charset="0"/>
                          <a:ea typeface="Calibri" pitchFamily="34" charset="-122"/>
                          <a:cs typeface="Calibri" pitchFamily="34" charset="-120"/>
                        </a:rPr>
                        <a:t>Vendors, as payouts</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200" b="1" dirty="0">
                          <a:solidFill>
                            <a:srgbClr val="1F7A4D"/>
                          </a:solidFill>
                          <a:latin typeface="Calibri" pitchFamily="34" charset="0"/>
                          <a:ea typeface="Calibri" pitchFamily="34" charset="-122"/>
                          <a:cs typeface="Calibri" pitchFamily="34" charset="-120"/>
                        </a:rPr>
                        <a:t>Suppliers, for goods bought</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r>
              <a:tr h="420624">
                <a:tc>
                  <a:txBody>
                    <a:bodyPr/>
                    <a:lstStyle/>
                    <a:p>
                      <a:pPr indent="0" marL="0">
                        <a:buNone/>
                      </a:pPr>
                      <a:r>
                        <a:rPr lang="en-US" sz="1200" b="1" dirty="0">
                          <a:solidFill>
                            <a:srgbClr val="14201A"/>
                          </a:solidFill>
                          <a:latin typeface="Calibri" pitchFamily="34" charset="0"/>
                          <a:ea typeface="Calibri" pitchFamily="34" charset="-122"/>
                          <a:cs typeface="Calibri" pitchFamily="34" charset="-120"/>
                        </a:rPr>
                        <a:t>The core risk</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200" dirty="0">
                          <a:solidFill>
                            <a:srgbClr val="67736C"/>
                          </a:solidFill>
                          <a:latin typeface="Calibri" pitchFamily="34" charset="0"/>
                          <a:ea typeface="Calibri" pitchFamily="34" charset="-122"/>
                          <a:cs typeface="Calibri" pitchFamily="34" charset="-120"/>
                        </a:rPr>
                        <a:t>Vendor churn, bad stock data</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200" b="1" dirty="0">
                          <a:solidFill>
                            <a:srgbClr val="1F7A4D"/>
                          </a:solidFill>
                          <a:latin typeface="Calibri" pitchFamily="34" charset="0"/>
                          <a:ea typeface="Calibri" pitchFamily="34" charset="-122"/>
                          <a:cs typeface="Calibri" pitchFamily="34" charset="-120"/>
                        </a:rPr>
                        <a:t>Working capital · credit default · wastage</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14201A"/>
                          </a:solidFill>
                          <a:latin typeface="Calibri" pitchFamily="34" charset="0"/>
                          <a:ea typeface="Calibri" pitchFamily="34" charset="-122"/>
                          <a:cs typeface="Calibri" pitchFamily="34" charset="-120"/>
                        </a:rPr>
                        <a:t>The levers we hold</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200" dirty="0">
                          <a:solidFill>
                            <a:srgbClr val="67736C"/>
                          </a:solidFill>
                          <a:latin typeface="Calibri" pitchFamily="34" charset="0"/>
                          <a:ea typeface="Calibri" pitchFamily="34" charset="-122"/>
                          <a:cs typeface="Calibri" pitchFamily="34" charset="-120"/>
                        </a:rPr>
                        <a:t>Take rate, basket size</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200" b="1" dirty="0">
                          <a:solidFill>
                            <a:srgbClr val="1F7A4D"/>
                          </a:solidFill>
                          <a:latin typeface="Calibri" pitchFamily="34" charset="0"/>
                          <a:ea typeface="Calibri" pitchFamily="34" charset="-122"/>
                          <a:cs typeface="Calibri" pitchFamily="34" charset="-120"/>
                        </a:rPr>
                        <a:t>Buy price · drop size · wastage · mix · collections · routes</a:t>
                      </a:r>
                      <a:endParaRPr lang="en-US" sz="12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r>
            </a:tbl>
          </a:graphicData>
        </a:graphic>
      </p:graphicFrame>
      <p:sp>
        <p:nvSpPr>
          <p:cNvPr id="6" name="Shape 3"/>
          <p:cNvSpPr/>
          <p:nvPr/>
        </p:nvSpPr>
        <p:spPr>
          <a:xfrm>
            <a:off x="548640" y="5230368"/>
            <a:ext cx="11064240" cy="868680"/>
          </a:xfrm>
          <a:prstGeom prst="roundRect">
            <a:avLst>
              <a:gd name="adj" fmla="val 6316"/>
            </a:avLst>
          </a:prstGeom>
          <a:solidFill>
            <a:srgbClr val="F6EAD8"/>
          </a:solidFill>
          <a:ln w="12700">
            <a:solidFill>
              <a:srgbClr val="9E5E10"/>
            </a:solidFill>
            <a:prstDash val="solid"/>
          </a:ln>
          <a:effectLst>
            <a:outerShdw sx="100000" sy="100000" kx="0" ky="0" algn="bl" rotWithShape="0" blurRad="127000" dist="12700" dir="5400000">
              <a:srgbClr val="14201A">
                <a:alpha val="9000"/>
              </a:srgbClr>
            </a:outerShdw>
          </a:effectLst>
        </p:spPr>
      </p:sp>
      <p:sp>
        <p:nvSpPr>
          <p:cNvPr id="7" name="Text 4"/>
          <p:cNvSpPr/>
          <p:nvPr/>
        </p:nvSpPr>
        <p:spPr>
          <a:xfrm>
            <a:off x="868680" y="5330952"/>
            <a:ext cx="10424160" cy="274320"/>
          </a:xfrm>
          <a:prstGeom prst="rect">
            <a:avLst/>
          </a:prstGeom>
          <a:noFill/>
          <a:ln/>
        </p:spPr>
        <p:txBody>
          <a:bodyPr wrap="square" lIns="0" tIns="0" rIns="0" bIns="0" rtlCol="0" anchor="ctr"/>
          <a:lstStyle/>
          <a:p>
            <a:pPr indent="0" marL="0">
              <a:buNone/>
            </a:pPr>
            <a:r>
              <a:rPr lang="en-US" sz="1300" b="1" dirty="0">
                <a:solidFill>
                  <a:srgbClr val="9E5E10"/>
                </a:solidFill>
                <a:latin typeface="Calibri" pitchFamily="34" charset="0"/>
                <a:ea typeface="Calibri" pitchFamily="34" charset="-122"/>
                <a:cs typeface="Calibri" pitchFamily="34" charset="-120"/>
              </a:rPr>
              <a:t>Landed cost is the number everything stands on.</a:t>
            </a:r>
            <a:endParaRPr lang="en-US" sz="1300" dirty="0"/>
          </a:p>
        </p:txBody>
      </p:sp>
      <p:sp>
        <p:nvSpPr>
          <p:cNvPr id="8" name="Text 5"/>
          <p:cNvSpPr/>
          <p:nvPr/>
        </p:nvSpPr>
        <p:spPr>
          <a:xfrm>
            <a:off x="868680" y="5605272"/>
            <a:ext cx="10424160" cy="365760"/>
          </a:xfrm>
          <a:prstGeom prst="rect">
            <a:avLst/>
          </a:prstGeom>
          <a:noFill/>
          <a:ln/>
        </p:spPr>
        <p:txBody>
          <a:bodyPr wrap="square" lIns="0" tIns="0" rIns="0" bIns="0" rtlCol="0" anchor="ctr"/>
          <a:lstStyle/>
          <a:p>
            <a:pPr indent="0" marL="0">
              <a:buNone/>
            </a:pPr>
            <a:r>
              <a:rPr lang="en-US" sz="1150" dirty="0">
                <a:solidFill>
                  <a:srgbClr val="3D4A43"/>
                </a:solidFill>
                <a:latin typeface="Calibri" pitchFamily="34" charset="0"/>
                <a:ea typeface="Calibri" pitchFamily="34" charset="-122"/>
                <a:cs typeface="Calibri" pitchFamily="34" charset="-120"/>
              </a:rPr>
              <a:t>Purchase price + freight + loading + grading losses − supplier schemes actually realised. Get it wrong and every margin figure in the business is fiction — which is why goods receipt is built before any margin reporting.</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A16"/>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6EC79A"/>
                </a:solidFill>
                <a:latin typeface="Calibri" pitchFamily="34" charset="0"/>
                <a:ea typeface="Calibri" pitchFamily="34" charset="-122"/>
                <a:cs typeface="Calibri" pitchFamily="34" charset="-120"/>
              </a:rPr>
              <a:t>WHY IT IS WORTH BUILDING</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E9ECE7"/>
                </a:solidFill>
                <a:latin typeface="Cambria" pitchFamily="34" charset="0"/>
                <a:ea typeface="Cambria" pitchFamily="34" charset="-122"/>
                <a:cs typeface="Cambria" pitchFamily="34" charset="-120"/>
              </a:rPr>
              <a:t>The same platform, pointed at business</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9AA69F"/>
                </a:solidFill>
                <a:latin typeface="Calibri" pitchFamily="34" charset="0"/>
                <a:ea typeface="Calibri" pitchFamily="34" charset="-122"/>
                <a:cs typeface="Calibri" pitchFamily="34" charset="-120"/>
              </a:rPr>
              <a:t>Consumer orders are small and must be won one at a time. Business orders are twenty times larger and repeat every week.</a:t>
            </a:r>
            <a:endParaRPr lang="en-US" sz="1400" dirty="0"/>
          </a:p>
        </p:txBody>
      </p:sp>
      <p:sp>
        <p:nvSpPr>
          <p:cNvPr id="5" name="Text 3"/>
          <p:cNvSpPr/>
          <p:nvPr/>
        </p:nvSpPr>
        <p:spPr>
          <a:xfrm>
            <a:off x="548640" y="1965960"/>
            <a:ext cx="5029200" cy="960120"/>
          </a:xfrm>
          <a:prstGeom prst="rect">
            <a:avLst/>
          </a:prstGeom>
          <a:noFill/>
          <a:ln/>
        </p:spPr>
        <p:txBody>
          <a:bodyPr wrap="square" lIns="0" tIns="0" rIns="0" bIns="0" rtlCol="0" anchor="ctr"/>
          <a:lstStyle/>
          <a:p>
            <a:pPr indent="0" marL="0">
              <a:buNone/>
            </a:pPr>
            <a:r>
              <a:rPr lang="en-US" sz="6000" b="1" dirty="0">
                <a:solidFill>
                  <a:srgbClr val="9AA69F"/>
                </a:solidFill>
                <a:latin typeface="Cambria" pitchFamily="34" charset="0"/>
                <a:ea typeface="Cambria" pitchFamily="34" charset="-122"/>
                <a:cs typeface="Cambria" pitchFamily="34" charset="-120"/>
              </a:rPr>
              <a:t>₹23</a:t>
            </a:r>
            <a:endParaRPr lang="en-US" sz="6000" dirty="0"/>
          </a:p>
        </p:txBody>
      </p:sp>
      <p:sp>
        <p:nvSpPr>
          <p:cNvPr id="6" name="Text 4"/>
          <p:cNvSpPr/>
          <p:nvPr/>
        </p:nvSpPr>
        <p:spPr>
          <a:xfrm>
            <a:off x="548640" y="2926080"/>
            <a:ext cx="5029200" cy="274320"/>
          </a:xfrm>
          <a:prstGeom prst="rect">
            <a:avLst/>
          </a:prstGeom>
          <a:noFill/>
          <a:ln/>
        </p:spPr>
        <p:txBody>
          <a:bodyPr wrap="square" lIns="0" tIns="0" rIns="0" bIns="0" rtlCol="0" anchor="ctr"/>
          <a:lstStyle/>
          <a:p>
            <a:pPr indent="0" marL="0">
              <a:buNone/>
            </a:pPr>
            <a:r>
              <a:rPr lang="en-US" sz="1300" dirty="0">
                <a:solidFill>
                  <a:srgbClr val="9AA69F"/>
                </a:solidFill>
                <a:latin typeface="Calibri" pitchFamily="34" charset="0"/>
                <a:ea typeface="Calibri" pitchFamily="34" charset="-122"/>
                <a:cs typeface="Calibri" pitchFamily="34" charset="-120"/>
              </a:rPr>
              <a:t>contribution per consumer order</a:t>
            </a:r>
            <a:endParaRPr lang="en-US" sz="1300" dirty="0"/>
          </a:p>
        </p:txBody>
      </p:sp>
      <p:sp>
        <p:nvSpPr>
          <p:cNvPr id="7" name="Shape 5"/>
          <p:cNvSpPr/>
          <p:nvPr/>
        </p:nvSpPr>
        <p:spPr>
          <a:xfrm>
            <a:off x="548640" y="3310128"/>
            <a:ext cx="265176" cy="310896"/>
          </a:xfrm>
          <a:prstGeom prst="rect">
            <a:avLst/>
          </a:prstGeom>
          <a:solidFill>
            <a:srgbClr val="3A4A42"/>
          </a:solidFill>
          <a:ln w="12700">
            <a:solidFill>
              <a:srgbClr val="333333"/>
            </a:solidFill>
            <a:prstDash val="solid"/>
          </a:ln>
        </p:spPr>
      </p:sp>
      <p:sp>
        <p:nvSpPr>
          <p:cNvPr id="8" name="Text 6"/>
          <p:cNvSpPr/>
          <p:nvPr/>
        </p:nvSpPr>
        <p:spPr>
          <a:xfrm>
            <a:off x="548640" y="3712464"/>
            <a:ext cx="5029200" cy="256032"/>
          </a:xfrm>
          <a:prstGeom prst="rect">
            <a:avLst/>
          </a:prstGeom>
          <a:noFill/>
          <a:ln/>
        </p:spPr>
        <p:txBody>
          <a:bodyPr wrap="square" lIns="0" tIns="0" rIns="0" bIns="0" rtlCol="0" anchor="ctr"/>
          <a:lstStyle/>
          <a:p>
            <a:pPr indent="0" marL="0">
              <a:buNone/>
            </a:pPr>
            <a:r>
              <a:rPr lang="en-US" sz="1100" dirty="0">
                <a:solidFill>
                  <a:srgbClr val="9AA69F"/>
                </a:solidFill>
                <a:latin typeface="Calibri" pitchFamily="34" charset="0"/>
                <a:ea typeface="Calibri" pitchFamily="34" charset="-122"/>
                <a:cs typeface="Calibri" pitchFamily="34" charset="-120"/>
              </a:rPr>
              <a:t>₹600 basket</a:t>
            </a:r>
            <a:endParaRPr lang="en-US" sz="1100" dirty="0"/>
          </a:p>
        </p:txBody>
      </p:sp>
      <p:sp>
        <p:nvSpPr>
          <p:cNvPr id="9" name="Text 7"/>
          <p:cNvSpPr/>
          <p:nvPr/>
        </p:nvSpPr>
        <p:spPr>
          <a:xfrm>
            <a:off x="6217920" y="1965960"/>
            <a:ext cx="5394960" cy="960120"/>
          </a:xfrm>
          <a:prstGeom prst="rect">
            <a:avLst/>
          </a:prstGeom>
          <a:noFill/>
          <a:ln/>
        </p:spPr>
        <p:txBody>
          <a:bodyPr wrap="square" lIns="0" tIns="0" rIns="0" bIns="0" rtlCol="0" anchor="ctr"/>
          <a:lstStyle/>
          <a:p>
            <a:pPr indent="0" marL="0">
              <a:buNone/>
            </a:pPr>
            <a:r>
              <a:rPr lang="en-US" sz="6000" b="1" dirty="0">
                <a:solidFill>
                  <a:srgbClr val="6EC79A"/>
                </a:solidFill>
                <a:latin typeface="Cambria" pitchFamily="34" charset="0"/>
                <a:ea typeface="Cambria" pitchFamily="34" charset="-122"/>
                <a:cs typeface="Cambria" pitchFamily="34" charset="-120"/>
              </a:rPr>
              <a:t>₹440</a:t>
            </a:r>
            <a:endParaRPr lang="en-US" sz="6000" dirty="0"/>
          </a:p>
        </p:txBody>
      </p:sp>
      <p:sp>
        <p:nvSpPr>
          <p:cNvPr id="10" name="Text 8"/>
          <p:cNvSpPr/>
          <p:nvPr/>
        </p:nvSpPr>
        <p:spPr>
          <a:xfrm>
            <a:off x="6217920" y="2926080"/>
            <a:ext cx="5394960" cy="274320"/>
          </a:xfrm>
          <a:prstGeom prst="rect">
            <a:avLst/>
          </a:prstGeom>
          <a:noFill/>
          <a:ln/>
        </p:spPr>
        <p:txBody>
          <a:bodyPr wrap="square" lIns="0" tIns="0" rIns="0" bIns="0" rtlCol="0" anchor="ctr"/>
          <a:lstStyle/>
          <a:p>
            <a:pPr indent="0" marL="0">
              <a:buNone/>
            </a:pPr>
            <a:r>
              <a:rPr lang="en-US" sz="1300" dirty="0">
                <a:solidFill>
                  <a:srgbClr val="E9ECE7"/>
                </a:solidFill>
                <a:latin typeface="Calibri" pitchFamily="34" charset="0"/>
                <a:ea typeface="Calibri" pitchFamily="34" charset="-122"/>
                <a:cs typeface="Calibri" pitchFamily="34" charset="-120"/>
              </a:rPr>
              <a:t>contribution per business order</a:t>
            </a:r>
            <a:endParaRPr lang="en-US" sz="1300" dirty="0"/>
          </a:p>
        </p:txBody>
      </p:sp>
      <p:sp>
        <p:nvSpPr>
          <p:cNvPr id="11" name="Shape 9"/>
          <p:cNvSpPr/>
          <p:nvPr/>
        </p:nvSpPr>
        <p:spPr>
          <a:xfrm>
            <a:off x="6217920" y="3310128"/>
            <a:ext cx="5074920" cy="310896"/>
          </a:xfrm>
          <a:prstGeom prst="rect">
            <a:avLst/>
          </a:prstGeom>
          <a:solidFill>
            <a:srgbClr val="6EC79A"/>
          </a:solidFill>
          <a:ln w="12700">
            <a:solidFill>
              <a:srgbClr val="333333"/>
            </a:solidFill>
            <a:prstDash val="solid"/>
          </a:ln>
        </p:spPr>
      </p:sp>
      <p:sp>
        <p:nvSpPr>
          <p:cNvPr id="12" name="Text 10"/>
          <p:cNvSpPr/>
          <p:nvPr/>
        </p:nvSpPr>
        <p:spPr>
          <a:xfrm>
            <a:off x="6217920" y="3712464"/>
            <a:ext cx="5394960" cy="256032"/>
          </a:xfrm>
          <a:prstGeom prst="rect">
            <a:avLst/>
          </a:prstGeom>
          <a:noFill/>
          <a:ln/>
        </p:spPr>
        <p:txBody>
          <a:bodyPr wrap="square" lIns="0" tIns="0" rIns="0" bIns="0" rtlCol="0" anchor="ctr"/>
          <a:lstStyle/>
          <a:p>
            <a:pPr indent="0" marL="0">
              <a:buNone/>
            </a:pPr>
            <a:r>
              <a:rPr lang="en-US" sz="1100" dirty="0">
                <a:solidFill>
                  <a:srgbClr val="9AA69F"/>
                </a:solidFill>
                <a:latin typeface="Calibri" pitchFamily="34" charset="0"/>
                <a:ea typeface="Calibri" pitchFamily="34" charset="-122"/>
                <a:cs typeface="Calibri" pitchFamily="34" charset="-120"/>
              </a:rPr>
              <a:t>₹12,000 order · demo</a:t>
            </a:r>
            <a:endParaRPr lang="en-US" sz="1100" dirty="0"/>
          </a:p>
        </p:txBody>
      </p:sp>
      <p:sp>
        <p:nvSpPr>
          <p:cNvPr id="13" name="Shape 11"/>
          <p:cNvSpPr/>
          <p:nvPr/>
        </p:nvSpPr>
        <p:spPr>
          <a:xfrm>
            <a:off x="548640" y="4315968"/>
            <a:ext cx="3493008" cy="1170432"/>
          </a:xfrm>
          <a:prstGeom prst="roundRect">
            <a:avLst>
              <a:gd name="adj" fmla="val 4688"/>
            </a:avLst>
          </a:prstGeom>
          <a:solidFill>
            <a:srgbClr val="1B2A23"/>
          </a:solidFill>
          <a:ln w="12700">
            <a:solidFill>
              <a:srgbClr val="2C3E35"/>
            </a:solidFill>
            <a:prstDash val="solid"/>
          </a:ln>
        </p:spPr>
      </p:sp>
      <p:sp>
        <p:nvSpPr>
          <p:cNvPr id="14" name="Text 12"/>
          <p:cNvSpPr/>
          <p:nvPr/>
        </p:nvSpPr>
        <p:spPr>
          <a:xfrm>
            <a:off x="786384" y="4462272"/>
            <a:ext cx="3017520" cy="384048"/>
          </a:xfrm>
          <a:prstGeom prst="rect">
            <a:avLst/>
          </a:prstGeom>
          <a:noFill/>
          <a:ln/>
        </p:spPr>
        <p:txBody>
          <a:bodyPr wrap="square" lIns="0" tIns="0" rIns="0" bIns="0" rtlCol="0" anchor="ctr"/>
          <a:lstStyle/>
          <a:p>
            <a:pPr indent="0" marL="0">
              <a:buNone/>
            </a:pPr>
            <a:r>
              <a:rPr lang="en-US" sz="2200" b="1" dirty="0">
                <a:solidFill>
                  <a:srgbClr val="E0A85C"/>
                </a:solidFill>
                <a:latin typeface="Cambria" pitchFamily="34" charset="0"/>
                <a:ea typeface="Cambria" pitchFamily="34" charset="-122"/>
                <a:cs typeface="Cambria" pitchFamily="34" charset="-120"/>
              </a:rPr>
              <a:t>725 / day</a:t>
            </a:r>
            <a:endParaRPr lang="en-US" sz="2200" dirty="0"/>
          </a:p>
        </p:txBody>
      </p:sp>
      <p:sp>
        <p:nvSpPr>
          <p:cNvPr id="15" name="Text 13"/>
          <p:cNvSpPr/>
          <p:nvPr/>
        </p:nvSpPr>
        <p:spPr>
          <a:xfrm>
            <a:off x="786384" y="4864608"/>
            <a:ext cx="3017520" cy="512064"/>
          </a:xfrm>
          <a:prstGeom prst="rect">
            <a:avLst/>
          </a:prstGeom>
          <a:noFill/>
          <a:ln/>
        </p:spPr>
        <p:txBody>
          <a:bodyPr wrap="square" lIns="0" tIns="0" rIns="0" bIns="0" rtlCol="0" anchor="ctr"/>
          <a:lstStyle/>
          <a:p>
            <a:pPr indent="0" marL="0">
              <a:lnSpc>
                <a:spcPct val="112000"/>
              </a:lnSpc>
              <a:buNone/>
            </a:pPr>
            <a:r>
              <a:rPr lang="en-US" sz="1100" dirty="0">
                <a:solidFill>
                  <a:srgbClr val="9AA69F"/>
                </a:solidFill>
                <a:latin typeface="Calibri" pitchFamily="34" charset="0"/>
                <a:ea typeface="Calibri" pitchFamily="34" charset="-122"/>
                <a:cs typeface="Calibri" pitchFamily="34" charset="-120"/>
              </a:rPr>
              <a:t>consumer orders needed for ₹5 lakh monthly contribution</a:t>
            </a:r>
            <a:endParaRPr lang="en-US" sz="1100" dirty="0"/>
          </a:p>
        </p:txBody>
      </p:sp>
      <p:sp>
        <p:nvSpPr>
          <p:cNvPr id="16" name="Shape 14"/>
          <p:cNvSpPr/>
          <p:nvPr/>
        </p:nvSpPr>
        <p:spPr>
          <a:xfrm>
            <a:off x="4270248" y="4315968"/>
            <a:ext cx="3493008" cy="1170432"/>
          </a:xfrm>
          <a:prstGeom prst="roundRect">
            <a:avLst>
              <a:gd name="adj" fmla="val 4688"/>
            </a:avLst>
          </a:prstGeom>
          <a:solidFill>
            <a:srgbClr val="1B2A23"/>
          </a:solidFill>
          <a:ln w="12700">
            <a:solidFill>
              <a:srgbClr val="2C3E35"/>
            </a:solidFill>
            <a:prstDash val="solid"/>
          </a:ln>
        </p:spPr>
      </p:sp>
      <p:sp>
        <p:nvSpPr>
          <p:cNvPr id="17" name="Text 15"/>
          <p:cNvSpPr/>
          <p:nvPr/>
        </p:nvSpPr>
        <p:spPr>
          <a:xfrm>
            <a:off x="4507992" y="4462272"/>
            <a:ext cx="3017520" cy="384048"/>
          </a:xfrm>
          <a:prstGeom prst="rect">
            <a:avLst/>
          </a:prstGeom>
          <a:noFill/>
          <a:ln/>
        </p:spPr>
        <p:txBody>
          <a:bodyPr wrap="square" lIns="0" tIns="0" rIns="0" bIns="0" rtlCol="0" anchor="ctr"/>
          <a:lstStyle/>
          <a:p>
            <a:pPr indent="0" marL="0">
              <a:buNone/>
            </a:pPr>
            <a:r>
              <a:rPr lang="en-US" sz="2200" b="1" dirty="0">
                <a:solidFill>
                  <a:srgbClr val="E0A85C"/>
                </a:solidFill>
                <a:latin typeface="Cambria" pitchFamily="34" charset="0"/>
                <a:ea typeface="Cambria" pitchFamily="34" charset="-122"/>
                <a:cs typeface="Cambria" pitchFamily="34" charset="-120"/>
              </a:rPr>
              <a:t>38 / day</a:t>
            </a:r>
            <a:endParaRPr lang="en-US" sz="2200" dirty="0"/>
          </a:p>
        </p:txBody>
      </p:sp>
      <p:sp>
        <p:nvSpPr>
          <p:cNvPr id="18" name="Text 16"/>
          <p:cNvSpPr/>
          <p:nvPr/>
        </p:nvSpPr>
        <p:spPr>
          <a:xfrm>
            <a:off x="4507992" y="4864608"/>
            <a:ext cx="3017520" cy="512064"/>
          </a:xfrm>
          <a:prstGeom prst="rect">
            <a:avLst/>
          </a:prstGeom>
          <a:noFill/>
          <a:ln/>
        </p:spPr>
        <p:txBody>
          <a:bodyPr wrap="square" lIns="0" tIns="0" rIns="0" bIns="0" rtlCol="0" anchor="ctr"/>
          <a:lstStyle/>
          <a:p>
            <a:pPr indent="0" marL="0">
              <a:lnSpc>
                <a:spcPct val="112000"/>
              </a:lnSpc>
              <a:buNone/>
            </a:pPr>
            <a:r>
              <a:rPr lang="en-US" sz="1100" dirty="0">
                <a:solidFill>
                  <a:srgbClr val="9AA69F"/>
                </a:solidFill>
                <a:latin typeface="Calibri" pitchFamily="34" charset="0"/>
                <a:ea typeface="Calibri" pitchFamily="34" charset="-122"/>
                <a:cs typeface="Calibri" pitchFamily="34" charset="-120"/>
              </a:rPr>
              <a:t>business orders for the same ₹5 lakh</a:t>
            </a:r>
            <a:endParaRPr lang="en-US" sz="1100" dirty="0"/>
          </a:p>
        </p:txBody>
      </p:sp>
      <p:sp>
        <p:nvSpPr>
          <p:cNvPr id="19" name="Shape 17"/>
          <p:cNvSpPr/>
          <p:nvPr/>
        </p:nvSpPr>
        <p:spPr>
          <a:xfrm>
            <a:off x="7991856" y="4315968"/>
            <a:ext cx="3493008" cy="1170432"/>
          </a:xfrm>
          <a:prstGeom prst="roundRect">
            <a:avLst>
              <a:gd name="adj" fmla="val 4688"/>
            </a:avLst>
          </a:prstGeom>
          <a:solidFill>
            <a:srgbClr val="1B2A23"/>
          </a:solidFill>
          <a:ln w="12700">
            <a:solidFill>
              <a:srgbClr val="2C3E35"/>
            </a:solidFill>
            <a:prstDash val="solid"/>
          </a:ln>
        </p:spPr>
      </p:sp>
      <p:sp>
        <p:nvSpPr>
          <p:cNvPr id="20" name="Text 18"/>
          <p:cNvSpPr/>
          <p:nvPr/>
        </p:nvSpPr>
        <p:spPr>
          <a:xfrm>
            <a:off x="8229600" y="4462272"/>
            <a:ext cx="3017520" cy="384048"/>
          </a:xfrm>
          <a:prstGeom prst="rect">
            <a:avLst/>
          </a:prstGeom>
          <a:noFill/>
          <a:ln/>
        </p:spPr>
        <p:txBody>
          <a:bodyPr wrap="square" lIns="0" tIns="0" rIns="0" bIns="0" rtlCol="0" anchor="ctr"/>
          <a:lstStyle/>
          <a:p>
            <a:pPr indent="0" marL="0">
              <a:buNone/>
            </a:pPr>
            <a:r>
              <a:rPr lang="en-US" sz="2200" b="1" dirty="0">
                <a:solidFill>
                  <a:srgbClr val="E0A85C"/>
                </a:solidFill>
                <a:latin typeface="Cambria" pitchFamily="34" charset="0"/>
                <a:ea typeface="Cambria" pitchFamily="34" charset="-122"/>
                <a:cs typeface="Cambria" pitchFamily="34" charset="-120"/>
              </a:rPr>
              <a:t>Already ours</a:t>
            </a:r>
            <a:endParaRPr lang="en-US" sz="2200" dirty="0"/>
          </a:p>
        </p:txBody>
      </p:sp>
      <p:sp>
        <p:nvSpPr>
          <p:cNvPr id="21" name="Text 19"/>
          <p:cNvSpPr/>
          <p:nvPr/>
        </p:nvSpPr>
        <p:spPr>
          <a:xfrm>
            <a:off x="8229600" y="4864608"/>
            <a:ext cx="3017520" cy="512064"/>
          </a:xfrm>
          <a:prstGeom prst="rect">
            <a:avLst/>
          </a:prstGeom>
          <a:noFill/>
          <a:ln/>
        </p:spPr>
        <p:txBody>
          <a:bodyPr wrap="square" lIns="0" tIns="0" rIns="0" bIns="0" rtlCol="0" anchor="ctr"/>
          <a:lstStyle/>
          <a:p>
            <a:pPr indent="0" marL="0">
              <a:lnSpc>
                <a:spcPct val="112000"/>
              </a:lnSpc>
              <a:buNone/>
            </a:pPr>
            <a:r>
              <a:rPr lang="en-US" sz="1100" dirty="0">
                <a:solidFill>
                  <a:srgbClr val="9AA69F"/>
                </a:solidFill>
                <a:latin typeface="Calibri" pitchFamily="34" charset="0"/>
                <a:ea typeface="Calibri" pitchFamily="34" charset="-122"/>
                <a:cs typeface="Calibri" pitchFamily="34" charset="-120"/>
              </a:rPr>
              <a:t>supply is owned, customers already trade with us</a:t>
            </a:r>
            <a:endParaRPr lang="en-US" sz="1100" dirty="0"/>
          </a:p>
        </p:txBody>
      </p:sp>
      <p:sp>
        <p:nvSpPr>
          <p:cNvPr id="22" name="Text 20"/>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9AA69F"/>
                </a:solidFill>
                <a:latin typeface="Calibri" pitchFamily="34" charset="0"/>
                <a:ea typeface="Calibri" pitchFamily="34" charset="-122"/>
                <a:cs typeface="Calibri" pitchFamily="34" charset="-120"/>
              </a:rPr>
              <a:t>Figures marked demo are planning placeholders (decision D-B2) held in configuration — replaced with real numbers without touching code.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WHO WE SELL TO</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Three customers, three different games</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Flattening these into one 'B2B customer' is the classic mistake. They order differently, pay differently, and punish failure differently.</a:t>
            </a:r>
            <a:endParaRPr lang="en-US" sz="1400" dirty="0"/>
          </a:p>
        </p:txBody>
      </p:sp>
      <p:sp>
        <p:nvSpPr>
          <p:cNvPr id="5" name="Shape 3"/>
          <p:cNvSpPr/>
          <p:nvPr/>
        </p:nvSpPr>
        <p:spPr>
          <a:xfrm>
            <a:off x="548640" y="1847088"/>
            <a:ext cx="3493008" cy="3977640"/>
          </a:xfrm>
          <a:prstGeom prst="roundRect">
            <a:avLst>
              <a:gd name="adj" fmla="val 1571"/>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Shape 4"/>
          <p:cNvSpPr/>
          <p:nvPr/>
        </p:nvSpPr>
        <p:spPr>
          <a:xfrm>
            <a:off x="786384" y="2048256"/>
            <a:ext cx="3017520" cy="420624"/>
          </a:xfrm>
          <a:prstGeom prst="roundRect">
            <a:avLst>
              <a:gd name="adj" fmla="val 10870"/>
            </a:avLst>
          </a:prstGeom>
          <a:solidFill>
            <a:srgbClr val="E0EFE6"/>
          </a:solidFill>
          <a:ln w="12700">
            <a:solidFill>
              <a:srgbClr val="333333"/>
            </a:solidFill>
            <a:prstDash val="solid"/>
          </a:ln>
        </p:spPr>
      </p:sp>
      <p:sp>
        <p:nvSpPr>
          <p:cNvPr id="7" name="Text 5"/>
          <p:cNvSpPr/>
          <p:nvPr/>
        </p:nvSpPr>
        <p:spPr>
          <a:xfrm>
            <a:off x="786384" y="2048256"/>
            <a:ext cx="3017520" cy="420624"/>
          </a:xfrm>
          <a:prstGeom prst="rect">
            <a:avLst/>
          </a:prstGeom>
          <a:noFill/>
          <a:ln/>
        </p:spPr>
        <p:txBody>
          <a:bodyPr wrap="square" lIns="0" tIns="0" rIns="0" bIns="0" rtlCol="0" anchor="ctr"/>
          <a:lstStyle/>
          <a:p>
            <a:pPr algn="ctr" indent="0" marL="0">
              <a:buNone/>
            </a:pPr>
            <a:r>
              <a:rPr lang="en-US" sz="1600" b="1" dirty="0">
                <a:solidFill>
                  <a:srgbClr val="1F7A4D"/>
                </a:solidFill>
                <a:latin typeface="Cambria" pitchFamily="34" charset="0"/>
                <a:ea typeface="Cambria" pitchFamily="34" charset="-122"/>
                <a:cs typeface="Cambria" pitchFamily="34" charset="-120"/>
              </a:rPr>
              <a:t>Small retail shops</a:t>
            </a:r>
            <a:endParaRPr lang="en-US" sz="1600" dirty="0"/>
          </a:p>
        </p:txBody>
      </p:sp>
      <p:sp>
        <p:nvSpPr>
          <p:cNvPr id="8" name="Text 6"/>
          <p:cNvSpPr/>
          <p:nvPr/>
        </p:nvSpPr>
        <p:spPr>
          <a:xfrm>
            <a:off x="786384" y="2615184"/>
            <a:ext cx="3017520" cy="365760"/>
          </a:xfrm>
          <a:prstGeom prst="rect">
            <a:avLst/>
          </a:prstGeom>
          <a:noFill/>
          <a:ln/>
        </p:spPr>
        <p:txBody>
          <a:bodyPr wrap="square" lIns="0" tIns="0" rIns="0" bIns="0" rtlCol="0" anchor="ctr"/>
          <a:lstStyle/>
          <a:p>
            <a:pPr indent="0" marL="0">
              <a:buNone/>
            </a:pPr>
            <a:r>
              <a:rPr lang="en-US" sz="2000" b="1" dirty="0">
                <a:solidFill>
                  <a:srgbClr val="14201A"/>
                </a:solidFill>
                <a:latin typeface="Cambria" pitchFamily="34" charset="0"/>
                <a:ea typeface="Cambria" pitchFamily="34" charset="-122"/>
                <a:cs typeface="Cambria" pitchFamily="34" charset="-120"/>
              </a:rPr>
              <a:t>₹8,000 – 25,000</a:t>
            </a:r>
            <a:endParaRPr lang="en-US" sz="2000" dirty="0"/>
          </a:p>
        </p:txBody>
      </p:sp>
      <p:sp>
        <p:nvSpPr>
          <p:cNvPr id="9" name="Text 7"/>
          <p:cNvSpPr/>
          <p:nvPr/>
        </p:nvSpPr>
        <p:spPr>
          <a:xfrm>
            <a:off x="786384" y="2962656"/>
            <a:ext cx="3017520" cy="219456"/>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per order · demo</a:t>
            </a:r>
            <a:endParaRPr lang="en-US" sz="950" dirty="0"/>
          </a:p>
        </p:txBody>
      </p:sp>
      <p:sp>
        <p:nvSpPr>
          <p:cNvPr id="10" name="Text 8"/>
          <p:cNvSpPr/>
          <p:nvPr/>
        </p:nvSpPr>
        <p:spPr>
          <a:xfrm>
            <a:off x="786384" y="3255264"/>
            <a:ext cx="3017520" cy="475488"/>
          </a:xfrm>
          <a:prstGeom prst="rect">
            <a:avLst/>
          </a:prstGeom>
          <a:noFill/>
          <a:ln/>
        </p:spPr>
        <p:txBody>
          <a:bodyPr wrap="square" lIns="0" tIns="0" rIns="0" bIns="0" rtlCol="0" anchor="ctr"/>
          <a:lstStyle/>
          <a:p>
            <a:pPr indent="0" marL="0">
              <a:lnSpc>
                <a:spcPct val="112000"/>
              </a:lnSpc>
              <a:buNone/>
            </a:pPr>
            <a:r>
              <a:rPr lang="en-US" sz="1100" dirty="0">
                <a:solidFill>
                  <a:srgbClr val="67736C"/>
                </a:solidFill>
                <a:latin typeface="Calibri" pitchFamily="34" charset="0"/>
                <a:ea typeface="Calibri" pitchFamily="34" charset="-122"/>
                <a:cs typeface="Calibri" pitchFamily="34" charset="-120"/>
              </a:rPr>
              <a:t>Weekly rhythm · the same 30–80 lines every time</a:t>
            </a:r>
            <a:endParaRPr lang="en-US" sz="1100" dirty="0"/>
          </a:p>
        </p:txBody>
      </p:sp>
      <p:sp>
        <p:nvSpPr>
          <p:cNvPr id="11" name="Text 9"/>
          <p:cNvSpPr/>
          <p:nvPr/>
        </p:nvSpPr>
        <p:spPr>
          <a:xfrm>
            <a:off x="786384" y="3840480"/>
            <a:ext cx="3017520" cy="914400"/>
          </a:xfrm>
          <a:prstGeom prst="rect">
            <a:avLst/>
          </a:prstGeom>
          <a:noFill/>
          <a:ln/>
        </p:spPr>
        <p:txBody>
          <a:bodyPr wrap="square" lIns="0" tIns="0" rIns="0" bIns="0" rtlCol="0" anchor="ctr"/>
          <a:lstStyle/>
          <a:p>
            <a:pPr indent="0" marL="0">
              <a:lnSpc>
                <a:spcPct val="116000"/>
              </a:lnSpc>
              <a:buNone/>
            </a:pPr>
            <a:r>
              <a:rPr lang="en-US" sz="1150" dirty="0">
                <a:solidFill>
                  <a:srgbClr val="3D4A43"/>
                </a:solidFill>
                <a:latin typeface="Calibri" pitchFamily="34" charset="0"/>
                <a:ea typeface="Calibri" pitchFamily="34" charset="-122"/>
                <a:cs typeface="Calibri" pitchFamily="34" charset="-120"/>
              </a:rPr>
              <a:t>Needs fill rate and credit. The order is a reorder — last week's list, adjusted, submitted in 90 seconds.</a:t>
            </a:r>
            <a:endParaRPr lang="en-US" sz="1150" dirty="0"/>
          </a:p>
        </p:txBody>
      </p:sp>
      <p:sp>
        <p:nvSpPr>
          <p:cNvPr id="12" name="Text 10"/>
          <p:cNvSpPr/>
          <p:nvPr/>
        </p:nvSpPr>
        <p:spPr>
          <a:xfrm>
            <a:off x="786384" y="4882896"/>
            <a:ext cx="3017520" cy="219456"/>
          </a:xfrm>
          <a:prstGeom prst="rect">
            <a:avLst/>
          </a:prstGeom>
          <a:noFill/>
          <a:ln/>
        </p:spPr>
        <p:txBody>
          <a:bodyPr wrap="square" lIns="0" tIns="0" rIns="0" bIns="0" rtlCol="0" anchor="ctr"/>
          <a:lstStyle/>
          <a:p>
            <a:pPr indent="0" marL="0">
              <a:buNone/>
            </a:pPr>
            <a:r>
              <a:rPr lang="en-US" sz="900" b="1" spc="120" kern="0" dirty="0">
                <a:solidFill>
                  <a:srgbClr val="A33228"/>
                </a:solidFill>
                <a:latin typeface="Calibri" pitchFamily="34" charset="0"/>
                <a:ea typeface="Calibri" pitchFamily="34" charset="-122"/>
                <a:cs typeface="Calibri" pitchFamily="34" charset="-120"/>
              </a:rPr>
              <a:t>FAILURE MODE</a:t>
            </a:r>
            <a:endParaRPr lang="en-US" sz="900" dirty="0"/>
          </a:p>
        </p:txBody>
      </p:sp>
      <p:sp>
        <p:nvSpPr>
          <p:cNvPr id="13" name="Text 11"/>
          <p:cNvSpPr/>
          <p:nvPr/>
        </p:nvSpPr>
        <p:spPr>
          <a:xfrm>
            <a:off x="786384" y="5120640"/>
            <a:ext cx="3017520" cy="548640"/>
          </a:xfrm>
          <a:prstGeom prst="rect">
            <a:avLst/>
          </a:prstGeom>
          <a:noFill/>
          <a:ln/>
        </p:spPr>
        <p:txBody>
          <a:bodyPr wrap="square" lIns="0" tIns="0" rIns="0" bIns="0" rtlCol="0" anchor="ctr"/>
          <a:lstStyle/>
          <a:p>
            <a:pPr indent="0" marL="0">
              <a:lnSpc>
                <a:spcPct val="112000"/>
              </a:lnSpc>
              <a:buNone/>
            </a:pPr>
            <a:r>
              <a:rPr lang="en-US" sz="1100" dirty="0">
                <a:solidFill>
                  <a:srgbClr val="A33228"/>
                </a:solidFill>
                <a:latin typeface="Calibri" pitchFamily="34" charset="0"/>
                <a:ea typeface="Calibri" pitchFamily="34" charset="-122"/>
                <a:cs typeface="Calibri" pitchFamily="34" charset="-120"/>
              </a:rPr>
              <a:t>Short-ship them twice and they call a competitor.</a:t>
            </a:r>
            <a:endParaRPr lang="en-US" sz="1100" dirty="0"/>
          </a:p>
        </p:txBody>
      </p:sp>
      <p:sp>
        <p:nvSpPr>
          <p:cNvPr id="14" name="Shape 12"/>
          <p:cNvSpPr/>
          <p:nvPr/>
        </p:nvSpPr>
        <p:spPr>
          <a:xfrm>
            <a:off x="4270248" y="1847088"/>
            <a:ext cx="3493008" cy="3977640"/>
          </a:xfrm>
          <a:prstGeom prst="roundRect">
            <a:avLst>
              <a:gd name="adj" fmla="val 1571"/>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5" name="Shape 13"/>
          <p:cNvSpPr/>
          <p:nvPr/>
        </p:nvSpPr>
        <p:spPr>
          <a:xfrm>
            <a:off x="4507992" y="2048256"/>
            <a:ext cx="3017520" cy="420624"/>
          </a:xfrm>
          <a:prstGeom prst="roundRect">
            <a:avLst>
              <a:gd name="adj" fmla="val 10870"/>
            </a:avLst>
          </a:prstGeom>
          <a:solidFill>
            <a:srgbClr val="F6EAD8"/>
          </a:solidFill>
          <a:ln w="12700">
            <a:solidFill>
              <a:srgbClr val="333333"/>
            </a:solidFill>
            <a:prstDash val="solid"/>
          </a:ln>
        </p:spPr>
      </p:sp>
      <p:sp>
        <p:nvSpPr>
          <p:cNvPr id="16" name="Text 14"/>
          <p:cNvSpPr/>
          <p:nvPr/>
        </p:nvSpPr>
        <p:spPr>
          <a:xfrm>
            <a:off x="4507992" y="2048256"/>
            <a:ext cx="3017520" cy="420624"/>
          </a:xfrm>
          <a:prstGeom prst="rect">
            <a:avLst/>
          </a:prstGeom>
          <a:noFill/>
          <a:ln/>
        </p:spPr>
        <p:txBody>
          <a:bodyPr wrap="square" lIns="0" tIns="0" rIns="0" bIns="0" rtlCol="0" anchor="ctr"/>
          <a:lstStyle/>
          <a:p>
            <a:pPr algn="ctr" indent="0" marL="0">
              <a:buNone/>
            </a:pPr>
            <a:r>
              <a:rPr lang="en-US" sz="1600" b="1" dirty="0">
                <a:solidFill>
                  <a:srgbClr val="9E5E10"/>
                </a:solidFill>
                <a:latin typeface="Cambria" pitchFamily="34" charset="0"/>
                <a:ea typeface="Cambria" pitchFamily="34" charset="-122"/>
                <a:cs typeface="Cambria" pitchFamily="34" charset="-120"/>
              </a:rPr>
              <a:t>Caterers</a:t>
            </a:r>
            <a:endParaRPr lang="en-US" sz="1600" dirty="0"/>
          </a:p>
        </p:txBody>
      </p:sp>
      <p:sp>
        <p:nvSpPr>
          <p:cNvPr id="17" name="Text 15"/>
          <p:cNvSpPr/>
          <p:nvPr/>
        </p:nvSpPr>
        <p:spPr>
          <a:xfrm>
            <a:off x="4507992" y="2615184"/>
            <a:ext cx="3017520" cy="365760"/>
          </a:xfrm>
          <a:prstGeom prst="rect">
            <a:avLst/>
          </a:prstGeom>
          <a:noFill/>
          <a:ln/>
        </p:spPr>
        <p:txBody>
          <a:bodyPr wrap="square" lIns="0" tIns="0" rIns="0" bIns="0" rtlCol="0" anchor="ctr"/>
          <a:lstStyle/>
          <a:p>
            <a:pPr indent="0" marL="0">
              <a:buNone/>
            </a:pPr>
            <a:r>
              <a:rPr lang="en-US" sz="2000" b="1" dirty="0">
                <a:solidFill>
                  <a:srgbClr val="14201A"/>
                </a:solidFill>
                <a:latin typeface="Cambria" pitchFamily="34" charset="0"/>
                <a:ea typeface="Cambria" pitchFamily="34" charset="-122"/>
                <a:cs typeface="Cambria" pitchFamily="34" charset="-120"/>
              </a:rPr>
              <a:t>₹15,000 – 60,000</a:t>
            </a:r>
            <a:endParaRPr lang="en-US" sz="2000" dirty="0"/>
          </a:p>
        </p:txBody>
      </p:sp>
      <p:sp>
        <p:nvSpPr>
          <p:cNvPr id="18" name="Text 16"/>
          <p:cNvSpPr/>
          <p:nvPr/>
        </p:nvSpPr>
        <p:spPr>
          <a:xfrm>
            <a:off x="4507992" y="2962656"/>
            <a:ext cx="3017520" cy="219456"/>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per order · demo</a:t>
            </a:r>
            <a:endParaRPr lang="en-US" sz="950" dirty="0"/>
          </a:p>
        </p:txBody>
      </p:sp>
      <p:sp>
        <p:nvSpPr>
          <p:cNvPr id="19" name="Text 17"/>
          <p:cNvSpPr/>
          <p:nvPr/>
        </p:nvSpPr>
        <p:spPr>
          <a:xfrm>
            <a:off x="4507992" y="3255264"/>
            <a:ext cx="3017520" cy="475488"/>
          </a:xfrm>
          <a:prstGeom prst="rect">
            <a:avLst/>
          </a:prstGeom>
          <a:noFill/>
          <a:ln/>
        </p:spPr>
        <p:txBody>
          <a:bodyPr wrap="square" lIns="0" tIns="0" rIns="0" bIns="0" rtlCol="0" anchor="ctr"/>
          <a:lstStyle/>
          <a:p>
            <a:pPr indent="0" marL="0">
              <a:lnSpc>
                <a:spcPct val="112000"/>
              </a:lnSpc>
              <a:buNone/>
            </a:pPr>
            <a:r>
              <a:rPr lang="en-US" sz="1100" dirty="0">
                <a:solidFill>
                  <a:srgbClr val="67736C"/>
                </a:solidFill>
                <a:latin typeface="Calibri" pitchFamily="34" charset="0"/>
                <a:ea typeface="Calibri" pitchFamily="34" charset="-122"/>
                <a:cs typeface="Calibri" pitchFamily="34" charset="-120"/>
              </a:rPr>
              <a:t>Spikes around functions · larger quantities per line</a:t>
            </a:r>
            <a:endParaRPr lang="en-US" sz="1100" dirty="0"/>
          </a:p>
        </p:txBody>
      </p:sp>
      <p:sp>
        <p:nvSpPr>
          <p:cNvPr id="20" name="Text 18"/>
          <p:cNvSpPr/>
          <p:nvPr/>
        </p:nvSpPr>
        <p:spPr>
          <a:xfrm>
            <a:off x="4507992" y="3840480"/>
            <a:ext cx="3017520" cy="914400"/>
          </a:xfrm>
          <a:prstGeom prst="rect">
            <a:avLst/>
          </a:prstGeom>
          <a:noFill/>
          <a:ln/>
        </p:spPr>
        <p:txBody>
          <a:bodyPr wrap="square" lIns="0" tIns="0" rIns="0" bIns="0" rtlCol="0" anchor="ctr"/>
          <a:lstStyle/>
          <a:p>
            <a:pPr indent="0" marL="0">
              <a:lnSpc>
                <a:spcPct val="116000"/>
              </a:lnSpc>
              <a:buNone/>
            </a:pPr>
            <a:r>
              <a:rPr lang="en-US" sz="1150" dirty="0">
                <a:solidFill>
                  <a:srgbClr val="3D4A43"/>
                </a:solidFill>
                <a:latin typeface="Calibri" pitchFamily="34" charset="0"/>
                <a:ea typeface="Calibri" pitchFamily="34" charset="-122"/>
                <a:cs typeface="Calibri" pitchFamily="34" charset="-120"/>
              </a:rPr>
              <a:t>Needs date certainty. The biryani is on a wedding date; the rice is not negotiable.</a:t>
            </a:r>
            <a:endParaRPr lang="en-US" sz="1150" dirty="0"/>
          </a:p>
        </p:txBody>
      </p:sp>
      <p:sp>
        <p:nvSpPr>
          <p:cNvPr id="21" name="Text 19"/>
          <p:cNvSpPr/>
          <p:nvPr/>
        </p:nvSpPr>
        <p:spPr>
          <a:xfrm>
            <a:off x="4507992" y="4882896"/>
            <a:ext cx="3017520" cy="219456"/>
          </a:xfrm>
          <a:prstGeom prst="rect">
            <a:avLst/>
          </a:prstGeom>
          <a:noFill/>
          <a:ln/>
        </p:spPr>
        <p:txBody>
          <a:bodyPr wrap="square" lIns="0" tIns="0" rIns="0" bIns="0" rtlCol="0" anchor="ctr"/>
          <a:lstStyle/>
          <a:p>
            <a:pPr indent="0" marL="0">
              <a:buNone/>
            </a:pPr>
            <a:r>
              <a:rPr lang="en-US" sz="900" b="1" spc="120" kern="0" dirty="0">
                <a:solidFill>
                  <a:srgbClr val="A33228"/>
                </a:solidFill>
                <a:latin typeface="Calibri" pitchFamily="34" charset="0"/>
                <a:ea typeface="Calibri" pitchFamily="34" charset="-122"/>
                <a:cs typeface="Calibri" pitchFamily="34" charset="-120"/>
              </a:rPr>
              <a:t>FAILURE MODE</a:t>
            </a:r>
            <a:endParaRPr lang="en-US" sz="900" dirty="0"/>
          </a:p>
        </p:txBody>
      </p:sp>
      <p:sp>
        <p:nvSpPr>
          <p:cNvPr id="22" name="Text 20"/>
          <p:cNvSpPr/>
          <p:nvPr/>
        </p:nvSpPr>
        <p:spPr>
          <a:xfrm>
            <a:off x="4507992" y="5120640"/>
            <a:ext cx="3017520" cy="548640"/>
          </a:xfrm>
          <a:prstGeom prst="rect">
            <a:avLst/>
          </a:prstGeom>
          <a:noFill/>
          <a:ln/>
        </p:spPr>
        <p:txBody>
          <a:bodyPr wrap="square" lIns="0" tIns="0" rIns="0" bIns="0" rtlCol="0" anchor="ctr"/>
          <a:lstStyle/>
          <a:p>
            <a:pPr indent="0" marL="0">
              <a:lnSpc>
                <a:spcPct val="112000"/>
              </a:lnSpc>
              <a:buNone/>
            </a:pPr>
            <a:r>
              <a:rPr lang="en-US" sz="1100" dirty="0">
                <a:solidFill>
                  <a:srgbClr val="A33228"/>
                </a:solidFill>
                <a:latin typeface="Calibri" pitchFamily="34" charset="0"/>
                <a:ea typeface="Calibri" pitchFamily="34" charset="-122"/>
                <a:cs typeface="Calibri" pitchFamily="34" charset="-120"/>
              </a:rPr>
              <a:t>Miss one function date.</a:t>
            </a:r>
            <a:endParaRPr lang="en-US" sz="1100" dirty="0"/>
          </a:p>
        </p:txBody>
      </p:sp>
      <p:sp>
        <p:nvSpPr>
          <p:cNvPr id="23" name="Shape 21"/>
          <p:cNvSpPr/>
          <p:nvPr/>
        </p:nvSpPr>
        <p:spPr>
          <a:xfrm>
            <a:off x="7991856" y="1847088"/>
            <a:ext cx="3493008" cy="3977640"/>
          </a:xfrm>
          <a:prstGeom prst="roundRect">
            <a:avLst>
              <a:gd name="adj" fmla="val 1571"/>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4" name="Shape 22"/>
          <p:cNvSpPr/>
          <p:nvPr/>
        </p:nvSpPr>
        <p:spPr>
          <a:xfrm>
            <a:off x="8229600" y="2048256"/>
            <a:ext cx="3017520" cy="420624"/>
          </a:xfrm>
          <a:prstGeom prst="roundRect">
            <a:avLst>
              <a:gd name="adj" fmla="val 10870"/>
            </a:avLst>
          </a:prstGeom>
          <a:solidFill>
            <a:srgbClr val="F1F0EA"/>
          </a:solidFill>
          <a:ln w="12700">
            <a:solidFill>
              <a:srgbClr val="333333"/>
            </a:solidFill>
            <a:prstDash val="solid"/>
          </a:ln>
        </p:spPr>
      </p:sp>
      <p:sp>
        <p:nvSpPr>
          <p:cNvPr id="25" name="Text 23"/>
          <p:cNvSpPr/>
          <p:nvPr/>
        </p:nvSpPr>
        <p:spPr>
          <a:xfrm>
            <a:off x="8229600" y="2048256"/>
            <a:ext cx="3017520" cy="420624"/>
          </a:xfrm>
          <a:prstGeom prst="rect">
            <a:avLst/>
          </a:prstGeom>
          <a:noFill/>
          <a:ln/>
        </p:spPr>
        <p:txBody>
          <a:bodyPr wrap="square" lIns="0" tIns="0" rIns="0" bIns="0" rtlCol="0" anchor="ctr"/>
          <a:lstStyle/>
          <a:p>
            <a:pPr algn="ctr" indent="0" marL="0">
              <a:buNone/>
            </a:pPr>
            <a:r>
              <a:rPr lang="en-US" sz="1600" b="1" dirty="0">
                <a:solidFill>
                  <a:srgbClr val="14201A"/>
                </a:solidFill>
                <a:latin typeface="Cambria" pitchFamily="34" charset="0"/>
                <a:ea typeface="Cambria" pitchFamily="34" charset="-122"/>
                <a:cs typeface="Cambria" pitchFamily="34" charset="-120"/>
              </a:rPr>
              <a:t>Event managers</a:t>
            </a:r>
            <a:endParaRPr lang="en-US" sz="1600" dirty="0"/>
          </a:p>
        </p:txBody>
      </p:sp>
      <p:sp>
        <p:nvSpPr>
          <p:cNvPr id="26" name="Text 24"/>
          <p:cNvSpPr/>
          <p:nvPr/>
        </p:nvSpPr>
        <p:spPr>
          <a:xfrm>
            <a:off x="8229600" y="2615184"/>
            <a:ext cx="3017520" cy="365760"/>
          </a:xfrm>
          <a:prstGeom prst="rect">
            <a:avLst/>
          </a:prstGeom>
          <a:noFill/>
          <a:ln/>
        </p:spPr>
        <p:txBody>
          <a:bodyPr wrap="square" lIns="0" tIns="0" rIns="0" bIns="0" rtlCol="0" anchor="ctr"/>
          <a:lstStyle/>
          <a:p>
            <a:pPr indent="0" marL="0">
              <a:buNone/>
            </a:pPr>
            <a:r>
              <a:rPr lang="en-US" sz="2000" b="1" dirty="0">
                <a:solidFill>
                  <a:srgbClr val="14201A"/>
                </a:solidFill>
                <a:latin typeface="Cambria" pitchFamily="34" charset="0"/>
                <a:ea typeface="Cambria" pitchFamily="34" charset="-122"/>
                <a:cs typeface="Cambria" pitchFamily="34" charset="-120"/>
              </a:rPr>
              <a:t>₹50,000 – 3,00,000</a:t>
            </a:r>
            <a:endParaRPr lang="en-US" sz="2000" dirty="0"/>
          </a:p>
        </p:txBody>
      </p:sp>
      <p:sp>
        <p:nvSpPr>
          <p:cNvPr id="27" name="Text 25"/>
          <p:cNvSpPr/>
          <p:nvPr/>
        </p:nvSpPr>
        <p:spPr>
          <a:xfrm>
            <a:off x="8229600" y="2962656"/>
            <a:ext cx="3017520" cy="219456"/>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per order · demo</a:t>
            </a:r>
            <a:endParaRPr lang="en-US" sz="950" dirty="0"/>
          </a:p>
        </p:txBody>
      </p:sp>
      <p:sp>
        <p:nvSpPr>
          <p:cNvPr id="28" name="Text 26"/>
          <p:cNvSpPr/>
          <p:nvPr/>
        </p:nvSpPr>
        <p:spPr>
          <a:xfrm>
            <a:off x="8229600" y="3255264"/>
            <a:ext cx="3017520" cy="475488"/>
          </a:xfrm>
          <a:prstGeom prst="rect">
            <a:avLst/>
          </a:prstGeom>
          <a:noFill/>
          <a:ln/>
        </p:spPr>
        <p:txBody>
          <a:bodyPr wrap="square" lIns="0" tIns="0" rIns="0" bIns="0" rtlCol="0" anchor="ctr"/>
          <a:lstStyle/>
          <a:p>
            <a:pPr indent="0" marL="0">
              <a:lnSpc>
                <a:spcPct val="112000"/>
              </a:lnSpc>
              <a:buNone/>
            </a:pPr>
            <a:r>
              <a:rPr lang="en-US" sz="1100" dirty="0">
                <a:solidFill>
                  <a:srgbClr val="67736C"/>
                </a:solidFill>
                <a:latin typeface="Calibri" pitchFamily="34" charset="0"/>
                <a:ea typeface="Calibri" pitchFamily="34" charset="-122"/>
                <a:cs typeface="Calibri" pitchFamily="34" charset="-120"/>
              </a:rPr>
              <a:t>Project-shaped · quote first, then an exact delivery</a:t>
            </a:r>
            <a:endParaRPr lang="en-US" sz="1100" dirty="0"/>
          </a:p>
        </p:txBody>
      </p:sp>
      <p:sp>
        <p:nvSpPr>
          <p:cNvPr id="29" name="Text 27"/>
          <p:cNvSpPr/>
          <p:nvPr/>
        </p:nvSpPr>
        <p:spPr>
          <a:xfrm>
            <a:off x="8229600" y="3840480"/>
            <a:ext cx="3017520" cy="914400"/>
          </a:xfrm>
          <a:prstGeom prst="rect">
            <a:avLst/>
          </a:prstGeom>
          <a:noFill/>
          <a:ln/>
        </p:spPr>
        <p:txBody>
          <a:bodyPr wrap="square" lIns="0" tIns="0" rIns="0" bIns="0" rtlCol="0" anchor="ctr"/>
          <a:lstStyle/>
          <a:p>
            <a:pPr indent="0" marL="0">
              <a:lnSpc>
                <a:spcPct val="116000"/>
              </a:lnSpc>
              <a:buNone/>
            </a:pPr>
            <a:r>
              <a:rPr lang="en-US" sz="1150" dirty="0">
                <a:solidFill>
                  <a:srgbClr val="3D4A43"/>
                </a:solidFill>
                <a:latin typeface="Calibri" pitchFamily="34" charset="0"/>
                <a:ea typeface="Calibri" pitchFamily="34" charset="-122"/>
                <a:cs typeface="Calibri" pitchFamily="34" charset="-120"/>
              </a:rPr>
              <a:t>Needs quotations and stock reserved against the job, protected from everyday sales.</a:t>
            </a:r>
            <a:endParaRPr lang="en-US" sz="1150" dirty="0"/>
          </a:p>
        </p:txBody>
      </p:sp>
      <p:sp>
        <p:nvSpPr>
          <p:cNvPr id="30" name="Text 28"/>
          <p:cNvSpPr/>
          <p:nvPr/>
        </p:nvSpPr>
        <p:spPr>
          <a:xfrm>
            <a:off x="8229600" y="4882896"/>
            <a:ext cx="3017520" cy="219456"/>
          </a:xfrm>
          <a:prstGeom prst="rect">
            <a:avLst/>
          </a:prstGeom>
          <a:noFill/>
          <a:ln/>
        </p:spPr>
        <p:txBody>
          <a:bodyPr wrap="square" lIns="0" tIns="0" rIns="0" bIns="0" rtlCol="0" anchor="ctr"/>
          <a:lstStyle/>
          <a:p>
            <a:pPr indent="0" marL="0">
              <a:buNone/>
            </a:pPr>
            <a:r>
              <a:rPr lang="en-US" sz="900" b="1" spc="120" kern="0" dirty="0">
                <a:solidFill>
                  <a:srgbClr val="A33228"/>
                </a:solidFill>
                <a:latin typeface="Calibri" pitchFamily="34" charset="0"/>
                <a:ea typeface="Calibri" pitchFamily="34" charset="-122"/>
                <a:cs typeface="Calibri" pitchFamily="34" charset="-120"/>
              </a:rPr>
              <a:t>FAILURE MODE</a:t>
            </a:r>
            <a:endParaRPr lang="en-US" sz="900" dirty="0"/>
          </a:p>
        </p:txBody>
      </p:sp>
      <p:sp>
        <p:nvSpPr>
          <p:cNvPr id="31" name="Text 29"/>
          <p:cNvSpPr/>
          <p:nvPr/>
        </p:nvSpPr>
        <p:spPr>
          <a:xfrm>
            <a:off x="8229600" y="5120640"/>
            <a:ext cx="3017520" cy="548640"/>
          </a:xfrm>
          <a:prstGeom prst="rect">
            <a:avLst/>
          </a:prstGeom>
          <a:noFill/>
          <a:ln/>
        </p:spPr>
        <p:txBody>
          <a:bodyPr wrap="square" lIns="0" tIns="0" rIns="0" bIns="0" rtlCol="0" anchor="ctr"/>
          <a:lstStyle/>
          <a:p>
            <a:pPr indent="0" marL="0">
              <a:lnSpc>
                <a:spcPct val="112000"/>
              </a:lnSpc>
              <a:buNone/>
            </a:pPr>
            <a:r>
              <a:rPr lang="en-US" sz="1100" dirty="0">
                <a:solidFill>
                  <a:srgbClr val="A33228"/>
                </a:solidFill>
                <a:latin typeface="Calibri" pitchFamily="34" charset="0"/>
                <a:ea typeface="Calibri" pitchFamily="34" charset="-122"/>
                <a:cs typeface="Calibri" pitchFamily="34" charset="-120"/>
              </a:rPr>
              <a:t>Best margin of the three. One miss ends it.</a:t>
            </a:r>
            <a:endParaRPr lang="en-US" sz="1100" dirty="0"/>
          </a:p>
        </p:txBody>
      </p:sp>
      <p:sp>
        <p:nvSpPr>
          <p:cNvPr id="32" name="Text 30"/>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The product consequence: shops get an order pad, not a shopping app. Events get quotes and reserved stock. Caterers get dates the system refuses to overbook.</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WHAT WE SELL</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Three lines with different physics</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Staples, fresh produce and beauty are not three categories in one catalog. They obey different laws, and each is measured by its own rules.</a:t>
            </a:r>
            <a:endParaRPr lang="en-US" sz="1400" dirty="0"/>
          </a:p>
        </p:txBody>
      </p:sp>
      <p:graphicFrame>
        <p:nvGraphicFramePr>
          <p:cNvPr id="5" name="Chart 0" descr=""/>
          <p:cNvGraphicFramePr/>
          <p:nvPr/>
        </p:nvGraphicFramePr>
        <p:xfrm>
          <a:off x="548640" y="1874520"/>
          <a:ext cx="6309360" cy="32461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132320" y="1874520"/>
            <a:ext cx="4480560" cy="868680"/>
          </a:xfrm>
          <a:prstGeom prst="roundRect">
            <a:avLst>
              <a:gd name="adj" fmla="val 6316"/>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7" name="Shape 4"/>
          <p:cNvSpPr/>
          <p:nvPr/>
        </p:nvSpPr>
        <p:spPr>
          <a:xfrm>
            <a:off x="7342632" y="2075688"/>
            <a:ext cx="182880" cy="182880"/>
          </a:xfrm>
          <a:prstGeom prst="ellipse">
            <a:avLst/>
          </a:prstGeom>
          <a:solidFill>
            <a:srgbClr val="1F7A4D"/>
          </a:solidFill>
          <a:ln w="12700">
            <a:solidFill>
              <a:srgbClr val="333333"/>
            </a:solidFill>
            <a:prstDash val="solid"/>
          </a:ln>
        </p:spPr>
      </p:sp>
      <p:sp>
        <p:nvSpPr>
          <p:cNvPr id="8" name="Text 5"/>
          <p:cNvSpPr/>
          <p:nvPr/>
        </p:nvSpPr>
        <p:spPr>
          <a:xfrm>
            <a:off x="7635240" y="2011680"/>
            <a:ext cx="3840480" cy="292608"/>
          </a:xfrm>
          <a:prstGeom prst="rect">
            <a:avLst/>
          </a:prstGeom>
          <a:noFill/>
          <a:ln/>
        </p:spPr>
        <p:txBody>
          <a:bodyPr wrap="square" lIns="0" tIns="0" rIns="0" bIns="0" rtlCol="0" anchor="ctr"/>
          <a:lstStyle/>
          <a:p>
            <a:pPr indent="0" marL="0">
              <a:buNone/>
            </a:pPr>
            <a:r>
              <a:rPr lang="en-US" sz="1500" b="1" dirty="0">
                <a:solidFill>
                  <a:srgbClr val="14201A"/>
                </a:solidFill>
                <a:latin typeface="Cambria" pitchFamily="34" charset="0"/>
                <a:ea typeface="Cambria" pitchFamily="34" charset="-122"/>
                <a:cs typeface="Cambria" pitchFamily="34" charset="-120"/>
              </a:rPr>
              <a:t>Staples</a:t>
            </a:r>
            <a:endParaRPr lang="en-US" sz="1500" dirty="0"/>
          </a:p>
        </p:txBody>
      </p:sp>
      <p:sp>
        <p:nvSpPr>
          <p:cNvPr id="9" name="Text 6"/>
          <p:cNvSpPr/>
          <p:nvPr/>
        </p:nvSpPr>
        <p:spPr>
          <a:xfrm>
            <a:off x="7342632" y="2313432"/>
            <a:ext cx="4114800" cy="338328"/>
          </a:xfrm>
          <a:prstGeom prst="rect">
            <a:avLst/>
          </a:prstGeom>
          <a:noFill/>
          <a:ln/>
        </p:spPr>
        <p:txBody>
          <a:bodyPr wrap="square" lIns="0" tIns="0" rIns="0" bIns="0" rtlCol="0" anchor="ctr"/>
          <a:lstStyle/>
          <a:p>
            <a:pPr indent="0" marL="0">
              <a:lnSpc>
                <a:spcPct val="114000"/>
              </a:lnSpc>
              <a:buNone/>
            </a:pPr>
            <a:r>
              <a:rPr lang="en-US" sz="1050" dirty="0">
                <a:solidFill>
                  <a:srgbClr val="3D4A43"/>
                </a:solidFill>
                <a:latin typeface="Calibri" pitchFamily="34" charset="0"/>
                <a:ea typeface="Calibri" pitchFamily="34" charset="-122"/>
                <a:cs typeface="Calibri" pitchFamily="34" charset="-120"/>
              </a:rPr>
              <a:t>Thin but predictable. 12–20 stock turns a year. The one control is buy price — the whole game is bought, not sold.</a:t>
            </a:r>
            <a:endParaRPr lang="en-US" sz="1050" dirty="0"/>
          </a:p>
        </p:txBody>
      </p:sp>
      <p:sp>
        <p:nvSpPr>
          <p:cNvPr id="10" name="Shape 7"/>
          <p:cNvSpPr/>
          <p:nvPr/>
        </p:nvSpPr>
        <p:spPr>
          <a:xfrm>
            <a:off x="7132320" y="2889504"/>
            <a:ext cx="4480560" cy="1170432"/>
          </a:xfrm>
          <a:prstGeom prst="roundRect">
            <a:avLst>
              <a:gd name="adj" fmla="val 468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1" name="Shape 8"/>
          <p:cNvSpPr/>
          <p:nvPr/>
        </p:nvSpPr>
        <p:spPr>
          <a:xfrm>
            <a:off x="7342632" y="3090672"/>
            <a:ext cx="182880" cy="182880"/>
          </a:xfrm>
          <a:prstGeom prst="ellipse">
            <a:avLst/>
          </a:prstGeom>
          <a:solidFill>
            <a:srgbClr val="A33228"/>
          </a:solidFill>
          <a:ln w="12700">
            <a:solidFill>
              <a:srgbClr val="333333"/>
            </a:solidFill>
            <a:prstDash val="solid"/>
          </a:ln>
        </p:spPr>
      </p:sp>
      <p:sp>
        <p:nvSpPr>
          <p:cNvPr id="12" name="Text 9"/>
          <p:cNvSpPr/>
          <p:nvPr/>
        </p:nvSpPr>
        <p:spPr>
          <a:xfrm>
            <a:off x="7635240" y="3026664"/>
            <a:ext cx="3840480" cy="292608"/>
          </a:xfrm>
          <a:prstGeom prst="rect">
            <a:avLst/>
          </a:prstGeom>
          <a:noFill/>
          <a:ln/>
        </p:spPr>
        <p:txBody>
          <a:bodyPr wrap="square" lIns="0" tIns="0" rIns="0" bIns="0" rtlCol="0" anchor="ctr"/>
          <a:lstStyle/>
          <a:p>
            <a:pPr indent="0" marL="0">
              <a:buNone/>
            </a:pPr>
            <a:r>
              <a:rPr lang="en-US" sz="1500" b="1" dirty="0">
                <a:solidFill>
                  <a:srgbClr val="14201A"/>
                </a:solidFill>
                <a:latin typeface="Cambria" pitchFamily="34" charset="0"/>
                <a:ea typeface="Cambria" pitchFamily="34" charset="-122"/>
                <a:cs typeface="Cambria" pitchFamily="34" charset="-120"/>
              </a:rPr>
              <a:t>Fruits &amp; vegetables</a:t>
            </a:r>
            <a:endParaRPr lang="en-US" sz="1500" dirty="0"/>
          </a:p>
        </p:txBody>
      </p:sp>
      <p:sp>
        <p:nvSpPr>
          <p:cNvPr id="13" name="Text 10"/>
          <p:cNvSpPr/>
          <p:nvPr/>
        </p:nvSpPr>
        <p:spPr>
          <a:xfrm>
            <a:off x="7342632" y="3328416"/>
            <a:ext cx="4114800" cy="640080"/>
          </a:xfrm>
          <a:prstGeom prst="rect">
            <a:avLst/>
          </a:prstGeom>
          <a:noFill/>
          <a:ln/>
        </p:spPr>
        <p:txBody>
          <a:bodyPr wrap="square" lIns="0" tIns="0" rIns="0" bIns="0" rtlCol="0" anchor="ctr"/>
          <a:lstStyle/>
          <a:p>
            <a:pPr indent="0" marL="0">
              <a:lnSpc>
                <a:spcPct val="114000"/>
              </a:lnSpc>
              <a:buNone/>
            </a:pPr>
            <a:r>
              <a:rPr lang="en-US" sz="1050" dirty="0">
                <a:solidFill>
                  <a:srgbClr val="3D4A43"/>
                </a:solidFill>
                <a:latin typeface="Calibri" pitchFamily="34" charset="0"/>
                <a:ea typeface="Calibri" pitchFamily="34" charset="-122"/>
                <a:cs typeface="Calibri" pitchFamily="34" charset="-120"/>
              </a:rPr>
              <a:t>The prize and the trap. 60–120 turns a year, but wastage decides whether the margin survives. Priced cost-plus from this morning's landed cost — a weekly price list is wrong by Wednesday.</a:t>
            </a:r>
            <a:endParaRPr lang="en-US" sz="1050" dirty="0"/>
          </a:p>
        </p:txBody>
      </p:sp>
      <p:sp>
        <p:nvSpPr>
          <p:cNvPr id="14" name="Shape 11"/>
          <p:cNvSpPr/>
          <p:nvPr/>
        </p:nvSpPr>
        <p:spPr>
          <a:xfrm>
            <a:off x="7132320" y="4206240"/>
            <a:ext cx="4480560" cy="1170432"/>
          </a:xfrm>
          <a:prstGeom prst="roundRect">
            <a:avLst>
              <a:gd name="adj" fmla="val 468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5" name="Shape 12"/>
          <p:cNvSpPr/>
          <p:nvPr/>
        </p:nvSpPr>
        <p:spPr>
          <a:xfrm>
            <a:off x="7342632" y="4407408"/>
            <a:ext cx="182880" cy="182880"/>
          </a:xfrm>
          <a:prstGeom prst="ellipse">
            <a:avLst/>
          </a:prstGeom>
          <a:solidFill>
            <a:srgbClr val="9E5E10"/>
          </a:solidFill>
          <a:ln w="12700">
            <a:solidFill>
              <a:srgbClr val="333333"/>
            </a:solidFill>
            <a:prstDash val="solid"/>
          </a:ln>
        </p:spPr>
      </p:sp>
      <p:sp>
        <p:nvSpPr>
          <p:cNvPr id="16" name="Text 13"/>
          <p:cNvSpPr/>
          <p:nvPr/>
        </p:nvSpPr>
        <p:spPr>
          <a:xfrm>
            <a:off x="7635240" y="4343400"/>
            <a:ext cx="3840480" cy="292608"/>
          </a:xfrm>
          <a:prstGeom prst="rect">
            <a:avLst/>
          </a:prstGeom>
          <a:noFill/>
          <a:ln/>
        </p:spPr>
        <p:txBody>
          <a:bodyPr wrap="square" lIns="0" tIns="0" rIns="0" bIns="0" rtlCol="0" anchor="ctr"/>
          <a:lstStyle/>
          <a:p>
            <a:pPr indent="0" marL="0">
              <a:buNone/>
            </a:pPr>
            <a:r>
              <a:rPr lang="en-US" sz="1500" b="1" dirty="0">
                <a:solidFill>
                  <a:srgbClr val="14201A"/>
                </a:solidFill>
                <a:latin typeface="Cambria" pitchFamily="34" charset="0"/>
                <a:ea typeface="Cambria" pitchFamily="34" charset="-122"/>
                <a:cs typeface="Cambria" pitchFamily="34" charset="-120"/>
              </a:rPr>
              <a:t>Beauty &amp; personal care</a:t>
            </a:r>
            <a:endParaRPr lang="en-US" sz="1500" dirty="0"/>
          </a:p>
        </p:txBody>
      </p:sp>
      <p:sp>
        <p:nvSpPr>
          <p:cNvPr id="17" name="Text 14"/>
          <p:cNvSpPr/>
          <p:nvPr/>
        </p:nvSpPr>
        <p:spPr>
          <a:xfrm>
            <a:off x="7342632" y="4645152"/>
            <a:ext cx="4114800" cy="640080"/>
          </a:xfrm>
          <a:prstGeom prst="rect">
            <a:avLst/>
          </a:prstGeom>
          <a:noFill/>
          <a:ln/>
        </p:spPr>
        <p:txBody>
          <a:bodyPr wrap="square" lIns="0" tIns="0" rIns="0" bIns="0" rtlCol="0" anchor="ctr"/>
          <a:lstStyle/>
          <a:p>
            <a:pPr indent="0" marL="0">
              <a:lnSpc>
                <a:spcPct val="114000"/>
              </a:lnSpc>
              <a:buNone/>
            </a:pPr>
            <a:r>
              <a:rPr lang="en-US" sz="1050" dirty="0">
                <a:solidFill>
                  <a:srgbClr val="3D4A43"/>
                </a:solidFill>
                <a:latin typeface="Calibri" pitchFamily="34" charset="0"/>
                <a:ea typeface="Calibri" pitchFamily="34" charset="-122"/>
                <a:cs typeface="Calibri" pitchFamily="34" charset="-120"/>
              </a:rPr>
              <a:t>Best margin, slowest turns at 4–8 a year. This is where cash goes to sleep. Overstocking beauty is the classic way a profitable distributor runs out of money.</a:t>
            </a:r>
            <a:endParaRPr lang="en-US" sz="1050" dirty="0"/>
          </a:p>
        </p:txBody>
      </p:sp>
      <p:sp>
        <p:nvSpPr>
          <p:cNvPr id="18" name="Shape 15"/>
          <p:cNvSpPr/>
          <p:nvPr/>
        </p:nvSpPr>
        <p:spPr>
          <a:xfrm>
            <a:off x="7132320" y="5230368"/>
            <a:ext cx="4480560" cy="868680"/>
          </a:xfrm>
          <a:prstGeom prst="roundRect">
            <a:avLst>
              <a:gd name="adj" fmla="val 6316"/>
            </a:avLst>
          </a:prstGeom>
          <a:solidFill>
            <a:srgbClr val="F6EAD8"/>
          </a:solidFill>
          <a:ln w="12700">
            <a:solidFill>
              <a:srgbClr val="9E5E10"/>
            </a:solidFill>
            <a:prstDash val="solid"/>
          </a:ln>
          <a:effectLst>
            <a:outerShdw sx="100000" sy="100000" kx="0" ky="0" algn="bl" rotWithShape="0" blurRad="127000" dist="12700" dir="5400000">
              <a:srgbClr val="14201A">
                <a:alpha val="9000"/>
              </a:srgbClr>
            </a:outerShdw>
          </a:effectLst>
        </p:spPr>
      </p:sp>
      <p:sp>
        <p:nvSpPr>
          <p:cNvPr id="19" name="Text 16"/>
          <p:cNvSpPr/>
          <p:nvPr/>
        </p:nvSpPr>
        <p:spPr>
          <a:xfrm>
            <a:off x="7342632" y="5330952"/>
            <a:ext cx="4114800" cy="256032"/>
          </a:xfrm>
          <a:prstGeom prst="rect">
            <a:avLst/>
          </a:prstGeom>
          <a:noFill/>
          <a:ln/>
        </p:spPr>
        <p:txBody>
          <a:bodyPr wrap="square" lIns="0" tIns="0" rIns="0" bIns="0" rtlCol="0" anchor="ctr"/>
          <a:lstStyle/>
          <a:p>
            <a:pPr indent="0" marL="0">
              <a:buNone/>
            </a:pPr>
            <a:r>
              <a:rPr lang="en-US" sz="1200" b="1" dirty="0">
                <a:solidFill>
                  <a:srgbClr val="9E5E10"/>
                </a:solidFill>
                <a:latin typeface="Calibri" pitchFamily="34" charset="0"/>
                <a:ea typeface="Calibri" pitchFamily="34" charset="-122"/>
                <a:cs typeface="Calibri" pitchFamily="34" charset="-120"/>
              </a:rPr>
              <a:t>Margin is reported by line, never blended.</a:t>
            </a:r>
            <a:endParaRPr lang="en-US" sz="1200" dirty="0"/>
          </a:p>
        </p:txBody>
      </p:sp>
      <p:sp>
        <p:nvSpPr>
          <p:cNvPr id="20" name="Text 17"/>
          <p:cNvSpPr/>
          <p:nvPr/>
        </p:nvSpPr>
        <p:spPr>
          <a:xfrm>
            <a:off x="7342632" y="5586984"/>
            <a:ext cx="4114800" cy="402336"/>
          </a:xfrm>
          <a:prstGeom prst="rect">
            <a:avLst/>
          </a:prstGeom>
          <a:noFill/>
          <a:ln/>
        </p:spPr>
        <p:txBody>
          <a:bodyPr wrap="square" lIns="0" tIns="0" rIns="0" bIns="0" rtlCol="0" anchor="ctr"/>
          <a:lstStyle/>
          <a:p>
            <a:pPr indent="0" marL="0">
              <a:buNone/>
            </a:pPr>
            <a:r>
              <a:rPr lang="en-US" sz="1050" dirty="0">
                <a:solidFill>
                  <a:srgbClr val="3D4A43"/>
                </a:solidFill>
                <a:latin typeface="Calibri" pitchFamily="34" charset="0"/>
                <a:ea typeface="Calibri" pitchFamily="34" charset="-122"/>
                <a:cs typeface="Calibri" pitchFamily="34" charset="-120"/>
              </a:rPr>
              <a:t>A blended 10% hides staples at 4% and beauty at 20% — and mix is one of the top levers.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UNIT ECONOMICS</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One order, followed to the paisa</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A typical retail-shop order of ₹12,000 on demo economics. Every figure lives in configuration — replacing it with your real numbers is a data change, not a code change.</a:t>
            </a:r>
            <a:endParaRPr lang="en-US" sz="1400" dirty="0"/>
          </a:p>
        </p:txBody>
      </p:sp>
      <p:sp>
        <p:nvSpPr>
          <p:cNvPr id="5" name="Text 3"/>
          <p:cNvSpPr/>
          <p:nvPr/>
        </p:nvSpPr>
        <p:spPr>
          <a:xfrm>
            <a:off x="548640" y="1938528"/>
            <a:ext cx="5486400" cy="237744"/>
          </a:xfrm>
          <a:prstGeom prst="rect">
            <a:avLst/>
          </a:prstGeom>
          <a:noFill/>
          <a:ln/>
        </p:spPr>
        <p:txBody>
          <a:bodyPr wrap="square" lIns="0" tIns="0" rIns="0" bIns="0" rtlCol="0" anchor="ctr"/>
          <a:lstStyle/>
          <a:p>
            <a:pPr indent="0" marL="0">
              <a:buNone/>
            </a:pPr>
            <a:r>
              <a:rPr lang="en-US" sz="1000" b="1" spc="140" kern="0" dirty="0">
                <a:solidFill>
                  <a:srgbClr val="67736C"/>
                </a:solidFill>
                <a:latin typeface="Calibri" pitchFamily="34" charset="0"/>
                <a:ea typeface="Calibri" pitchFamily="34" charset="-122"/>
                <a:cs typeface="Calibri" pitchFamily="34" charset="-120"/>
              </a:rPr>
              <a:t>STAGE 1  ·  THE INVOICE</a:t>
            </a:r>
            <a:endParaRPr lang="en-US" sz="1000" dirty="0"/>
          </a:p>
        </p:txBody>
      </p:sp>
      <p:sp>
        <p:nvSpPr>
          <p:cNvPr id="6" name="Shape 4"/>
          <p:cNvSpPr/>
          <p:nvPr/>
        </p:nvSpPr>
        <p:spPr>
          <a:xfrm>
            <a:off x="548640" y="2231136"/>
            <a:ext cx="9957816" cy="566928"/>
          </a:xfrm>
          <a:prstGeom prst="rect">
            <a:avLst/>
          </a:prstGeom>
          <a:solidFill>
            <a:srgbClr val="F1F0EA"/>
          </a:solidFill>
          <a:ln w="12700">
            <a:solidFill>
              <a:srgbClr val="D6D5CB"/>
            </a:solidFill>
            <a:prstDash val="solid"/>
          </a:ln>
        </p:spPr>
      </p:sp>
      <p:sp>
        <p:nvSpPr>
          <p:cNvPr id="7" name="Shape 5"/>
          <p:cNvSpPr/>
          <p:nvPr/>
        </p:nvSpPr>
        <p:spPr>
          <a:xfrm>
            <a:off x="10506456" y="2231136"/>
            <a:ext cx="1106424" cy="566928"/>
          </a:xfrm>
          <a:prstGeom prst="rect">
            <a:avLst/>
          </a:prstGeom>
          <a:solidFill>
            <a:srgbClr val="1F7A4D"/>
          </a:solidFill>
          <a:ln w="12700">
            <a:solidFill>
              <a:srgbClr val="1F7A4D"/>
            </a:solidFill>
            <a:prstDash val="solid"/>
          </a:ln>
        </p:spPr>
      </p:sp>
      <p:sp>
        <p:nvSpPr>
          <p:cNvPr id="8" name="Text 6"/>
          <p:cNvSpPr/>
          <p:nvPr/>
        </p:nvSpPr>
        <p:spPr>
          <a:xfrm>
            <a:off x="694944" y="2231136"/>
            <a:ext cx="9692640" cy="566928"/>
          </a:xfrm>
          <a:prstGeom prst="rect">
            <a:avLst/>
          </a:prstGeom>
          <a:noFill/>
          <a:ln/>
        </p:spPr>
        <p:txBody>
          <a:bodyPr wrap="square" lIns="0" tIns="0" rIns="0" bIns="0" rtlCol="0" anchor="ctr"/>
          <a:lstStyle/>
          <a:p>
            <a:pPr indent="0" marL="0">
              <a:buNone/>
            </a:pPr>
            <a:r>
              <a:rPr lang="en-US" sz="1200" dirty="0">
                <a:solidFill>
                  <a:srgbClr val="3D4A43"/>
                </a:solidFill>
                <a:latin typeface="Calibri" pitchFamily="34" charset="0"/>
                <a:ea typeface="Calibri" pitchFamily="34" charset="-122"/>
                <a:cs typeface="Calibri" pitchFamily="34" charset="-120"/>
              </a:rPr>
              <a:t>Cost of goods, landed  —  ₹10,800</a:t>
            </a:r>
            <a:endParaRPr lang="en-US" sz="1200" dirty="0"/>
          </a:p>
        </p:txBody>
      </p:sp>
      <p:sp>
        <p:nvSpPr>
          <p:cNvPr id="9" name="Text 7"/>
          <p:cNvSpPr/>
          <p:nvPr/>
        </p:nvSpPr>
        <p:spPr>
          <a:xfrm>
            <a:off x="10506456" y="2231136"/>
            <a:ext cx="1106424"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₹1,200</a:t>
            </a:r>
            <a:endParaRPr lang="en-US" sz="1100" dirty="0"/>
          </a:p>
        </p:txBody>
      </p:sp>
      <p:sp>
        <p:nvSpPr>
          <p:cNvPr id="10" name="Text 8"/>
          <p:cNvSpPr/>
          <p:nvPr/>
        </p:nvSpPr>
        <p:spPr>
          <a:xfrm>
            <a:off x="548640" y="2834640"/>
            <a:ext cx="11064240" cy="237744"/>
          </a:xfrm>
          <a:prstGeom prst="rect">
            <a:avLst/>
          </a:prstGeom>
          <a:noFill/>
          <a:ln/>
        </p:spPr>
        <p:txBody>
          <a:bodyPr wrap="square" lIns="0" tIns="0" rIns="0" bIns="0" rtlCol="0" anchor="ctr"/>
          <a:lstStyle/>
          <a:p>
            <a:pPr indent="0" marL="0">
              <a:buNone/>
            </a:pPr>
            <a:r>
              <a:rPr lang="en-US" sz="1050" i="1" dirty="0">
                <a:solidFill>
                  <a:srgbClr val="67736C"/>
                </a:solidFill>
                <a:latin typeface="Calibri" pitchFamily="34" charset="0"/>
                <a:ea typeface="Calibri" pitchFamily="34" charset="-122"/>
                <a:cs typeface="Calibri" pitchFamily="34" charset="-120"/>
              </a:rPr>
              <a:t>₹12,000 invoice  ·  gross margin 10%</a:t>
            </a:r>
            <a:endParaRPr lang="en-US" sz="1050" dirty="0"/>
          </a:p>
        </p:txBody>
      </p:sp>
      <p:sp>
        <p:nvSpPr>
          <p:cNvPr id="11" name="Text 9"/>
          <p:cNvSpPr/>
          <p:nvPr/>
        </p:nvSpPr>
        <p:spPr>
          <a:xfrm>
            <a:off x="548640" y="3310128"/>
            <a:ext cx="7315200" cy="237744"/>
          </a:xfrm>
          <a:prstGeom prst="rect">
            <a:avLst/>
          </a:prstGeom>
          <a:noFill/>
          <a:ln/>
        </p:spPr>
        <p:txBody>
          <a:bodyPr wrap="square" lIns="0" tIns="0" rIns="0" bIns="0" rtlCol="0" anchor="ctr"/>
          <a:lstStyle/>
          <a:p>
            <a:pPr indent="0" marL="0">
              <a:buNone/>
            </a:pPr>
            <a:r>
              <a:rPr lang="en-US" sz="1000" b="1" spc="140" kern="0" dirty="0">
                <a:solidFill>
                  <a:srgbClr val="67736C"/>
                </a:solidFill>
                <a:latin typeface="Calibri" pitchFamily="34" charset="0"/>
                <a:ea typeface="Calibri" pitchFamily="34" charset="-122"/>
                <a:cs typeface="Calibri" pitchFamily="34" charset="-120"/>
              </a:rPr>
              <a:t>STAGE 2  ·  THE ₹1,200 OF GROSS MARGIN, MAGNIFIED</a:t>
            </a:r>
            <a:endParaRPr lang="en-US" sz="1000" dirty="0"/>
          </a:p>
        </p:txBody>
      </p:sp>
      <p:sp>
        <p:nvSpPr>
          <p:cNvPr id="12" name="Shape 10"/>
          <p:cNvSpPr/>
          <p:nvPr/>
        </p:nvSpPr>
        <p:spPr>
          <a:xfrm>
            <a:off x="548640" y="3602736"/>
            <a:ext cx="1383030" cy="658368"/>
          </a:xfrm>
          <a:prstGeom prst="rect">
            <a:avLst/>
          </a:prstGeom>
          <a:solidFill>
            <a:srgbClr val="F5E2E0"/>
          </a:solidFill>
          <a:ln w="12700">
            <a:solidFill>
              <a:srgbClr val="A33228"/>
            </a:solidFill>
            <a:prstDash val="solid"/>
          </a:ln>
        </p:spPr>
      </p:sp>
      <p:sp>
        <p:nvSpPr>
          <p:cNvPr id="13" name="Text 11"/>
          <p:cNvSpPr/>
          <p:nvPr/>
        </p:nvSpPr>
        <p:spPr>
          <a:xfrm>
            <a:off x="548640" y="3648456"/>
            <a:ext cx="1383030" cy="274320"/>
          </a:xfrm>
          <a:prstGeom prst="rect">
            <a:avLst/>
          </a:prstGeom>
          <a:noFill/>
          <a:ln/>
        </p:spPr>
        <p:txBody>
          <a:bodyPr wrap="square" lIns="0" tIns="0" rIns="0" bIns="0" rtlCol="0" anchor="ctr"/>
          <a:lstStyle/>
          <a:p>
            <a:pPr algn="ctr" indent="0" marL="0">
              <a:buNone/>
            </a:pPr>
            <a:r>
              <a:rPr lang="en-US" sz="1200" b="1" dirty="0">
                <a:solidFill>
                  <a:srgbClr val="A33228"/>
                </a:solidFill>
                <a:latin typeface="Calibri" pitchFamily="34" charset="0"/>
                <a:ea typeface="Calibri" pitchFamily="34" charset="-122"/>
                <a:cs typeface="Calibri" pitchFamily="34" charset="-120"/>
              </a:rPr>
              <a:t>₹150</a:t>
            </a:r>
            <a:endParaRPr lang="en-US" sz="1200" dirty="0"/>
          </a:p>
        </p:txBody>
      </p:sp>
      <p:sp>
        <p:nvSpPr>
          <p:cNvPr id="14" name="Text 12"/>
          <p:cNvSpPr/>
          <p:nvPr/>
        </p:nvSpPr>
        <p:spPr>
          <a:xfrm>
            <a:off x="585216" y="3922776"/>
            <a:ext cx="1309878" cy="292608"/>
          </a:xfrm>
          <a:prstGeom prst="rect">
            <a:avLst/>
          </a:prstGeom>
          <a:noFill/>
          <a:ln/>
        </p:spPr>
        <p:txBody>
          <a:bodyPr wrap="square" lIns="0" tIns="0" rIns="0" bIns="0" rtlCol="0" anchor="ctr"/>
          <a:lstStyle/>
          <a:p>
            <a:pPr algn="ctr" indent="0" marL="0">
              <a:buNone/>
            </a:pPr>
            <a:r>
              <a:rPr lang="en-US" sz="900" dirty="0">
                <a:solidFill>
                  <a:srgbClr val="A33228"/>
                </a:solidFill>
                <a:latin typeface="Calibri" pitchFamily="34" charset="0"/>
                <a:ea typeface="Calibri" pitchFamily="34" charset="-122"/>
                <a:cs typeface="Calibri" pitchFamily="34" charset="-120"/>
              </a:rPr>
              <a:t>Delivery</a:t>
            </a:r>
            <a:endParaRPr lang="en-US" sz="900" dirty="0"/>
          </a:p>
        </p:txBody>
      </p:sp>
      <p:sp>
        <p:nvSpPr>
          <p:cNvPr id="15" name="Shape 13"/>
          <p:cNvSpPr/>
          <p:nvPr/>
        </p:nvSpPr>
        <p:spPr>
          <a:xfrm>
            <a:off x="1931670" y="3602736"/>
            <a:ext cx="2212848" cy="658368"/>
          </a:xfrm>
          <a:prstGeom prst="rect">
            <a:avLst/>
          </a:prstGeom>
          <a:solidFill>
            <a:srgbClr val="F5E2E0"/>
          </a:solidFill>
          <a:ln w="12700">
            <a:solidFill>
              <a:srgbClr val="A33228"/>
            </a:solidFill>
            <a:prstDash val="solid"/>
          </a:ln>
        </p:spPr>
      </p:sp>
      <p:sp>
        <p:nvSpPr>
          <p:cNvPr id="16" name="Text 14"/>
          <p:cNvSpPr/>
          <p:nvPr/>
        </p:nvSpPr>
        <p:spPr>
          <a:xfrm>
            <a:off x="1931670" y="3648456"/>
            <a:ext cx="2212848" cy="274320"/>
          </a:xfrm>
          <a:prstGeom prst="rect">
            <a:avLst/>
          </a:prstGeom>
          <a:noFill/>
          <a:ln/>
        </p:spPr>
        <p:txBody>
          <a:bodyPr wrap="square" lIns="0" tIns="0" rIns="0" bIns="0" rtlCol="0" anchor="ctr"/>
          <a:lstStyle/>
          <a:p>
            <a:pPr algn="ctr" indent="0" marL="0">
              <a:buNone/>
            </a:pPr>
            <a:r>
              <a:rPr lang="en-US" sz="1200" b="1" dirty="0">
                <a:solidFill>
                  <a:srgbClr val="A33228"/>
                </a:solidFill>
                <a:latin typeface="Calibri" pitchFamily="34" charset="0"/>
                <a:ea typeface="Calibri" pitchFamily="34" charset="-122"/>
                <a:cs typeface="Calibri" pitchFamily="34" charset="-120"/>
              </a:rPr>
              <a:t>₹240</a:t>
            </a:r>
            <a:endParaRPr lang="en-US" sz="1200" dirty="0"/>
          </a:p>
        </p:txBody>
      </p:sp>
      <p:sp>
        <p:nvSpPr>
          <p:cNvPr id="17" name="Text 15"/>
          <p:cNvSpPr/>
          <p:nvPr/>
        </p:nvSpPr>
        <p:spPr>
          <a:xfrm>
            <a:off x="1968246" y="3922776"/>
            <a:ext cx="2139696" cy="292608"/>
          </a:xfrm>
          <a:prstGeom prst="rect">
            <a:avLst/>
          </a:prstGeom>
          <a:noFill/>
          <a:ln/>
        </p:spPr>
        <p:txBody>
          <a:bodyPr wrap="square" lIns="0" tIns="0" rIns="0" bIns="0" rtlCol="0" anchor="ctr"/>
          <a:lstStyle/>
          <a:p>
            <a:pPr algn="ctr" indent="0" marL="0">
              <a:buNone/>
            </a:pPr>
            <a:r>
              <a:rPr lang="en-US" sz="900" dirty="0">
                <a:solidFill>
                  <a:srgbClr val="A33228"/>
                </a:solidFill>
                <a:latin typeface="Calibri" pitchFamily="34" charset="0"/>
                <a:ea typeface="Calibri" pitchFamily="34" charset="-122"/>
                <a:cs typeface="Calibri" pitchFamily="34" charset="-120"/>
              </a:rPr>
              <a:t>Wastage</a:t>
            </a:r>
            <a:endParaRPr lang="en-US" sz="900" dirty="0"/>
          </a:p>
        </p:txBody>
      </p:sp>
      <p:sp>
        <p:nvSpPr>
          <p:cNvPr id="18" name="Shape 16"/>
          <p:cNvSpPr/>
          <p:nvPr/>
        </p:nvSpPr>
        <p:spPr>
          <a:xfrm>
            <a:off x="4144518" y="3602736"/>
            <a:ext cx="1272388" cy="658368"/>
          </a:xfrm>
          <a:prstGeom prst="rect">
            <a:avLst/>
          </a:prstGeom>
          <a:solidFill>
            <a:srgbClr val="F5E2E0"/>
          </a:solidFill>
          <a:ln w="12700">
            <a:solidFill>
              <a:srgbClr val="A33228"/>
            </a:solidFill>
            <a:prstDash val="solid"/>
          </a:ln>
        </p:spPr>
      </p:sp>
      <p:sp>
        <p:nvSpPr>
          <p:cNvPr id="19" name="Text 17"/>
          <p:cNvSpPr/>
          <p:nvPr/>
        </p:nvSpPr>
        <p:spPr>
          <a:xfrm>
            <a:off x="4144518" y="3648456"/>
            <a:ext cx="1272388" cy="274320"/>
          </a:xfrm>
          <a:prstGeom prst="rect">
            <a:avLst/>
          </a:prstGeom>
          <a:noFill/>
          <a:ln/>
        </p:spPr>
        <p:txBody>
          <a:bodyPr wrap="square" lIns="0" tIns="0" rIns="0" bIns="0" rtlCol="0" anchor="ctr"/>
          <a:lstStyle/>
          <a:p>
            <a:pPr algn="ctr" indent="0" marL="0">
              <a:buNone/>
            </a:pPr>
            <a:r>
              <a:rPr lang="en-US" sz="1200" b="1" dirty="0">
                <a:solidFill>
                  <a:srgbClr val="A33228"/>
                </a:solidFill>
                <a:latin typeface="Calibri" pitchFamily="34" charset="0"/>
                <a:ea typeface="Calibri" pitchFamily="34" charset="-122"/>
                <a:cs typeface="Calibri" pitchFamily="34" charset="-120"/>
              </a:rPr>
              <a:t>₹138</a:t>
            </a:r>
            <a:endParaRPr lang="en-US" sz="1200" dirty="0"/>
          </a:p>
        </p:txBody>
      </p:sp>
      <p:sp>
        <p:nvSpPr>
          <p:cNvPr id="20" name="Text 18"/>
          <p:cNvSpPr/>
          <p:nvPr/>
        </p:nvSpPr>
        <p:spPr>
          <a:xfrm>
            <a:off x="4181094" y="3922776"/>
            <a:ext cx="1199236" cy="292608"/>
          </a:xfrm>
          <a:prstGeom prst="rect">
            <a:avLst/>
          </a:prstGeom>
          <a:noFill/>
          <a:ln/>
        </p:spPr>
        <p:txBody>
          <a:bodyPr wrap="square" lIns="0" tIns="0" rIns="0" bIns="0" rtlCol="0" anchor="ctr"/>
          <a:lstStyle/>
          <a:p>
            <a:pPr algn="ctr" indent="0" marL="0">
              <a:buNone/>
            </a:pPr>
            <a:r>
              <a:rPr lang="en-US" sz="900" dirty="0">
                <a:solidFill>
                  <a:srgbClr val="A33228"/>
                </a:solidFill>
                <a:latin typeface="Calibri" pitchFamily="34" charset="0"/>
                <a:ea typeface="Calibri" pitchFamily="34" charset="-122"/>
                <a:cs typeface="Calibri" pitchFamily="34" charset="-120"/>
              </a:rPr>
              <a:t>Cost of credit</a:t>
            </a:r>
            <a:endParaRPr lang="en-US" sz="900" dirty="0"/>
          </a:p>
        </p:txBody>
      </p:sp>
      <p:sp>
        <p:nvSpPr>
          <p:cNvPr id="21" name="Shape 19"/>
          <p:cNvSpPr/>
          <p:nvPr/>
        </p:nvSpPr>
        <p:spPr>
          <a:xfrm>
            <a:off x="5416906" y="3602736"/>
            <a:ext cx="1106424" cy="658368"/>
          </a:xfrm>
          <a:prstGeom prst="rect">
            <a:avLst/>
          </a:prstGeom>
          <a:solidFill>
            <a:srgbClr val="F5E2E0"/>
          </a:solidFill>
          <a:ln w="12700">
            <a:solidFill>
              <a:srgbClr val="A33228"/>
            </a:solidFill>
            <a:prstDash val="solid"/>
          </a:ln>
        </p:spPr>
      </p:sp>
      <p:sp>
        <p:nvSpPr>
          <p:cNvPr id="22" name="Text 20"/>
          <p:cNvSpPr/>
          <p:nvPr/>
        </p:nvSpPr>
        <p:spPr>
          <a:xfrm>
            <a:off x="5416906" y="3648456"/>
            <a:ext cx="1106424" cy="274320"/>
          </a:xfrm>
          <a:prstGeom prst="rect">
            <a:avLst/>
          </a:prstGeom>
          <a:noFill/>
          <a:ln/>
        </p:spPr>
        <p:txBody>
          <a:bodyPr wrap="square" lIns="0" tIns="0" rIns="0" bIns="0" rtlCol="0" anchor="ctr"/>
          <a:lstStyle/>
          <a:p>
            <a:pPr algn="ctr" indent="0" marL="0">
              <a:buNone/>
            </a:pPr>
            <a:r>
              <a:rPr lang="en-US" sz="1200" b="1" dirty="0">
                <a:solidFill>
                  <a:srgbClr val="A33228"/>
                </a:solidFill>
                <a:latin typeface="Calibri" pitchFamily="34" charset="0"/>
                <a:ea typeface="Calibri" pitchFamily="34" charset="-122"/>
                <a:cs typeface="Calibri" pitchFamily="34" charset="-120"/>
              </a:rPr>
              <a:t>₹120</a:t>
            </a:r>
            <a:endParaRPr lang="en-US" sz="1200" dirty="0"/>
          </a:p>
        </p:txBody>
      </p:sp>
      <p:sp>
        <p:nvSpPr>
          <p:cNvPr id="23" name="Text 21"/>
          <p:cNvSpPr/>
          <p:nvPr/>
        </p:nvSpPr>
        <p:spPr>
          <a:xfrm>
            <a:off x="5453482" y="3922776"/>
            <a:ext cx="1033272" cy="292608"/>
          </a:xfrm>
          <a:prstGeom prst="rect">
            <a:avLst/>
          </a:prstGeom>
          <a:noFill/>
          <a:ln/>
        </p:spPr>
        <p:txBody>
          <a:bodyPr wrap="square" lIns="0" tIns="0" rIns="0" bIns="0" rtlCol="0" anchor="ctr"/>
          <a:lstStyle/>
          <a:p>
            <a:pPr algn="ctr" indent="0" marL="0">
              <a:buNone/>
            </a:pPr>
            <a:r>
              <a:rPr lang="en-US" sz="900" dirty="0">
                <a:solidFill>
                  <a:srgbClr val="A33228"/>
                </a:solidFill>
                <a:latin typeface="Calibri" pitchFamily="34" charset="0"/>
                <a:ea typeface="Calibri" pitchFamily="34" charset="-122"/>
                <a:cs typeface="Calibri" pitchFamily="34" charset="-120"/>
              </a:rPr>
              <a:t>Bad debt</a:t>
            </a:r>
            <a:endParaRPr lang="en-US" sz="900" dirty="0"/>
          </a:p>
        </p:txBody>
      </p:sp>
      <p:sp>
        <p:nvSpPr>
          <p:cNvPr id="24" name="Shape 22"/>
          <p:cNvSpPr/>
          <p:nvPr/>
        </p:nvSpPr>
        <p:spPr>
          <a:xfrm>
            <a:off x="6523330" y="3602736"/>
            <a:ext cx="1032632" cy="658368"/>
          </a:xfrm>
          <a:prstGeom prst="rect">
            <a:avLst/>
          </a:prstGeom>
          <a:solidFill>
            <a:srgbClr val="F5E2E0"/>
          </a:solidFill>
          <a:ln w="12700">
            <a:solidFill>
              <a:srgbClr val="A33228"/>
            </a:solidFill>
            <a:prstDash val="solid"/>
          </a:ln>
        </p:spPr>
      </p:sp>
      <p:sp>
        <p:nvSpPr>
          <p:cNvPr id="25" name="Text 23"/>
          <p:cNvSpPr/>
          <p:nvPr/>
        </p:nvSpPr>
        <p:spPr>
          <a:xfrm>
            <a:off x="6523330" y="3648456"/>
            <a:ext cx="1032632" cy="274320"/>
          </a:xfrm>
          <a:prstGeom prst="rect">
            <a:avLst/>
          </a:prstGeom>
          <a:noFill/>
          <a:ln/>
        </p:spPr>
        <p:txBody>
          <a:bodyPr wrap="square" lIns="0" tIns="0" rIns="0" bIns="0" rtlCol="0" anchor="ctr"/>
          <a:lstStyle/>
          <a:p>
            <a:pPr algn="ctr" indent="0" marL="0">
              <a:buNone/>
            </a:pPr>
            <a:r>
              <a:rPr lang="en-US" sz="1200" b="1" dirty="0">
                <a:solidFill>
                  <a:srgbClr val="A33228"/>
                </a:solidFill>
                <a:latin typeface="Calibri" pitchFamily="34" charset="0"/>
                <a:ea typeface="Calibri" pitchFamily="34" charset="-122"/>
                <a:cs typeface="Calibri" pitchFamily="34" charset="-120"/>
              </a:rPr>
              <a:t>₹112</a:t>
            </a:r>
            <a:endParaRPr lang="en-US" sz="1200" dirty="0"/>
          </a:p>
        </p:txBody>
      </p:sp>
      <p:sp>
        <p:nvSpPr>
          <p:cNvPr id="26" name="Text 24"/>
          <p:cNvSpPr/>
          <p:nvPr/>
        </p:nvSpPr>
        <p:spPr>
          <a:xfrm>
            <a:off x="6559906" y="3922776"/>
            <a:ext cx="959480" cy="292608"/>
          </a:xfrm>
          <a:prstGeom prst="rect">
            <a:avLst/>
          </a:prstGeom>
          <a:noFill/>
          <a:ln/>
        </p:spPr>
        <p:txBody>
          <a:bodyPr wrap="square" lIns="0" tIns="0" rIns="0" bIns="0" rtlCol="0" anchor="ctr"/>
          <a:lstStyle/>
          <a:p>
            <a:pPr algn="ctr" indent="0" marL="0">
              <a:buNone/>
            </a:pPr>
            <a:r>
              <a:rPr lang="en-US" sz="900" dirty="0">
                <a:solidFill>
                  <a:srgbClr val="A33228"/>
                </a:solidFill>
                <a:latin typeface="Calibri" pitchFamily="34" charset="0"/>
                <a:ea typeface="Calibri" pitchFamily="34" charset="-122"/>
                <a:cs typeface="Calibri" pitchFamily="34" charset="-120"/>
              </a:rPr>
              <a:t>Packing, banking, comms</a:t>
            </a:r>
            <a:endParaRPr lang="en-US" sz="900" dirty="0"/>
          </a:p>
        </p:txBody>
      </p:sp>
      <p:sp>
        <p:nvSpPr>
          <p:cNvPr id="27" name="Shape 25"/>
          <p:cNvSpPr/>
          <p:nvPr/>
        </p:nvSpPr>
        <p:spPr>
          <a:xfrm>
            <a:off x="7555962" y="3602736"/>
            <a:ext cx="4056918" cy="658368"/>
          </a:xfrm>
          <a:prstGeom prst="rect">
            <a:avLst/>
          </a:prstGeom>
          <a:solidFill>
            <a:srgbClr val="1F7A4D"/>
          </a:solidFill>
          <a:ln w="12700">
            <a:solidFill>
              <a:srgbClr val="1F7A4D"/>
            </a:solidFill>
            <a:prstDash val="solid"/>
          </a:ln>
        </p:spPr>
      </p:sp>
      <p:sp>
        <p:nvSpPr>
          <p:cNvPr id="28" name="Text 26"/>
          <p:cNvSpPr/>
          <p:nvPr/>
        </p:nvSpPr>
        <p:spPr>
          <a:xfrm>
            <a:off x="7555962" y="3648456"/>
            <a:ext cx="405691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₹440</a:t>
            </a:r>
            <a:endParaRPr lang="en-US" sz="1200" dirty="0"/>
          </a:p>
        </p:txBody>
      </p:sp>
      <p:sp>
        <p:nvSpPr>
          <p:cNvPr id="29" name="Text 27"/>
          <p:cNvSpPr/>
          <p:nvPr/>
        </p:nvSpPr>
        <p:spPr>
          <a:xfrm>
            <a:off x="7592538" y="3922776"/>
            <a:ext cx="3983766" cy="292608"/>
          </a:xfrm>
          <a:prstGeom prst="rect">
            <a:avLst/>
          </a:prstGeom>
          <a:noFill/>
          <a:ln/>
        </p:spPr>
        <p:txBody>
          <a:bodyPr wrap="square" lIns="0" tIns="0" rIns="0" bIns="0" rtlCol="0" anchor="ctr"/>
          <a:lstStyle/>
          <a:p>
            <a:pPr algn="ctr" indent="0" marL="0">
              <a:buNone/>
            </a:pPr>
            <a:r>
              <a:rPr lang="en-US" sz="900" dirty="0">
                <a:solidFill>
                  <a:srgbClr val="FFFFFF"/>
                </a:solidFill>
                <a:latin typeface="Calibri" pitchFamily="34" charset="0"/>
                <a:ea typeface="Calibri" pitchFamily="34" charset="-122"/>
                <a:cs typeface="Calibri" pitchFamily="34" charset="-120"/>
              </a:rPr>
              <a:t>Contribution</a:t>
            </a:r>
            <a:endParaRPr lang="en-US" sz="900" dirty="0"/>
          </a:p>
        </p:txBody>
      </p:sp>
      <p:sp>
        <p:nvSpPr>
          <p:cNvPr id="30" name="Text 28"/>
          <p:cNvSpPr/>
          <p:nvPr/>
        </p:nvSpPr>
        <p:spPr>
          <a:xfrm>
            <a:off x="548640" y="4315968"/>
            <a:ext cx="6400800" cy="237744"/>
          </a:xfrm>
          <a:prstGeom prst="rect">
            <a:avLst/>
          </a:prstGeom>
          <a:noFill/>
          <a:ln/>
        </p:spPr>
        <p:txBody>
          <a:bodyPr wrap="square" lIns="0" tIns="0" rIns="0" bIns="0" rtlCol="0" anchor="ctr"/>
          <a:lstStyle/>
          <a:p>
            <a:pPr indent="0" marL="0">
              <a:buNone/>
            </a:pPr>
            <a:r>
              <a:rPr lang="en-US" sz="1050" i="1" dirty="0">
                <a:solidFill>
                  <a:srgbClr val="67736C"/>
                </a:solidFill>
                <a:latin typeface="Calibri" pitchFamily="34" charset="0"/>
                <a:ea typeface="Calibri" pitchFamily="34" charset="-122"/>
                <a:cs typeface="Calibri" pitchFamily="34" charset="-120"/>
              </a:rPr>
              <a:t>₹1,200 gross margin, less the costs of serving the order</a:t>
            </a:r>
            <a:endParaRPr lang="en-US" sz="1050" dirty="0"/>
          </a:p>
        </p:txBody>
      </p:sp>
      <p:sp>
        <p:nvSpPr>
          <p:cNvPr id="31" name="Shape 29"/>
          <p:cNvSpPr/>
          <p:nvPr/>
        </p:nvSpPr>
        <p:spPr>
          <a:xfrm>
            <a:off x="548640" y="4736592"/>
            <a:ext cx="5394960" cy="1298448"/>
          </a:xfrm>
          <a:prstGeom prst="roundRect">
            <a:avLst>
              <a:gd name="adj" fmla="val 4225"/>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32" name="Text 30"/>
          <p:cNvSpPr/>
          <p:nvPr/>
        </p:nvSpPr>
        <p:spPr>
          <a:xfrm>
            <a:off x="868680" y="4846320"/>
            <a:ext cx="2194560" cy="548640"/>
          </a:xfrm>
          <a:prstGeom prst="rect">
            <a:avLst/>
          </a:prstGeom>
          <a:noFill/>
          <a:ln/>
        </p:spPr>
        <p:txBody>
          <a:bodyPr wrap="square" lIns="0" tIns="0" rIns="0" bIns="0" rtlCol="0" anchor="ctr"/>
          <a:lstStyle/>
          <a:p>
            <a:pPr indent="0" marL="0">
              <a:buNone/>
            </a:pPr>
            <a:r>
              <a:rPr lang="en-US" sz="3400" b="1" dirty="0">
                <a:solidFill>
                  <a:srgbClr val="1F7A4D"/>
                </a:solidFill>
                <a:latin typeface="Cambria" pitchFamily="34" charset="0"/>
                <a:ea typeface="Cambria" pitchFamily="34" charset="-122"/>
                <a:cs typeface="Cambria" pitchFamily="34" charset="-120"/>
              </a:rPr>
              <a:t>≈ ₹440</a:t>
            </a:r>
            <a:endParaRPr lang="en-US" sz="3400" dirty="0"/>
          </a:p>
        </p:txBody>
      </p:sp>
      <p:sp>
        <p:nvSpPr>
          <p:cNvPr id="33" name="Text 31"/>
          <p:cNvSpPr/>
          <p:nvPr/>
        </p:nvSpPr>
        <p:spPr>
          <a:xfrm>
            <a:off x="3063240" y="4956048"/>
            <a:ext cx="2743200" cy="256032"/>
          </a:xfrm>
          <a:prstGeom prst="rect">
            <a:avLst/>
          </a:prstGeom>
          <a:noFill/>
          <a:ln/>
        </p:spPr>
        <p:txBody>
          <a:bodyPr wrap="square" lIns="0" tIns="0" rIns="0" bIns="0" rtlCol="0" anchor="ctr"/>
          <a:lstStyle/>
          <a:p>
            <a:pPr indent="0" marL="0">
              <a:buNone/>
            </a:pPr>
            <a:r>
              <a:rPr lang="en-US" sz="1200" b="1" dirty="0">
                <a:solidFill>
                  <a:srgbClr val="1F7A4D"/>
                </a:solidFill>
                <a:latin typeface="Calibri" pitchFamily="34" charset="0"/>
                <a:ea typeface="Calibri" pitchFamily="34" charset="-122"/>
                <a:cs typeface="Calibri" pitchFamily="34" charset="-120"/>
              </a:rPr>
              <a:t>contribution per order</a:t>
            </a:r>
            <a:endParaRPr lang="en-US" sz="1200" dirty="0"/>
          </a:p>
        </p:txBody>
      </p:sp>
      <p:sp>
        <p:nvSpPr>
          <p:cNvPr id="34" name="Text 32"/>
          <p:cNvSpPr/>
          <p:nvPr/>
        </p:nvSpPr>
        <p:spPr>
          <a:xfrm>
            <a:off x="3063240" y="5212080"/>
            <a:ext cx="2743200" cy="256032"/>
          </a:xfrm>
          <a:prstGeom prst="rect">
            <a:avLst/>
          </a:prstGeom>
          <a:noFill/>
          <a:ln/>
        </p:spPr>
        <p:txBody>
          <a:bodyPr wrap="square" lIns="0" tIns="0" rIns="0" bIns="0" rtlCol="0" anchor="ctr"/>
          <a:lstStyle/>
          <a:p>
            <a:pPr indent="0" marL="0">
              <a:buNone/>
            </a:pPr>
            <a:r>
              <a:rPr lang="en-US" sz="1100" dirty="0">
                <a:solidFill>
                  <a:srgbClr val="3D4A43"/>
                </a:solidFill>
                <a:latin typeface="Calibri" pitchFamily="34" charset="0"/>
                <a:ea typeface="Calibri" pitchFamily="34" charset="-122"/>
                <a:cs typeface="Calibri" pitchFamily="34" charset="-120"/>
              </a:rPr>
              <a:t>3.7% of invoice value</a:t>
            </a:r>
            <a:endParaRPr lang="en-US" sz="1100" dirty="0"/>
          </a:p>
        </p:txBody>
      </p:sp>
      <p:sp>
        <p:nvSpPr>
          <p:cNvPr id="35" name="Text 33"/>
          <p:cNvSpPr/>
          <p:nvPr/>
        </p:nvSpPr>
        <p:spPr>
          <a:xfrm>
            <a:off x="868680" y="5449824"/>
            <a:ext cx="4846320" cy="256032"/>
          </a:xfrm>
          <a:prstGeom prst="rect">
            <a:avLst/>
          </a:prstGeom>
          <a:noFill/>
          <a:ln/>
        </p:spPr>
        <p:txBody>
          <a:bodyPr wrap="square" lIns="0" tIns="0" rIns="0" bIns="0" rtlCol="0" anchor="ctr"/>
          <a:lstStyle/>
          <a:p>
            <a:pPr indent="0" marL="0">
              <a:buNone/>
            </a:pPr>
            <a:r>
              <a:rPr lang="en-US" sz="1050" i="1" dirty="0">
                <a:solidFill>
                  <a:srgbClr val="67736C"/>
                </a:solidFill>
                <a:latin typeface="Calibri" pitchFamily="34" charset="0"/>
                <a:ea typeface="Calibri" pitchFamily="34" charset="-122"/>
                <a:cs typeface="Calibri" pitchFamily="34" charset="-120"/>
              </a:rPr>
              <a:t>Target ≥ ₹400 by month 6</a:t>
            </a:r>
            <a:endParaRPr lang="en-US" sz="1050" dirty="0"/>
          </a:p>
        </p:txBody>
      </p:sp>
      <p:sp>
        <p:nvSpPr>
          <p:cNvPr id="36" name="Shape 34"/>
          <p:cNvSpPr/>
          <p:nvPr/>
        </p:nvSpPr>
        <p:spPr>
          <a:xfrm>
            <a:off x="6217920" y="4736592"/>
            <a:ext cx="5394960" cy="1298448"/>
          </a:xfrm>
          <a:prstGeom prst="roundRect">
            <a:avLst>
              <a:gd name="adj" fmla="val 4225"/>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7" name="Text 35"/>
          <p:cNvSpPr/>
          <p:nvPr/>
        </p:nvSpPr>
        <p:spPr>
          <a:xfrm>
            <a:off x="6446520" y="4846320"/>
            <a:ext cx="4937760" cy="256032"/>
          </a:xfrm>
          <a:prstGeom prst="rect">
            <a:avLst/>
          </a:prstGeom>
          <a:noFill/>
          <a:ln/>
        </p:spPr>
        <p:txBody>
          <a:bodyPr wrap="square" lIns="0" tIns="0" rIns="0" bIns="0" rtlCol="0" anchor="ctr"/>
          <a:lstStyle/>
          <a:p>
            <a:pPr indent="0" marL="0">
              <a:buNone/>
            </a:pPr>
            <a:r>
              <a:rPr lang="en-US" sz="1200" b="1" dirty="0">
                <a:solidFill>
                  <a:srgbClr val="14201A"/>
                </a:solidFill>
                <a:latin typeface="Calibri" pitchFamily="34" charset="0"/>
                <a:ea typeface="Calibri" pitchFamily="34" charset="-122"/>
                <a:cs typeface="Calibri" pitchFamily="34" charset="-120"/>
              </a:rPr>
              <a:t>The two biggest levers on this page</a:t>
            </a:r>
            <a:endParaRPr lang="en-US" sz="1200" dirty="0"/>
          </a:p>
        </p:txBody>
      </p:sp>
      <p:sp>
        <p:nvSpPr>
          <p:cNvPr id="38" name="Text 36"/>
          <p:cNvSpPr/>
          <p:nvPr/>
        </p:nvSpPr>
        <p:spPr>
          <a:xfrm>
            <a:off x="6446520" y="5120640"/>
            <a:ext cx="4937760" cy="822960"/>
          </a:xfrm>
          <a:prstGeom prst="rect">
            <a:avLst/>
          </a:prstGeom>
          <a:noFill/>
          <a:ln/>
        </p:spPr>
        <p:txBody>
          <a:bodyPr wrap="square" lIns="0" tIns="0" rIns="0" bIns="0" rtlCol="0" anchor="ctr"/>
          <a:lstStyle/>
          <a:p>
            <a:pPr indent="0" marL="0">
              <a:lnSpc>
                <a:spcPct val="114000"/>
              </a:lnSpc>
              <a:buNone/>
            </a:pPr>
            <a:r>
              <a:rPr lang="en-US" sz="1100" dirty="0">
                <a:solidFill>
                  <a:srgbClr val="3D4A43"/>
                </a:solidFill>
                <a:latin typeface="Calibri" pitchFamily="34" charset="0"/>
                <a:ea typeface="Calibri" pitchFamily="34" charset="-122"/>
                <a:cs typeface="Calibri" pitchFamily="34" charset="-120"/>
              </a:rPr>
              <a:t>Buy 1% better and contribution rises about 10%. Grow the order from ₹12,000 to ₹18,000 and it rises about ₹550 — because delivery is paid per drop, not per rupee.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CONSTRAINT THAT BINDS</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Growth consumes cash before it returns any</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You pay suppliers before customers pay you, and stock sits in between. Here is one crate of goods followed across fifty days.</a:t>
            </a:r>
            <a:endParaRPr lang="en-US" sz="1400" dirty="0"/>
          </a:p>
        </p:txBody>
      </p:sp>
      <p:sp>
        <p:nvSpPr>
          <p:cNvPr id="5" name="Shape 3"/>
          <p:cNvSpPr/>
          <p:nvPr/>
        </p:nvSpPr>
        <p:spPr>
          <a:xfrm>
            <a:off x="868680" y="2084832"/>
            <a:ext cx="0" cy="2761488"/>
          </a:xfrm>
          <a:prstGeom prst="line">
            <a:avLst/>
          </a:prstGeom>
          <a:noFill/>
          <a:ln w="12700">
            <a:solidFill>
              <a:srgbClr val="D6D5CB"/>
            </a:solidFill>
            <a:prstDash val="dash"/>
          </a:ln>
        </p:spPr>
      </p:sp>
      <p:sp>
        <p:nvSpPr>
          <p:cNvPr id="6" name="Shape 4"/>
          <p:cNvSpPr/>
          <p:nvPr/>
        </p:nvSpPr>
        <p:spPr>
          <a:xfrm>
            <a:off x="3995928" y="2084832"/>
            <a:ext cx="0" cy="2761488"/>
          </a:xfrm>
          <a:prstGeom prst="line">
            <a:avLst/>
          </a:prstGeom>
          <a:noFill/>
          <a:ln w="12700">
            <a:solidFill>
              <a:srgbClr val="D6D5CB"/>
            </a:solidFill>
            <a:prstDash val="dash"/>
          </a:ln>
        </p:spPr>
      </p:sp>
      <p:sp>
        <p:nvSpPr>
          <p:cNvPr id="7" name="Shape 5"/>
          <p:cNvSpPr/>
          <p:nvPr/>
        </p:nvSpPr>
        <p:spPr>
          <a:xfrm>
            <a:off x="5038344" y="2084832"/>
            <a:ext cx="0" cy="2761488"/>
          </a:xfrm>
          <a:prstGeom prst="line">
            <a:avLst/>
          </a:prstGeom>
          <a:noFill/>
          <a:ln w="12700">
            <a:solidFill>
              <a:srgbClr val="D6D5CB"/>
            </a:solidFill>
            <a:prstDash val="dash"/>
          </a:ln>
        </p:spPr>
      </p:sp>
      <p:sp>
        <p:nvSpPr>
          <p:cNvPr id="8" name="Shape 6"/>
          <p:cNvSpPr/>
          <p:nvPr/>
        </p:nvSpPr>
        <p:spPr>
          <a:xfrm>
            <a:off x="11292840" y="2084832"/>
            <a:ext cx="0" cy="2761488"/>
          </a:xfrm>
          <a:prstGeom prst="line">
            <a:avLst/>
          </a:prstGeom>
          <a:noFill/>
          <a:ln w="12700">
            <a:solidFill>
              <a:srgbClr val="D6D5CB"/>
            </a:solidFill>
            <a:prstDash val="dash"/>
          </a:ln>
        </p:spPr>
      </p:sp>
      <p:sp>
        <p:nvSpPr>
          <p:cNvPr id="9" name="Text 7"/>
          <p:cNvSpPr/>
          <p:nvPr/>
        </p:nvSpPr>
        <p:spPr>
          <a:xfrm>
            <a:off x="777240" y="1847088"/>
            <a:ext cx="1463040" cy="384048"/>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day 0</a:t>
            </a:r>
            <a:endParaRPr lang="en-US" sz="950" dirty="0"/>
          </a:p>
          <a:p>
            <a:pPr indent="0" marL="0">
              <a:buNone/>
            </a:pPr>
            <a:r>
              <a:rPr lang="en-US" sz="950" dirty="0">
                <a:solidFill>
                  <a:srgbClr val="67736C"/>
                </a:solidFill>
                <a:latin typeface="Calibri" pitchFamily="34" charset="0"/>
                <a:ea typeface="Calibri" pitchFamily="34" charset="-122"/>
                <a:cs typeface="Calibri" pitchFamily="34" charset="-120"/>
              </a:rPr>
              <a:t>goods arrive</a:t>
            </a:r>
            <a:endParaRPr lang="en-US" sz="950" dirty="0"/>
          </a:p>
        </p:txBody>
      </p:sp>
      <p:sp>
        <p:nvSpPr>
          <p:cNvPr id="10" name="Text 8"/>
          <p:cNvSpPr/>
          <p:nvPr/>
        </p:nvSpPr>
        <p:spPr>
          <a:xfrm>
            <a:off x="3904488" y="1847088"/>
            <a:ext cx="1737360" cy="384048"/>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day 15</a:t>
            </a:r>
            <a:endParaRPr lang="en-US" sz="950" dirty="0"/>
          </a:p>
          <a:p>
            <a:pPr indent="0" marL="0">
              <a:buNone/>
            </a:pPr>
            <a:r>
              <a:rPr lang="en-US" sz="950" dirty="0">
                <a:solidFill>
                  <a:srgbClr val="67736C"/>
                </a:solidFill>
                <a:latin typeface="Calibri" pitchFamily="34" charset="0"/>
                <a:ea typeface="Calibri" pitchFamily="34" charset="-122"/>
                <a:cs typeface="Calibri" pitchFamily="34" charset="-120"/>
              </a:rPr>
              <a:t>we pay the supplier</a:t>
            </a:r>
            <a:endParaRPr lang="en-US" sz="950" dirty="0"/>
          </a:p>
        </p:txBody>
      </p:sp>
      <p:sp>
        <p:nvSpPr>
          <p:cNvPr id="11" name="Text 9"/>
          <p:cNvSpPr/>
          <p:nvPr/>
        </p:nvSpPr>
        <p:spPr>
          <a:xfrm>
            <a:off x="5093208" y="1847088"/>
            <a:ext cx="1554480" cy="384048"/>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day 20</a:t>
            </a:r>
            <a:endParaRPr lang="en-US" sz="950" dirty="0"/>
          </a:p>
          <a:p>
            <a:pPr indent="0" marL="0">
              <a:buNone/>
            </a:pPr>
            <a:r>
              <a:rPr lang="en-US" sz="950" dirty="0">
                <a:solidFill>
                  <a:srgbClr val="67736C"/>
                </a:solidFill>
                <a:latin typeface="Calibri" pitchFamily="34" charset="0"/>
                <a:ea typeface="Calibri" pitchFamily="34" charset="-122"/>
                <a:cs typeface="Calibri" pitchFamily="34" charset="-120"/>
              </a:rPr>
              <a:t>sold to a shop</a:t>
            </a:r>
            <a:endParaRPr lang="en-US" sz="950" dirty="0"/>
          </a:p>
        </p:txBody>
      </p:sp>
      <p:sp>
        <p:nvSpPr>
          <p:cNvPr id="12" name="Text 10"/>
          <p:cNvSpPr/>
          <p:nvPr/>
        </p:nvSpPr>
        <p:spPr>
          <a:xfrm>
            <a:off x="9738360" y="1847088"/>
            <a:ext cx="1554480" cy="384048"/>
          </a:xfrm>
          <a:prstGeom prst="rect">
            <a:avLst/>
          </a:prstGeom>
          <a:noFill/>
          <a:ln/>
        </p:spPr>
        <p:txBody>
          <a:bodyPr wrap="square" lIns="0" tIns="0" rIns="0" bIns="0" rtlCol="0" anchor="ctr"/>
          <a:lstStyle/>
          <a:p>
            <a:pPr algn="r" indent="0" marL="0">
              <a:buNone/>
            </a:pPr>
            <a:r>
              <a:rPr lang="en-US" sz="950" dirty="0">
                <a:solidFill>
                  <a:srgbClr val="67736C"/>
                </a:solidFill>
                <a:latin typeface="Calibri" pitchFamily="34" charset="0"/>
                <a:ea typeface="Calibri" pitchFamily="34" charset="-122"/>
                <a:cs typeface="Calibri" pitchFamily="34" charset="-120"/>
              </a:rPr>
              <a:t>day 50</a:t>
            </a:r>
            <a:endParaRPr lang="en-US" sz="950" dirty="0"/>
          </a:p>
          <a:p>
            <a:pPr algn="r" indent="0" marL="0">
              <a:buNone/>
            </a:pPr>
            <a:r>
              <a:rPr lang="en-US" sz="950" dirty="0">
                <a:solidFill>
                  <a:srgbClr val="67736C"/>
                </a:solidFill>
                <a:latin typeface="Calibri" pitchFamily="34" charset="0"/>
                <a:ea typeface="Calibri" pitchFamily="34" charset="-122"/>
                <a:cs typeface="Calibri" pitchFamily="34" charset="-120"/>
              </a:rPr>
              <a:t>the shop pays us</a:t>
            </a:r>
            <a:endParaRPr lang="en-US" sz="950" dirty="0"/>
          </a:p>
        </p:txBody>
      </p:sp>
      <p:sp>
        <p:nvSpPr>
          <p:cNvPr id="13" name="Shape 11"/>
          <p:cNvSpPr/>
          <p:nvPr/>
        </p:nvSpPr>
        <p:spPr>
          <a:xfrm>
            <a:off x="868680" y="2395728"/>
            <a:ext cx="4169664" cy="457200"/>
          </a:xfrm>
          <a:prstGeom prst="rect">
            <a:avLst/>
          </a:prstGeom>
          <a:solidFill>
            <a:srgbClr val="E0EFE6"/>
          </a:solidFill>
          <a:ln w="12700">
            <a:solidFill>
              <a:srgbClr val="1F7A4D"/>
            </a:solidFill>
            <a:prstDash val="solid"/>
          </a:ln>
        </p:spPr>
      </p:sp>
      <p:sp>
        <p:nvSpPr>
          <p:cNvPr id="14" name="Text 12"/>
          <p:cNvSpPr/>
          <p:nvPr/>
        </p:nvSpPr>
        <p:spPr>
          <a:xfrm>
            <a:off x="868680" y="2395728"/>
            <a:ext cx="4169664" cy="457200"/>
          </a:xfrm>
          <a:prstGeom prst="rect">
            <a:avLst/>
          </a:prstGeom>
          <a:noFill/>
          <a:ln/>
        </p:spPr>
        <p:txBody>
          <a:bodyPr wrap="square" lIns="0" tIns="0" rIns="0" bIns="0" rtlCol="0" anchor="ctr"/>
          <a:lstStyle/>
          <a:p>
            <a:pPr algn="ctr" indent="0" marL="0">
              <a:buNone/>
            </a:pPr>
            <a:r>
              <a:rPr lang="en-US" sz="1100" b="1" dirty="0">
                <a:solidFill>
                  <a:srgbClr val="1F7A4D"/>
                </a:solidFill>
                <a:latin typeface="Calibri" pitchFamily="34" charset="0"/>
                <a:ea typeface="Calibri" pitchFamily="34" charset="-122"/>
                <a:cs typeface="Calibri" pitchFamily="34" charset="-120"/>
              </a:rPr>
              <a:t>stock on the shelf  ·  20 days</a:t>
            </a:r>
            <a:endParaRPr lang="en-US" sz="1100" dirty="0"/>
          </a:p>
        </p:txBody>
      </p:sp>
      <p:sp>
        <p:nvSpPr>
          <p:cNvPr id="15" name="Shape 13"/>
          <p:cNvSpPr/>
          <p:nvPr/>
        </p:nvSpPr>
        <p:spPr>
          <a:xfrm>
            <a:off x="5038344" y="2980944"/>
            <a:ext cx="6254496" cy="457200"/>
          </a:xfrm>
          <a:prstGeom prst="rect">
            <a:avLst/>
          </a:prstGeom>
          <a:solidFill>
            <a:srgbClr val="F6EAD8"/>
          </a:solidFill>
          <a:ln w="12700">
            <a:solidFill>
              <a:srgbClr val="9E5E10"/>
            </a:solidFill>
            <a:prstDash val="solid"/>
          </a:ln>
        </p:spPr>
      </p:sp>
      <p:sp>
        <p:nvSpPr>
          <p:cNvPr id="16" name="Text 14"/>
          <p:cNvSpPr/>
          <p:nvPr/>
        </p:nvSpPr>
        <p:spPr>
          <a:xfrm>
            <a:off x="5038344" y="2980944"/>
            <a:ext cx="6254496" cy="457200"/>
          </a:xfrm>
          <a:prstGeom prst="rect">
            <a:avLst/>
          </a:prstGeom>
          <a:noFill/>
          <a:ln/>
        </p:spPr>
        <p:txBody>
          <a:bodyPr wrap="square" lIns="0" tIns="0" rIns="0" bIns="0" rtlCol="0" anchor="ctr"/>
          <a:lstStyle/>
          <a:p>
            <a:pPr algn="ctr" indent="0" marL="0">
              <a:buNone/>
            </a:pPr>
            <a:r>
              <a:rPr lang="en-US" sz="1100" b="1" dirty="0">
                <a:solidFill>
                  <a:srgbClr val="9E5E10"/>
                </a:solidFill>
                <a:latin typeface="Calibri" pitchFamily="34" charset="0"/>
                <a:ea typeface="Calibri" pitchFamily="34" charset="-122"/>
                <a:cs typeface="Calibri" pitchFamily="34" charset="-120"/>
              </a:rPr>
              <a:t>invoice out, waiting to be paid  ·  30 days</a:t>
            </a:r>
            <a:endParaRPr lang="en-US" sz="1100" dirty="0"/>
          </a:p>
        </p:txBody>
      </p:sp>
      <p:sp>
        <p:nvSpPr>
          <p:cNvPr id="17" name="Shape 15"/>
          <p:cNvSpPr/>
          <p:nvPr/>
        </p:nvSpPr>
        <p:spPr>
          <a:xfrm>
            <a:off x="868680" y="3566160"/>
            <a:ext cx="3127248" cy="457200"/>
          </a:xfrm>
          <a:prstGeom prst="rect">
            <a:avLst/>
          </a:prstGeom>
          <a:solidFill>
            <a:srgbClr val="F1F0EA"/>
          </a:solidFill>
          <a:ln w="12700">
            <a:solidFill>
              <a:srgbClr val="67736C"/>
            </a:solidFill>
            <a:prstDash val="solid"/>
          </a:ln>
        </p:spPr>
      </p:sp>
      <p:sp>
        <p:nvSpPr>
          <p:cNvPr id="18" name="Text 16"/>
          <p:cNvSpPr/>
          <p:nvPr/>
        </p:nvSpPr>
        <p:spPr>
          <a:xfrm>
            <a:off x="868680" y="3566160"/>
            <a:ext cx="3127248" cy="457200"/>
          </a:xfrm>
          <a:prstGeom prst="rect">
            <a:avLst/>
          </a:prstGeom>
          <a:noFill/>
          <a:ln/>
        </p:spPr>
        <p:txBody>
          <a:bodyPr wrap="square" lIns="0" tIns="0" rIns="0" bIns="0" rtlCol="0" anchor="ctr"/>
          <a:lstStyle/>
          <a:p>
            <a:pPr algn="ctr" indent="0" marL="0">
              <a:buNone/>
            </a:pPr>
            <a:r>
              <a:rPr lang="en-US" sz="1050" dirty="0">
                <a:solidFill>
                  <a:srgbClr val="3D4A43"/>
                </a:solidFill>
                <a:latin typeface="Calibri" pitchFamily="34" charset="0"/>
                <a:ea typeface="Calibri" pitchFamily="34" charset="-122"/>
                <a:cs typeface="Calibri" pitchFamily="34" charset="-120"/>
              </a:rPr>
              <a:t>supplier credit  ·  15 days</a:t>
            </a:r>
            <a:endParaRPr lang="en-US" sz="1050" dirty="0"/>
          </a:p>
        </p:txBody>
      </p:sp>
      <p:sp>
        <p:nvSpPr>
          <p:cNvPr id="19" name="Shape 17"/>
          <p:cNvSpPr/>
          <p:nvPr/>
        </p:nvSpPr>
        <p:spPr>
          <a:xfrm>
            <a:off x="3995928" y="4206240"/>
            <a:ext cx="7296912" cy="566928"/>
          </a:xfrm>
          <a:prstGeom prst="rect">
            <a:avLst/>
          </a:prstGeom>
          <a:solidFill>
            <a:srgbClr val="F5E2E0"/>
          </a:solidFill>
          <a:ln w="19050">
            <a:solidFill>
              <a:srgbClr val="A33228"/>
            </a:solidFill>
            <a:prstDash val="solid"/>
          </a:ln>
        </p:spPr>
      </p:sp>
      <p:sp>
        <p:nvSpPr>
          <p:cNvPr id="20" name="Text 18"/>
          <p:cNvSpPr/>
          <p:nvPr/>
        </p:nvSpPr>
        <p:spPr>
          <a:xfrm>
            <a:off x="3995928" y="4206240"/>
            <a:ext cx="7296912" cy="566928"/>
          </a:xfrm>
          <a:prstGeom prst="rect">
            <a:avLst/>
          </a:prstGeom>
          <a:noFill/>
          <a:ln/>
        </p:spPr>
        <p:txBody>
          <a:bodyPr wrap="square" lIns="0" tIns="0" rIns="0" bIns="0" rtlCol="0" anchor="ctr"/>
          <a:lstStyle/>
          <a:p>
            <a:pPr algn="ctr" indent="0" marL="0">
              <a:buNone/>
            </a:pPr>
            <a:r>
              <a:rPr lang="en-US" sz="1250" b="1" dirty="0">
                <a:solidFill>
                  <a:srgbClr val="A33228"/>
                </a:solidFill>
                <a:latin typeface="Calibri" pitchFamily="34" charset="0"/>
                <a:ea typeface="Calibri" pitchFamily="34" charset="-122"/>
                <a:cs typeface="Calibri" pitchFamily="34" charset="-120"/>
              </a:rPr>
              <a:t>our own cash bridges these 35 days   ≈   ₹34.5 lakh at ₹30 lakh monthly revenue</a:t>
            </a:r>
            <a:endParaRPr lang="en-US" sz="1250" dirty="0"/>
          </a:p>
        </p:txBody>
      </p:sp>
      <p:sp>
        <p:nvSpPr>
          <p:cNvPr id="21" name="Shape 19"/>
          <p:cNvSpPr/>
          <p:nvPr/>
        </p:nvSpPr>
        <p:spPr>
          <a:xfrm>
            <a:off x="548640" y="5010912"/>
            <a:ext cx="2560320" cy="914400"/>
          </a:xfrm>
          <a:prstGeom prst="roundRect">
            <a:avLst>
              <a:gd name="adj" fmla="val 6000"/>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2" name="Text 20"/>
          <p:cNvSpPr/>
          <p:nvPr/>
        </p:nvSpPr>
        <p:spPr>
          <a:xfrm>
            <a:off x="731520" y="5102352"/>
            <a:ext cx="2194560" cy="365760"/>
          </a:xfrm>
          <a:prstGeom prst="rect">
            <a:avLst/>
          </a:prstGeom>
          <a:noFill/>
          <a:ln/>
        </p:spPr>
        <p:txBody>
          <a:bodyPr wrap="square" lIns="0" tIns="0" rIns="0" bIns="0" rtlCol="0" anchor="ctr"/>
          <a:lstStyle/>
          <a:p>
            <a:pPr indent="0" marL="0">
              <a:buNone/>
            </a:pPr>
            <a:r>
              <a:rPr lang="en-US" sz="1900" b="1" dirty="0">
                <a:solidFill>
                  <a:srgbClr val="1F7A4D"/>
                </a:solidFill>
                <a:latin typeface="Cambria" pitchFamily="34" charset="0"/>
                <a:ea typeface="Cambria" pitchFamily="34" charset="-122"/>
                <a:cs typeface="Cambria" pitchFamily="34" charset="-120"/>
              </a:rPr>
              <a:t>₹18.0 L</a:t>
            </a:r>
            <a:endParaRPr lang="en-US" sz="1900" dirty="0"/>
          </a:p>
        </p:txBody>
      </p:sp>
      <p:sp>
        <p:nvSpPr>
          <p:cNvPr id="23" name="Text 21"/>
          <p:cNvSpPr/>
          <p:nvPr/>
        </p:nvSpPr>
        <p:spPr>
          <a:xfrm>
            <a:off x="731520" y="5468112"/>
            <a:ext cx="2194560" cy="274320"/>
          </a:xfrm>
          <a:prstGeom prst="rect">
            <a:avLst/>
          </a:prstGeom>
          <a:noFill/>
          <a:ln/>
        </p:spPr>
        <p:txBody>
          <a:bodyPr wrap="square" lIns="0" tIns="0" rIns="0" bIns="0" rtlCol="0" anchor="ctr"/>
          <a:lstStyle/>
          <a:p>
            <a:pPr indent="0" marL="0">
              <a:buNone/>
            </a:pPr>
            <a:r>
              <a:rPr lang="en-US" sz="1100" dirty="0">
                <a:solidFill>
                  <a:srgbClr val="3D4A43"/>
                </a:solidFill>
                <a:latin typeface="Calibri" pitchFamily="34" charset="0"/>
                <a:ea typeface="Calibri" pitchFamily="34" charset="-122"/>
                <a:cs typeface="Calibri" pitchFamily="34" charset="-120"/>
              </a:rPr>
              <a:t>in stock</a:t>
            </a:r>
            <a:endParaRPr lang="en-US" sz="1100" dirty="0"/>
          </a:p>
        </p:txBody>
      </p:sp>
      <p:sp>
        <p:nvSpPr>
          <p:cNvPr id="24" name="Shape 22"/>
          <p:cNvSpPr/>
          <p:nvPr/>
        </p:nvSpPr>
        <p:spPr>
          <a:xfrm>
            <a:off x="3360420" y="5010912"/>
            <a:ext cx="2560320" cy="914400"/>
          </a:xfrm>
          <a:prstGeom prst="roundRect">
            <a:avLst>
              <a:gd name="adj" fmla="val 6000"/>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5" name="Text 23"/>
          <p:cNvSpPr/>
          <p:nvPr/>
        </p:nvSpPr>
        <p:spPr>
          <a:xfrm>
            <a:off x="3543300" y="5102352"/>
            <a:ext cx="2194560" cy="365760"/>
          </a:xfrm>
          <a:prstGeom prst="rect">
            <a:avLst/>
          </a:prstGeom>
          <a:noFill/>
          <a:ln/>
        </p:spPr>
        <p:txBody>
          <a:bodyPr wrap="square" lIns="0" tIns="0" rIns="0" bIns="0" rtlCol="0" anchor="ctr"/>
          <a:lstStyle/>
          <a:p>
            <a:pPr indent="0" marL="0">
              <a:buNone/>
            </a:pPr>
            <a:r>
              <a:rPr lang="en-US" sz="1900" b="1" dirty="0">
                <a:solidFill>
                  <a:srgbClr val="9E5E10"/>
                </a:solidFill>
                <a:latin typeface="Cambria" pitchFamily="34" charset="0"/>
                <a:ea typeface="Cambria" pitchFamily="34" charset="-122"/>
                <a:cs typeface="Cambria" pitchFamily="34" charset="-120"/>
              </a:rPr>
              <a:t>₹30.0 L</a:t>
            </a:r>
            <a:endParaRPr lang="en-US" sz="1900" dirty="0"/>
          </a:p>
        </p:txBody>
      </p:sp>
      <p:sp>
        <p:nvSpPr>
          <p:cNvPr id="26" name="Text 24"/>
          <p:cNvSpPr/>
          <p:nvPr/>
        </p:nvSpPr>
        <p:spPr>
          <a:xfrm>
            <a:off x="3543300" y="5468112"/>
            <a:ext cx="2194560" cy="274320"/>
          </a:xfrm>
          <a:prstGeom prst="rect">
            <a:avLst/>
          </a:prstGeom>
          <a:noFill/>
          <a:ln/>
        </p:spPr>
        <p:txBody>
          <a:bodyPr wrap="square" lIns="0" tIns="0" rIns="0" bIns="0" rtlCol="0" anchor="ctr"/>
          <a:lstStyle/>
          <a:p>
            <a:pPr indent="0" marL="0">
              <a:buNone/>
            </a:pPr>
            <a:r>
              <a:rPr lang="en-US" sz="1100" dirty="0">
                <a:solidFill>
                  <a:srgbClr val="3D4A43"/>
                </a:solidFill>
                <a:latin typeface="Calibri" pitchFamily="34" charset="0"/>
                <a:ea typeface="Calibri" pitchFamily="34" charset="-122"/>
                <a:cs typeface="Calibri" pitchFamily="34" charset="-120"/>
              </a:rPr>
              <a:t>in receivables</a:t>
            </a:r>
            <a:endParaRPr lang="en-US" sz="1100" dirty="0"/>
          </a:p>
        </p:txBody>
      </p:sp>
      <p:sp>
        <p:nvSpPr>
          <p:cNvPr id="27" name="Shape 25"/>
          <p:cNvSpPr/>
          <p:nvPr/>
        </p:nvSpPr>
        <p:spPr>
          <a:xfrm>
            <a:off x="6172200" y="5010912"/>
            <a:ext cx="2560320" cy="914400"/>
          </a:xfrm>
          <a:prstGeom prst="roundRect">
            <a:avLst>
              <a:gd name="adj" fmla="val 6000"/>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8" name="Text 26"/>
          <p:cNvSpPr/>
          <p:nvPr/>
        </p:nvSpPr>
        <p:spPr>
          <a:xfrm>
            <a:off x="6355080" y="5102352"/>
            <a:ext cx="2194560" cy="365760"/>
          </a:xfrm>
          <a:prstGeom prst="rect">
            <a:avLst/>
          </a:prstGeom>
          <a:noFill/>
          <a:ln/>
        </p:spPr>
        <p:txBody>
          <a:bodyPr wrap="square" lIns="0" tIns="0" rIns="0" bIns="0" rtlCol="0" anchor="ctr"/>
          <a:lstStyle/>
          <a:p>
            <a:pPr indent="0" marL="0">
              <a:buNone/>
            </a:pPr>
            <a:r>
              <a:rPr lang="en-US" sz="1900" b="1" dirty="0">
                <a:solidFill>
                  <a:srgbClr val="67736C"/>
                </a:solidFill>
                <a:latin typeface="Cambria" pitchFamily="34" charset="0"/>
                <a:ea typeface="Cambria" pitchFamily="34" charset="-122"/>
                <a:cs typeface="Cambria" pitchFamily="34" charset="-120"/>
              </a:rPr>
              <a:t>− ₹13.5 L</a:t>
            </a:r>
            <a:endParaRPr lang="en-US" sz="1900" dirty="0"/>
          </a:p>
        </p:txBody>
      </p:sp>
      <p:sp>
        <p:nvSpPr>
          <p:cNvPr id="29" name="Text 27"/>
          <p:cNvSpPr/>
          <p:nvPr/>
        </p:nvSpPr>
        <p:spPr>
          <a:xfrm>
            <a:off x="6355080" y="5468112"/>
            <a:ext cx="2194560" cy="274320"/>
          </a:xfrm>
          <a:prstGeom prst="rect">
            <a:avLst/>
          </a:prstGeom>
          <a:noFill/>
          <a:ln/>
        </p:spPr>
        <p:txBody>
          <a:bodyPr wrap="square" lIns="0" tIns="0" rIns="0" bIns="0" rtlCol="0" anchor="ctr"/>
          <a:lstStyle/>
          <a:p>
            <a:pPr indent="0" marL="0">
              <a:buNone/>
            </a:pPr>
            <a:r>
              <a:rPr lang="en-US" sz="1100" dirty="0">
                <a:solidFill>
                  <a:srgbClr val="3D4A43"/>
                </a:solidFill>
                <a:latin typeface="Calibri" pitchFamily="34" charset="0"/>
                <a:ea typeface="Calibri" pitchFamily="34" charset="-122"/>
                <a:cs typeface="Calibri" pitchFamily="34" charset="-120"/>
              </a:rPr>
              <a:t>supplier credit</a:t>
            </a:r>
            <a:endParaRPr lang="en-US" sz="1100" dirty="0"/>
          </a:p>
        </p:txBody>
      </p:sp>
      <p:sp>
        <p:nvSpPr>
          <p:cNvPr id="30" name="Shape 28"/>
          <p:cNvSpPr/>
          <p:nvPr/>
        </p:nvSpPr>
        <p:spPr>
          <a:xfrm>
            <a:off x="8983980" y="5010912"/>
            <a:ext cx="2560320" cy="914400"/>
          </a:xfrm>
          <a:prstGeom prst="roundRect">
            <a:avLst>
              <a:gd name="adj" fmla="val 6000"/>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1" name="Text 29"/>
          <p:cNvSpPr/>
          <p:nvPr/>
        </p:nvSpPr>
        <p:spPr>
          <a:xfrm>
            <a:off x="9166860" y="5102352"/>
            <a:ext cx="2194560" cy="365760"/>
          </a:xfrm>
          <a:prstGeom prst="rect">
            <a:avLst/>
          </a:prstGeom>
          <a:noFill/>
          <a:ln/>
        </p:spPr>
        <p:txBody>
          <a:bodyPr wrap="square" lIns="0" tIns="0" rIns="0" bIns="0" rtlCol="0" anchor="ctr"/>
          <a:lstStyle/>
          <a:p>
            <a:pPr indent="0" marL="0">
              <a:buNone/>
            </a:pPr>
            <a:r>
              <a:rPr lang="en-US" sz="1900" b="1" dirty="0">
                <a:solidFill>
                  <a:srgbClr val="A33228"/>
                </a:solidFill>
                <a:latin typeface="Cambria" pitchFamily="34" charset="0"/>
                <a:ea typeface="Cambria" pitchFamily="34" charset="-122"/>
                <a:cs typeface="Cambria" pitchFamily="34" charset="-120"/>
              </a:rPr>
              <a:t>₹34.5 L</a:t>
            </a:r>
            <a:endParaRPr lang="en-US" sz="1900" dirty="0"/>
          </a:p>
        </p:txBody>
      </p:sp>
      <p:sp>
        <p:nvSpPr>
          <p:cNvPr id="32" name="Text 30"/>
          <p:cNvSpPr/>
          <p:nvPr/>
        </p:nvSpPr>
        <p:spPr>
          <a:xfrm>
            <a:off x="9166860" y="5468112"/>
            <a:ext cx="2194560" cy="274320"/>
          </a:xfrm>
          <a:prstGeom prst="rect">
            <a:avLst/>
          </a:prstGeom>
          <a:noFill/>
          <a:ln/>
        </p:spPr>
        <p:txBody>
          <a:bodyPr wrap="square" lIns="0" tIns="0" rIns="0" bIns="0" rtlCol="0" anchor="ctr"/>
          <a:lstStyle/>
          <a:p>
            <a:pPr indent="0" marL="0">
              <a:buNone/>
            </a:pPr>
            <a:r>
              <a:rPr lang="en-US" sz="1100" dirty="0">
                <a:solidFill>
                  <a:srgbClr val="3D4A43"/>
                </a:solidFill>
                <a:latin typeface="Calibri" pitchFamily="34" charset="0"/>
                <a:ea typeface="Calibri" pitchFamily="34" charset="-122"/>
                <a:cs typeface="Calibri" pitchFamily="34" charset="-120"/>
              </a:rPr>
              <a:t>net cash locked</a:t>
            </a:r>
            <a:endParaRPr lang="en-US" sz="1100" dirty="0"/>
          </a:p>
        </p:txBody>
      </p:sp>
      <p:sp>
        <p:nvSpPr>
          <p:cNvPr id="33" name="Text 31"/>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Cash conversion cycle = days of stock + days of receivables − days of supplier credit. It sits on the daily dashboard above revenue. Demo figures.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STRATEGY</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Six levers — and we hold all six</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A marketplace has two levers. A distributor who owns the buying has six. This ranking is what set the build order.</a:t>
            </a:r>
            <a:endParaRPr lang="en-US" sz="1400" dirty="0"/>
          </a:p>
        </p:txBody>
      </p:sp>
      <p:sp>
        <p:nvSpPr>
          <p:cNvPr id="5" name="Shape 3"/>
          <p:cNvSpPr/>
          <p:nvPr/>
        </p:nvSpPr>
        <p:spPr>
          <a:xfrm>
            <a:off x="548640" y="1874520"/>
            <a:ext cx="5440680" cy="1261872"/>
          </a:xfrm>
          <a:prstGeom prst="roundRect">
            <a:avLst>
              <a:gd name="adj" fmla="val 434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Shape 4"/>
          <p:cNvSpPr/>
          <p:nvPr/>
        </p:nvSpPr>
        <p:spPr>
          <a:xfrm>
            <a:off x="768096" y="2093976"/>
            <a:ext cx="457200" cy="457200"/>
          </a:xfrm>
          <a:prstGeom prst="ellipse">
            <a:avLst/>
          </a:prstGeom>
          <a:solidFill>
            <a:srgbClr val="1F7A4D"/>
          </a:solidFill>
          <a:ln w="12700">
            <a:solidFill>
              <a:srgbClr val="1F7A4D"/>
            </a:solidFill>
            <a:prstDash val="solid"/>
          </a:ln>
        </p:spPr>
      </p:sp>
      <p:sp>
        <p:nvSpPr>
          <p:cNvPr id="7" name="Text 5"/>
          <p:cNvSpPr/>
          <p:nvPr/>
        </p:nvSpPr>
        <p:spPr>
          <a:xfrm>
            <a:off x="768096" y="20939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353312" y="2057400"/>
            <a:ext cx="438912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Buy price</a:t>
            </a:r>
            <a:endParaRPr lang="en-US" sz="1600" dirty="0"/>
          </a:p>
        </p:txBody>
      </p:sp>
      <p:sp>
        <p:nvSpPr>
          <p:cNvPr id="9" name="Text 7"/>
          <p:cNvSpPr/>
          <p:nvPr/>
        </p:nvSpPr>
        <p:spPr>
          <a:xfrm>
            <a:off x="1353312" y="2350008"/>
            <a:ext cx="4434840" cy="384048"/>
          </a:xfrm>
          <a:prstGeom prst="rect">
            <a:avLst/>
          </a:prstGeom>
          <a:noFill/>
          <a:ln/>
        </p:spPr>
        <p:txBody>
          <a:bodyPr wrap="square" lIns="0" tIns="0" rIns="0" bIns="0" rtlCol="0" anchor="ctr"/>
          <a:lstStyle/>
          <a:p>
            <a:pPr indent="0" marL="0">
              <a:lnSpc>
                <a:spcPct val="110000"/>
              </a:lnSpc>
              <a:buNone/>
            </a:pPr>
            <a:r>
              <a:rPr lang="en-US" sz="1050" dirty="0">
                <a:solidFill>
                  <a:srgbClr val="3D4A43"/>
                </a:solidFill>
                <a:latin typeface="Calibri" pitchFamily="34" charset="0"/>
                <a:ea typeface="Calibri" pitchFamily="34" charset="-122"/>
                <a:cs typeface="Calibri" pitchFamily="34" charset="-120"/>
              </a:rPr>
              <a:t>At 10% margin, buying 1% better lifts contribution about 10%. Nothing else comes close.</a:t>
            </a:r>
            <a:endParaRPr lang="en-US" sz="1050" dirty="0"/>
          </a:p>
        </p:txBody>
      </p:sp>
      <p:sp>
        <p:nvSpPr>
          <p:cNvPr id="10" name="Text 8"/>
          <p:cNvSpPr/>
          <p:nvPr/>
        </p:nvSpPr>
        <p:spPr>
          <a:xfrm>
            <a:off x="1353312" y="2770632"/>
            <a:ext cx="4434840" cy="256032"/>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Supplier rate comparison · hub consolidation · scheme tracking</a:t>
            </a:r>
            <a:endParaRPr lang="en-US" sz="950" dirty="0"/>
          </a:p>
        </p:txBody>
      </p:sp>
      <p:sp>
        <p:nvSpPr>
          <p:cNvPr id="11" name="Shape 9"/>
          <p:cNvSpPr/>
          <p:nvPr/>
        </p:nvSpPr>
        <p:spPr>
          <a:xfrm>
            <a:off x="6172200" y="1874520"/>
            <a:ext cx="5440680" cy="1261872"/>
          </a:xfrm>
          <a:prstGeom prst="roundRect">
            <a:avLst>
              <a:gd name="adj" fmla="val 434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2" name="Shape 10"/>
          <p:cNvSpPr/>
          <p:nvPr/>
        </p:nvSpPr>
        <p:spPr>
          <a:xfrm>
            <a:off x="6391656" y="2093976"/>
            <a:ext cx="457200" cy="457200"/>
          </a:xfrm>
          <a:prstGeom prst="ellipse">
            <a:avLst/>
          </a:prstGeom>
          <a:solidFill>
            <a:srgbClr val="1F7A4D"/>
          </a:solidFill>
          <a:ln w="12700">
            <a:solidFill>
              <a:srgbClr val="1F7A4D"/>
            </a:solidFill>
            <a:prstDash val="solid"/>
          </a:ln>
        </p:spPr>
      </p:sp>
      <p:sp>
        <p:nvSpPr>
          <p:cNvPr id="13" name="Text 11"/>
          <p:cNvSpPr/>
          <p:nvPr/>
        </p:nvSpPr>
        <p:spPr>
          <a:xfrm>
            <a:off x="6391656" y="209397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4" name="Text 12"/>
          <p:cNvSpPr/>
          <p:nvPr/>
        </p:nvSpPr>
        <p:spPr>
          <a:xfrm>
            <a:off x="6976872" y="2057400"/>
            <a:ext cx="438912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Drop size</a:t>
            </a:r>
            <a:endParaRPr lang="en-US" sz="1600" dirty="0"/>
          </a:p>
        </p:txBody>
      </p:sp>
      <p:sp>
        <p:nvSpPr>
          <p:cNvPr id="15" name="Text 13"/>
          <p:cNvSpPr/>
          <p:nvPr/>
        </p:nvSpPr>
        <p:spPr>
          <a:xfrm>
            <a:off x="6976872" y="2350008"/>
            <a:ext cx="4434840" cy="384048"/>
          </a:xfrm>
          <a:prstGeom prst="rect">
            <a:avLst/>
          </a:prstGeom>
          <a:noFill/>
          <a:ln/>
        </p:spPr>
        <p:txBody>
          <a:bodyPr wrap="square" lIns="0" tIns="0" rIns="0" bIns="0" rtlCol="0" anchor="ctr"/>
          <a:lstStyle/>
          <a:p>
            <a:pPr indent="0" marL="0">
              <a:lnSpc>
                <a:spcPct val="110000"/>
              </a:lnSpc>
              <a:buNone/>
            </a:pPr>
            <a:r>
              <a:rPr lang="en-US" sz="1050" dirty="0">
                <a:solidFill>
                  <a:srgbClr val="3D4A43"/>
                </a:solidFill>
                <a:latin typeface="Calibri" pitchFamily="34" charset="0"/>
                <a:ea typeface="Calibri" pitchFamily="34" charset="-122"/>
                <a:cs typeface="Calibri" pitchFamily="34" charset="-120"/>
              </a:rPr>
              <a:t>Delivery is paid per drop. ₹12k growing to ₹18k adds about ₹550 of contribution.</a:t>
            </a:r>
            <a:endParaRPr lang="en-US" sz="1050" dirty="0"/>
          </a:p>
        </p:txBody>
      </p:sp>
      <p:sp>
        <p:nvSpPr>
          <p:cNvPr id="16" name="Text 14"/>
          <p:cNvSpPr/>
          <p:nvPr/>
        </p:nvSpPr>
        <p:spPr>
          <a:xfrm>
            <a:off x="6976872" y="2770632"/>
            <a:ext cx="4434840" cy="256032"/>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Order pad upsell · minimum order rules · standing orders</a:t>
            </a:r>
            <a:endParaRPr lang="en-US" sz="950" dirty="0"/>
          </a:p>
        </p:txBody>
      </p:sp>
      <p:sp>
        <p:nvSpPr>
          <p:cNvPr id="17" name="Shape 15"/>
          <p:cNvSpPr/>
          <p:nvPr/>
        </p:nvSpPr>
        <p:spPr>
          <a:xfrm>
            <a:off x="548640" y="3273552"/>
            <a:ext cx="5440680" cy="1261872"/>
          </a:xfrm>
          <a:prstGeom prst="roundRect">
            <a:avLst>
              <a:gd name="adj" fmla="val 434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8" name="Shape 16"/>
          <p:cNvSpPr/>
          <p:nvPr/>
        </p:nvSpPr>
        <p:spPr>
          <a:xfrm>
            <a:off x="768096" y="3493008"/>
            <a:ext cx="457200" cy="457200"/>
          </a:xfrm>
          <a:prstGeom prst="ellipse">
            <a:avLst/>
          </a:prstGeom>
          <a:solidFill>
            <a:srgbClr val="1F7A4D"/>
          </a:solidFill>
          <a:ln w="12700">
            <a:solidFill>
              <a:srgbClr val="1F7A4D"/>
            </a:solidFill>
            <a:prstDash val="solid"/>
          </a:ln>
        </p:spPr>
      </p:sp>
      <p:sp>
        <p:nvSpPr>
          <p:cNvPr id="19" name="Text 17"/>
          <p:cNvSpPr/>
          <p:nvPr/>
        </p:nvSpPr>
        <p:spPr>
          <a:xfrm>
            <a:off x="768096" y="34930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p:nvPr/>
        </p:nvSpPr>
        <p:spPr>
          <a:xfrm>
            <a:off x="1353312" y="3456432"/>
            <a:ext cx="438912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Wastage</a:t>
            </a:r>
            <a:endParaRPr lang="en-US" sz="1600" dirty="0"/>
          </a:p>
        </p:txBody>
      </p:sp>
      <p:sp>
        <p:nvSpPr>
          <p:cNvPr id="21" name="Text 19"/>
          <p:cNvSpPr/>
          <p:nvPr/>
        </p:nvSpPr>
        <p:spPr>
          <a:xfrm>
            <a:off x="1353312" y="3749040"/>
            <a:ext cx="4434840" cy="384048"/>
          </a:xfrm>
          <a:prstGeom prst="rect">
            <a:avLst/>
          </a:prstGeom>
          <a:noFill/>
          <a:ln/>
        </p:spPr>
        <p:txBody>
          <a:bodyPr wrap="square" lIns="0" tIns="0" rIns="0" bIns="0" rtlCol="0" anchor="ctr"/>
          <a:lstStyle/>
          <a:p>
            <a:pPr indent="0" marL="0">
              <a:lnSpc>
                <a:spcPct val="110000"/>
              </a:lnSpc>
              <a:buNone/>
            </a:pPr>
            <a:r>
              <a:rPr lang="en-US" sz="1050" dirty="0">
                <a:solidFill>
                  <a:srgbClr val="3D4A43"/>
                </a:solidFill>
                <a:latin typeface="Calibri" pitchFamily="34" charset="0"/>
                <a:ea typeface="Calibri" pitchFamily="34" charset="-122"/>
                <a:cs typeface="Calibri" pitchFamily="34" charset="-120"/>
              </a:rPr>
              <a:t>Fresh produce wastage cut from 12% to 8% is roughly +₹120 on every order in the book.</a:t>
            </a:r>
            <a:endParaRPr lang="en-US" sz="1050" dirty="0"/>
          </a:p>
        </p:txBody>
      </p:sp>
      <p:sp>
        <p:nvSpPr>
          <p:cNvPr id="22" name="Text 20"/>
          <p:cNvSpPr/>
          <p:nvPr/>
        </p:nvSpPr>
        <p:spPr>
          <a:xfrm>
            <a:off x="1353312" y="4169664"/>
            <a:ext cx="4434840" cy="256032"/>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Daily wastage posting · FEFO picking (built) · demand-led replenishment</a:t>
            </a:r>
            <a:endParaRPr lang="en-US" sz="950" dirty="0"/>
          </a:p>
        </p:txBody>
      </p:sp>
      <p:sp>
        <p:nvSpPr>
          <p:cNvPr id="23" name="Shape 21"/>
          <p:cNvSpPr/>
          <p:nvPr/>
        </p:nvSpPr>
        <p:spPr>
          <a:xfrm>
            <a:off x="6172200" y="3273552"/>
            <a:ext cx="5440680" cy="1261872"/>
          </a:xfrm>
          <a:prstGeom prst="roundRect">
            <a:avLst>
              <a:gd name="adj" fmla="val 434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4" name="Shape 22"/>
          <p:cNvSpPr/>
          <p:nvPr/>
        </p:nvSpPr>
        <p:spPr>
          <a:xfrm>
            <a:off x="6391656" y="3493008"/>
            <a:ext cx="457200" cy="457200"/>
          </a:xfrm>
          <a:prstGeom prst="ellipse">
            <a:avLst/>
          </a:prstGeom>
          <a:solidFill>
            <a:srgbClr val="67736C"/>
          </a:solidFill>
          <a:ln w="12700">
            <a:solidFill>
              <a:srgbClr val="67736C"/>
            </a:solidFill>
            <a:prstDash val="solid"/>
          </a:ln>
        </p:spPr>
      </p:sp>
      <p:sp>
        <p:nvSpPr>
          <p:cNvPr id="25" name="Text 23"/>
          <p:cNvSpPr/>
          <p:nvPr/>
        </p:nvSpPr>
        <p:spPr>
          <a:xfrm>
            <a:off x="6391656" y="34930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6" name="Text 24"/>
          <p:cNvSpPr/>
          <p:nvPr/>
        </p:nvSpPr>
        <p:spPr>
          <a:xfrm>
            <a:off x="6976872" y="3456432"/>
            <a:ext cx="438912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Mix</a:t>
            </a:r>
            <a:endParaRPr lang="en-US" sz="1600" dirty="0"/>
          </a:p>
        </p:txBody>
      </p:sp>
      <p:sp>
        <p:nvSpPr>
          <p:cNvPr id="27" name="Text 25"/>
          <p:cNvSpPr/>
          <p:nvPr/>
        </p:nvSpPr>
        <p:spPr>
          <a:xfrm>
            <a:off x="6976872" y="3749040"/>
            <a:ext cx="4434840" cy="384048"/>
          </a:xfrm>
          <a:prstGeom prst="rect">
            <a:avLst/>
          </a:prstGeom>
          <a:noFill/>
          <a:ln/>
        </p:spPr>
        <p:txBody>
          <a:bodyPr wrap="square" lIns="0" tIns="0" rIns="0" bIns="0" rtlCol="0" anchor="ctr"/>
          <a:lstStyle/>
          <a:p>
            <a:pPr indent="0" marL="0">
              <a:lnSpc>
                <a:spcPct val="110000"/>
              </a:lnSpc>
              <a:buNone/>
            </a:pPr>
            <a:r>
              <a:rPr lang="en-US" sz="1050" dirty="0">
                <a:solidFill>
                  <a:srgbClr val="3D4A43"/>
                </a:solidFill>
                <a:latin typeface="Calibri" pitchFamily="34" charset="0"/>
                <a:ea typeface="Calibri" pitchFamily="34" charset="-122"/>
                <a:cs typeface="Calibri" pitchFamily="34" charset="-120"/>
              </a:rPr>
              <a:t>Moving 5 points of revenue from staples to beauty and produce lifts blended margin ~0.6pt.</a:t>
            </a:r>
            <a:endParaRPr lang="en-US" sz="1050" dirty="0"/>
          </a:p>
        </p:txBody>
      </p:sp>
      <p:sp>
        <p:nvSpPr>
          <p:cNvPr id="28" name="Text 26"/>
          <p:cNvSpPr/>
          <p:nvPr/>
        </p:nvSpPr>
        <p:spPr>
          <a:xfrm>
            <a:off x="6976872" y="4169664"/>
            <a:ext cx="4434840" cy="256032"/>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Assortment · rep incentives · order-pad suggestions</a:t>
            </a:r>
            <a:endParaRPr lang="en-US" sz="950" dirty="0"/>
          </a:p>
        </p:txBody>
      </p:sp>
      <p:sp>
        <p:nvSpPr>
          <p:cNvPr id="29" name="Shape 27"/>
          <p:cNvSpPr/>
          <p:nvPr/>
        </p:nvSpPr>
        <p:spPr>
          <a:xfrm>
            <a:off x="548640" y="4672584"/>
            <a:ext cx="5440680" cy="1261872"/>
          </a:xfrm>
          <a:prstGeom prst="roundRect">
            <a:avLst>
              <a:gd name="adj" fmla="val 434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0" name="Shape 28"/>
          <p:cNvSpPr/>
          <p:nvPr/>
        </p:nvSpPr>
        <p:spPr>
          <a:xfrm>
            <a:off x="768096" y="4892040"/>
            <a:ext cx="457200" cy="457200"/>
          </a:xfrm>
          <a:prstGeom prst="ellipse">
            <a:avLst/>
          </a:prstGeom>
          <a:solidFill>
            <a:srgbClr val="67736C"/>
          </a:solidFill>
          <a:ln w="12700">
            <a:solidFill>
              <a:srgbClr val="67736C"/>
            </a:solidFill>
            <a:prstDash val="solid"/>
          </a:ln>
        </p:spPr>
      </p:sp>
      <p:sp>
        <p:nvSpPr>
          <p:cNvPr id="31" name="Text 29"/>
          <p:cNvSpPr/>
          <p:nvPr/>
        </p:nvSpPr>
        <p:spPr>
          <a:xfrm>
            <a:off x="768096"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2" name="Text 30"/>
          <p:cNvSpPr/>
          <p:nvPr/>
        </p:nvSpPr>
        <p:spPr>
          <a:xfrm>
            <a:off x="1353312" y="4855464"/>
            <a:ext cx="438912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Collection speed</a:t>
            </a:r>
            <a:endParaRPr lang="en-US" sz="1600" dirty="0"/>
          </a:p>
        </p:txBody>
      </p:sp>
      <p:sp>
        <p:nvSpPr>
          <p:cNvPr id="33" name="Text 31"/>
          <p:cNvSpPr/>
          <p:nvPr/>
        </p:nvSpPr>
        <p:spPr>
          <a:xfrm>
            <a:off x="1353312" y="5148072"/>
            <a:ext cx="4434840" cy="384048"/>
          </a:xfrm>
          <a:prstGeom prst="rect">
            <a:avLst/>
          </a:prstGeom>
          <a:noFill/>
          <a:ln/>
        </p:spPr>
        <p:txBody>
          <a:bodyPr wrap="square" lIns="0" tIns="0" rIns="0" bIns="0" rtlCol="0" anchor="ctr"/>
          <a:lstStyle/>
          <a:p>
            <a:pPr indent="0" marL="0">
              <a:lnSpc>
                <a:spcPct val="110000"/>
              </a:lnSpc>
              <a:buNone/>
            </a:pPr>
            <a:r>
              <a:rPr lang="en-US" sz="1050" dirty="0">
                <a:solidFill>
                  <a:srgbClr val="3D4A43"/>
                </a:solidFill>
                <a:latin typeface="Calibri" pitchFamily="34" charset="0"/>
                <a:ea typeface="Calibri" pitchFamily="34" charset="-122"/>
                <a:cs typeface="Calibri" pitchFamily="34" charset="-120"/>
              </a:rPr>
              <a:t>Five days off collection at ₹30L a month frees ₹5 lakh and cuts bad debt.</a:t>
            </a:r>
            <a:endParaRPr lang="en-US" sz="1050" dirty="0"/>
          </a:p>
        </p:txBody>
      </p:sp>
      <p:sp>
        <p:nvSpPr>
          <p:cNvPr id="34" name="Text 32"/>
          <p:cNvSpPr/>
          <p:nvPr/>
        </p:nvSpPr>
        <p:spPr>
          <a:xfrm>
            <a:off x="1353312" y="5568696"/>
            <a:ext cx="4434840" cy="256032"/>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Credit engine · ageing ladder · driver doorstep collection</a:t>
            </a:r>
            <a:endParaRPr lang="en-US" sz="950" dirty="0"/>
          </a:p>
        </p:txBody>
      </p:sp>
      <p:sp>
        <p:nvSpPr>
          <p:cNvPr id="35" name="Shape 33"/>
          <p:cNvSpPr/>
          <p:nvPr/>
        </p:nvSpPr>
        <p:spPr>
          <a:xfrm>
            <a:off x="6172200" y="4672584"/>
            <a:ext cx="5440680" cy="1261872"/>
          </a:xfrm>
          <a:prstGeom prst="roundRect">
            <a:avLst>
              <a:gd name="adj" fmla="val 434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6" name="Shape 34"/>
          <p:cNvSpPr/>
          <p:nvPr/>
        </p:nvSpPr>
        <p:spPr>
          <a:xfrm>
            <a:off x="6391656" y="4892040"/>
            <a:ext cx="457200" cy="457200"/>
          </a:xfrm>
          <a:prstGeom prst="ellipse">
            <a:avLst/>
          </a:prstGeom>
          <a:solidFill>
            <a:srgbClr val="67736C"/>
          </a:solidFill>
          <a:ln w="12700">
            <a:solidFill>
              <a:srgbClr val="67736C"/>
            </a:solidFill>
            <a:prstDash val="solid"/>
          </a:ln>
        </p:spPr>
      </p:sp>
      <p:sp>
        <p:nvSpPr>
          <p:cNvPr id="37" name="Text 35"/>
          <p:cNvSpPr/>
          <p:nvPr/>
        </p:nvSpPr>
        <p:spPr>
          <a:xfrm>
            <a:off x="6391656" y="4892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38" name="Text 36"/>
          <p:cNvSpPr/>
          <p:nvPr/>
        </p:nvSpPr>
        <p:spPr>
          <a:xfrm>
            <a:off x="6976872" y="4855464"/>
            <a:ext cx="438912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Route density</a:t>
            </a:r>
            <a:endParaRPr lang="en-US" sz="1600" dirty="0"/>
          </a:p>
        </p:txBody>
      </p:sp>
      <p:sp>
        <p:nvSpPr>
          <p:cNvPr id="39" name="Text 37"/>
          <p:cNvSpPr/>
          <p:nvPr/>
        </p:nvSpPr>
        <p:spPr>
          <a:xfrm>
            <a:off x="6976872" y="5148072"/>
            <a:ext cx="4434840" cy="384048"/>
          </a:xfrm>
          <a:prstGeom prst="rect">
            <a:avLst/>
          </a:prstGeom>
          <a:noFill/>
          <a:ln/>
        </p:spPr>
        <p:txBody>
          <a:bodyPr wrap="square" lIns="0" tIns="0" rIns="0" bIns="0" rtlCol="0" anchor="ctr"/>
          <a:lstStyle/>
          <a:p>
            <a:pPr indent="0" marL="0">
              <a:lnSpc>
                <a:spcPct val="110000"/>
              </a:lnSpc>
              <a:buNone/>
            </a:pPr>
            <a:r>
              <a:rPr lang="en-US" sz="1050" dirty="0">
                <a:solidFill>
                  <a:srgbClr val="3D4A43"/>
                </a:solidFill>
                <a:latin typeface="Calibri" pitchFamily="34" charset="0"/>
                <a:ea typeface="Calibri" pitchFamily="34" charset="-122"/>
                <a:cs typeface="Calibri" pitchFamily="34" charset="-120"/>
              </a:rPr>
              <a:t>Eight to twelve drops per vehicle-day cuts delivery cost about ₹50 an order.</a:t>
            </a:r>
            <a:endParaRPr lang="en-US" sz="1050" dirty="0"/>
          </a:p>
        </p:txBody>
      </p:sp>
      <p:sp>
        <p:nvSpPr>
          <p:cNvPr id="40" name="Text 38"/>
          <p:cNvSpPr/>
          <p:nvPr/>
        </p:nvSpPr>
        <p:spPr>
          <a:xfrm>
            <a:off x="6976872" y="5568696"/>
            <a:ext cx="4434840" cy="256032"/>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Delivery-day clustering · route planning · pickup at branch</a:t>
            </a:r>
            <a:endParaRPr lang="en-US" sz="950" dirty="0"/>
          </a:p>
        </p:txBody>
      </p:sp>
      <p:sp>
        <p:nvSpPr>
          <p:cNvPr id="41" name="Text 39"/>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Levers 1 and 3 are the two a marketplace never had — and the two that most reward software, because neither is visible without measurement.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HOW IT RUNS</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Seven stages, from mandi morning to the bank</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Goods flow left to right. The cash collected at the end returns to buy the next cycle — the faster that loop turns, the less capital the business needs.</a:t>
            </a:r>
            <a:endParaRPr lang="en-US" sz="1400" dirty="0"/>
          </a:p>
        </p:txBody>
      </p:sp>
      <p:sp>
        <p:nvSpPr>
          <p:cNvPr id="5" name="Shape 3"/>
          <p:cNvSpPr/>
          <p:nvPr/>
        </p:nvSpPr>
        <p:spPr>
          <a:xfrm>
            <a:off x="548640" y="1965960"/>
            <a:ext cx="1463040" cy="2286000"/>
          </a:xfrm>
          <a:prstGeom prst="roundRect">
            <a:avLst>
              <a:gd name="adj" fmla="val 3750"/>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Shape 4"/>
          <p:cNvSpPr/>
          <p:nvPr/>
        </p:nvSpPr>
        <p:spPr>
          <a:xfrm>
            <a:off x="1078992" y="2139696"/>
            <a:ext cx="402336" cy="402336"/>
          </a:xfrm>
          <a:prstGeom prst="ellipse">
            <a:avLst/>
          </a:prstGeom>
          <a:solidFill>
            <a:srgbClr val="9E5E10"/>
          </a:solidFill>
          <a:ln w="12700">
            <a:solidFill>
              <a:srgbClr val="9E5E10"/>
            </a:solidFill>
            <a:prstDash val="solid"/>
          </a:ln>
        </p:spPr>
      </p:sp>
      <p:sp>
        <p:nvSpPr>
          <p:cNvPr id="7" name="Text 5"/>
          <p:cNvSpPr/>
          <p:nvPr/>
        </p:nvSpPr>
        <p:spPr>
          <a:xfrm>
            <a:off x="10789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6217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Procure</a:t>
            </a:r>
            <a:endParaRPr lang="en-US" sz="1400" dirty="0"/>
          </a:p>
        </p:txBody>
      </p:sp>
      <p:sp>
        <p:nvSpPr>
          <p:cNvPr id="9" name="Text 7"/>
          <p:cNvSpPr/>
          <p:nvPr/>
        </p:nvSpPr>
        <p:spPr>
          <a:xfrm>
            <a:off x="6400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Suppliers, purchase orders, and a buy-first path for mandi mornings</a:t>
            </a:r>
            <a:endParaRPr lang="en-US" sz="950" dirty="0"/>
          </a:p>
        </p:txBody>
      </p:sp>
      <p:sp>
        <p:nvSpPr>
          <p:cNvPr id="10" name="Text 8"/>
          <p:cNvSpPr/>
          <p:nvPr/>
        </p:nvSpPr>
        <p:spPr>
          <a:xfrm>
            <a:off x="6217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9E5E10"/>
                </a:solidFill>
                <a:latin typeface="Calibri" pitchFamily="34" charset="0"/>
                <a:ea typeface="Calibri" pitchFamily="34" charset="-122"/>
                <a:cs typeface="Calibri" pitchFamily="34" charset="-120"/>
              </a:rPr>
              <a:t>NEW</a:t>
            </a:r>
            <a:endParaRPr lang="en-US" sz="850" dirty="0"/>
          </a:p>
        </p:txBody>
      </p:sp>
      <p:sp>
        <p:nvSpPr>
          <p:cNvPr id="11" name="Shape 9"/>
          <p:cNvSpPr/>
          <p:nvPr/>
        </p:nvSpPr>
        <p:spPr>
          <a:xfrm>
            <a:off x="2011680" y="3108960"/>
            <a:ext cx="137160" cy="0"/>
          </a:xfrm>
          <a:prstGeom prst="line">
            <a:avLst/>
          </a:prstGeom>
          <a:noFill/>
          <a:ln w="15875">
            <a:solidFill>
              <a:srgbClr val="67736C"/>
            </a:solidFill>
            <a:prstDash val="solid"/>
            <a:tailEnd type="triangle"/>
          </a:ln>
        </p:spPr>
      </p:sp>
      <p:sp>
        <p:nvSpPr>
          <p:cNvPr id="12" name="Shape 10"/>
          <p:cNvSpPr/>
          <p:nvPr/>
        </p:nvSpPr>
        <p:spPr>
          <a:xfrm>
            <a:off x="2148840" y="1965960"/>
            <a:ext cx="1463040" cy="2286000"/>
          </a:xfrm>
          <a:prstGeom prst="roundRect">
            <a:avLst>
              <a:gd name="adj" fmla="val 3750"/>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3" name="Shape 11"/>
          <p:cNvSpPr/>
          <p:nvPr/>
        </p:nvSpPr>
        <p:spPr>
          <a:xfrm>
            <a:off x="2679192" y="2139696"/>
            <a:ext cx="402336" cy="402336"/>
          </a:xfrm>
          <a:prstGeom prst="ellipse">
            <a:avLst/>
          </a:prstGeom>
          <a:solidFill>
            <a:srgbClr val="9E5E10"/>
          </a:solidFill>
          <a:ln w="12700">
            <a:solidFill>
              <a:srgbClr val="9E5E10"/>
            </a:solidFill>
            <a:prstDash val="solid"/>
          </a:ln>
        </p:spPr>
      </p:sp>
      <p:sp>
        <p:nvSpPr>
          <p:cNvPr id="14" name="Text 12"/>
          <p:cNvSpPr/>
          <p:nvPr/>
        </p:nvSpPr>
        <p:spPr>
          <a:xfrm>
            <a:off x="26791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p:nvPr/>
        </p:nvSpPr>
        <p:spPr>
          <a:xfrm>
            <a:off x="22219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Receive</a:t>
            </a:r>
            <a:endParaRPr lang="en-US" sz="1400" dirty="0"/>
          </a:p>
        </p:txBody>
      </p:sp>
      <p:sp>
        <p:nvSpPr>
          <p:cNvPr id="16" name="Text 14"/>
          <p:cNvSpPr/>
          <p:nvPr/>
        </p:nvSpPr>
        <p:spPr>
          <a:xfrm>
            <a:off x="22402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Goods in, shorts recorded, batches captured, landed cost frozen</a:t>
            </a:r>
            <a:endParaRPr lang="en-US" sz="950" dirty="0"/>
          </a:p>
        </p:txBody>
      </p:sp>
      <p:sp>
        <p:nvSpPr>
          <p:cNvPr id="17" name="Text 15"/>
          <p:cNvSpPr/>
          <p:nvPr/>
        </p:nvSpPr>
        <p:spPr>
          <a:xfrm>
            <a:off x="22219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9E5E10"/>
                </a:solidFill>
                <a:latin typeface="Calibri" pitchFamily="34" charset="0"/>
                <a:ea typeface="Calibri" pitchFamily="34" charset="-122"/>
                <a:cs typeface="Calibri" pitchFamily="34" charset="-120"/>
              </a:rPr>
              <a:t>NEW</a:t>
            </a:r>
            <a:endParaRPr lang="en-US" sz="850" dirty="0"/>
          </a:p>
        </p:txBody>
      </p:sp>
      <p:sp>
        <p:nvSpPr>
          <p:cNvPr id="18" name="Shape 16"/>
          <p:cNvSpPr/>
          <p:nvPr/>
        </p:nvSpPr>
        <p:spPr>
          <a:xfrm>
            <a:off x="3611880" y="3108960"/>
            <a:ext cx="137160" cy="0"/>
          </a:xfrm>
          <a:prstGeom prst="line">
            <a:avLst/>
          </a:prstGeom>
          <a:noFill/>
          <a:ln w="15875">
            <a:solidFill>
              <a:srgbClr val="67736C"/>
            </a:solidFill>
            <a:prstDash val="solid"/>
            <a:tailEnd type="triangle"/>
          </a:ln>
        </p:spPr>
      </p:sp>
      <p:sp>
        <p:nvSpPr>
          <p:cNvPr id="19" name="Shape 17"/>
          <p:cNvSpPr/>
          <p:nvPr/>
        </p:nvSpPr>
        <p:spPr>
          <a:xfrm>
            <a:off x="3749040" y="1965960"/>
            <a:ext cx="1463040" cy="2286000"/>
          </a:xfrm>
          <a:prstGeom prst="roundRect">
            <a:avLst>
              <a:gd name="adj" fmla="val 3750"/>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0" name="Shape 18"/>
          <p:cNvSpPr/>
          <p:nvPr/>
        </p:nvSpPr>
        <p:spPr>
          <a:xfrm>
            <a:off x="4279392" y="2139696"/>
            <a:ext cx="402336" cy="402336"/>
          </a:xfrm>
          <a:prstGeom prst="ellipse">
            <a:avLst/>
          </a:prstGeom>
          <a:solidFill>
            <a:srgbClr val="9E5E10"/>
          </a:solidFill>
          <a:ln w="12700">
            <a:solidFill>
              <a:srgbClr val="9E5E10"/>
            </a:solidFill>
            <a:prstDash val="solid"/>
          </a:ln>
        </p:spPr>
      </p:sp>
      <p:sp>
        <p:nvSpPr>
          <p:cNvPr id="21" name="Text 19"/>
          <p:cNvSpPr/>
          <p:nvPr/>
        </p:nvSpPr>
        <p:spPr>
          <a:xfrm>
            <a:off x="42793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p:nvPr/>
        </p:nvSpPr>
        <p:spPr>
          <a:xfrm>
            <a:off x="38221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Distribute</a:t>
            </a:r>
            <a:endParaRPr lang="en-US" sz="1400" dirty="0"/>
          </a:p>
        </p:txBody>
      </p:sp>
      <p:sp>
        <p:nvSpPr>
          <p:cNvPr id="23" name="Text 21"/>
          <p:cNvSpPr/>
          <p:nvPr/>
        </p:nvSpPr>
        <p:spPr>
          <a:xfrm>
            <a:off x="38404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Reorder points computed, stock moved hub to branch on a challan</a:t>
            </a:r>
            <a:endParaRPr lang="en-US" sz="950" dirty="0"/>
          </a:p>
        </p:txBody>
      </p:sp>
      <p:sp>
        <p:nvSpPr>
          <p:cNvPr id="24" name="Text 22"/>
          <p:cNvSpPr/>
          <p:nvPr/>
        </p:nvSpPr>
        <p:spPr>
          <a:xfrm>
            <a:off x="38221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9E5E10"/>
                </a:solidFill>
                <a:latin typeface="Calibri" pitchFamily="34" charset="0"/>
                <a:ea typeface="Calibri" pitchFamily="34" charset="-122"/>
                <a:cs typeface="Calibri" pitchFamily="34" charset="-120"/>
              </a:rPr>
              <a:t>NEW</a:t>
            </a:r>
            <a:endParaRPr lang="en-US" sz="850" dirty="0"/>
          </a:p>
        </p:txBody>
      </p:sp>
      <p:sp>
        <p:nvSpPr>
          <p:cNvPr id="25" name="Shape 23"/>
          <p:cNvSpPr/>
          <p:nvPr/>
        </p:nvSpPr>
        <p:spPr>
          <a:xfrm>
            <a:off x="5212080" y="3108960"/>
            <a:ext cx="137160" cy="0"/>
          </a:xfrm>
          <a:prstGeom prst="line">
            <a:avLst/>
          </a:prstGeom>
          <a:noFill/>
          <a:ln w="15875">
            <a:solidFill>
              <a:srgbClr val="67736C"/>
            </a:solidFill>
            <a:prstDash val="solid"/>
            <a:tailEnd type="triangle"/>
          </a:ln>
        </p:spPr>
      </p:sp>
      <p:sp>
        <p:nvSpPr>
          <p:cNvPr id="26" name="Shape 24"/>
          <p:cNvSpPr/>
          <p:nvPr/>
        </p:nvSpPr>
        <p:spPr>
          <a:xfrm>
            <a:off x="5349240" y="1965960"/>
            <a:ext cx="1463040" cy="2286000"/>
          </a:xfrm>
          <a:prstGeom prst="roundRect">
            <a:avLst>
              <a:gd name="adj" fmla="val 3750"/>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7" name="Shape 25"/>
          <p:cNvSpPr/>
          <p:nvPr/>
        </p:nvSpPr>
        <p:spPr>
          <a:xfrm>
            <a:off x="5879592" y="2139696"/>
            <a:ext cx="402336" cy="402336"/>
          </a:xfrm>
          <a:prstGeom prst="ellipse">
            <a:avLst/>
          </a:prstGeom>
          <a:solidFill>
            <a:srgbClr val="1F7A4D"/>
          </a:solidFill>
          <a:ln w="12700">
            <a:solidFill>
              <a:srgbClr val="1F7A4D"/>
            </a:solidFill>
            <a:prstDash val="solid"/>
          </a:ln>
        </p:spPr>
      </p:sp>
      <p:sp>
        <p:nvSpPr>
          <p:cNvPr id="28" name="Text 26"/>
          <p:cNvSpPr/>
          <p:nvPr/>
        </p:nvSpPr>
        <p:spPr>
          <a:xfrm>
            <a:off x="58795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9" name="Text 27"/>
          <p:cNvSpPr/>
          <p:nvPr/>
        </p:nvSpPr>
        <p:spPr>
          <a:xfrm>
            <a:off x="54223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Sell</a:t>
            </a:r>
            <a:endParaRPr lang="en-US" sz="1400" dirty="0"/>
          </a:p>
        </p:txBody>
      </p:sp>
      <p:sp>
        <p:nvSpPr>
          <p:cNvPr id="30" name="Text 28"/>
          <p:cNvSpPr/>
          <p:nvPr/>
        </p:nvSpPr>
        <p:spPr>
          <a:xfrm>
            <a:off x="54406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Order pad, customer price list, credit gate, firm allocation</a:t>
            </a:r>
            <a:endParaRPr lang="en-US" sz="950" dirty="0"/>
          </a:p>
        </p:txBody>
      </p:sp>
      <p:sp>
        <p:nvSpPr>
          <p:cNvPr id="31" name="Text 29"/>
          <p:cNvSpPr/>
          <p:nvPr/>
        </p:nvSpPr>
        <p:spPr>
          <a:xfrm>
            <a:off x="54223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1F7A4D"/>
                </a:solidFill>
                <a:latin typeface="Calibri" pitchFamily="34" charset="0"/>
                <a:ea typeface="Calibri" pitchFamily="34" charset="-122"/>
                <a:cs typeface="Calibri" pitchFamily="34" charset="-120"/>
              </a:rPr>
              <a:t>REUSED</a:t>
            </a:r>
            <a:endParaRPr lang="en-US" sz="850" dirty="0"/>
          </a:p>
        </p:txBody>
      </p:sp>
      <p:sp>
        <p:nvSpPr>
          <p:cNvPr id="32" name="Shape 30"/>
          <p:cNvSpPr/>
          <p:nvPr/>
        </p:nvSpPr>
        <p:spPr>
          <a:xfrm>
            <a:off x="6812280" y="3108960"/>
            <a:ext cx="137160" cy="0"/>
          </a:xfrm>
          <a:prstGeom prst="line">
            <a:avLst/>
          </a:prstGeom>
          <a:noFill/>
          <a:ln w="15875">
            <a:solidFill>
              <a:srgbClr val="67736C"/>
            </a:solidFill>
            <a:prstDash val="solid"/>
            <a:tailEnd type="triangle"/>
          </a:ln>
        </p:spPr>
      </p:sp>
      <p:sp>
        <p:nvSpPr>
          <p:cNvPr id="33" name="Shape 31"/>
          <p:cNvSpPr/>
          <p:nvPr/>
        </p:nvSpPr>
        <p:spPr>
          <a:xfrm>
            <a:off x="6949440" y="1965960"/>
            <a:ext cx="1463040" cy="2286000"/>
          </a:xfrm>
          <a:prstGeom prst="roundRect">
            <a:avLst>
              <a:gd name="adj" fmla="val 3750"/>
            </a:avLst>
          </a:prstGeom>
          <a:solidFill>
            <a:srgbClr val="E0EFE6"/>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4" name="Shape 32"/>
          <p:cNvSpPr/>
          <p:nvPr/>
        </p:nvSpPr>
        <p:spPr>
          <a:xfrm>
            <a:off x="7479792" y="2139696"/>
            <a:ext cx="402336" cy="402336"/>
          </a:xfrm>
          <a:prstGeom prst="ellipse">
            <a:avLst/>
          </a:prstGeom>
          <a:solidFill>
            <a:srgbClr val="1F7A4D"/>
          </a:solidFill>
          <a:ln w="12700">
            <a:solidFill>
              <a:srgbClr val="1F7A4D"/>
            </a:solidFill>
            <a:prstDash val="solid"/>
          </a:ln>
        </p:spPr>
      </p:sp>
      <p:sp>
        <p:nvSpPr>
          <p:cNvPr id="35" name="Text 33"/>
          <p:cNvSpPr/>
          <p:nvPr/>
        </p:nvSpPr>
        <p:spPr>
          <a:xfrm>
            <a:off x="74797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6" name="Text 34"/>
          <p:cNvSpPr/>
          <p:nvPr/>
        </p:nvSpPr>
        <p:spPr>
          <a:xfrm>
            <a:off x="70225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Fulfil</a:t>
            </a:r>
            <a:endParaRPr lang="en-US" sz="1400" dirty="0"/>
          </a:p>
        </p:txBody>
      </p:sp>
      <p:sp>
        <p:nvSpPr>
          <p:cNvPr id="37" name="Text 35"/>
          <p:cNvSpPr/>
          <p:nvPr/>
        </p:nvSpPr>
        <p:spPr>
          <a:xfrm>
            <a:off x="70408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FEFO picking, weighing, invoice on what actually shipped</a:t>
            </a:r>
            <a:endParaRPr lang="en-US" sz="950" dirty="0"/>
          </a:p>
        </p:txBody>
      </p:sp>
      <p:sp>
        <p:nvSpPr>
          <p:cNvPr id="38" name="Text 36"/>
          <p:cNvSpPr/>
          <p:nvPr/>
        </p:nvSpPr>
        <p:spPr>
          <a:xfrm>
            <a:off x="70225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1F7A4D"/>
                </a:solidFill>
                <a:latin typeface="Calibri" pitchFamily="34" charset="0"/>
                <a:ea typeface="Calibri" pitchFamily="34" charset="-122"/>
                <a:cs typeface="Calibri" pitchFamily="34" charset="-120"/>
              </a:rPr>
              <a:t>BUILT</a:t>
            </a:r>
            <a:endParaRPr lang="en-US" sz="850" dirty="0"/>
          </a:p>
        </p:txBody>
      </p:sp>
      <p:sp>
        <p:nvSpPr>
          <p:cNvPr id="39" name="Shape 37"/>
          <p:cNvSpPr/>
          <p:nvPr/>
        </p:nvSpPr>
        <p:spPr>
          <a:xfrm>
            <a:off x="8412480" y="3108960"/>
            <a:ext cx="137160" cy="0"/>
          </a:xfrm>
          <a:prstGeom prst="line">
            <a:avLst/>
          </a:prstGeom>
          <a:noFill/>
          <a:ln w="15875">
            <a:solidFill>
              <a:srgbClr val="67736C"/>
            </a:solidFill>
            <a:prstDash val="solid"/>
            <a:tailEnd type="triangle"/>
          </a:ln>
        </p:spPr>
      </p:sp>
      <p:sp>
        <p:nvSpPr>
          <p:cNvPr id="40" name="Shape 38"/>
          <p:cNvSpPr/>
          <p:nvPr/>
        </p:nvSpPr>
        <p:spPr>
          <a:xfrm>
            <a:off x="8549640" y="1965960"/>
            <a:ext cx="1463040" cy="2286000"/>
          </a:xfrm>
          <a:prstGeom prst="roundRect">
            <a:avLst>
              <a:gd name="adj" fmla="val 3750"/>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41" name="Shape 39"/>
          <p:cNvSpPr/>
          <p:nvPr/>
        </p:nvSpPr>
        <p:spPr>
          <a:xfrm>
            <a:off x="9079992" y="2139696"/>
            <a:ext cx="402336" cy="402336"/>
          </a:xfrm>
          <a:prstGeom prst="ellipse">
            <a:avLst/>
          </a:prstGeom>
          <a:solidFill>
            <a:srgbClr val="9E5E10"/>
          </a:solidFill>
          <a:ln w="12700">
            <a:solidFill>
              <a:srgbClr val="9E5E10"/>
            </a:solidFill>
            <a:prstDash val="solid"/>
          </a:ln>
        </p:spPr>
      </p:sp>
      <p:sp>
        <p:nvSpPr>
          <p:cNvPr id="42" name="Text 40"/>
          <p:cNvSpPr/>
          <p:nvPr/>
        </p:nvSpPr>
        <p:spPr>
          <a:xfrm>
            <a:off x="90799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43" name="Text 41"/>
          <p:cNvSpPr/>
          <p:nvPr/>
        </p:nvSpPr>
        <p:spPr>
          <a:xfrm>
            <a:off x="86227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Deliver</a:t>
            </a:r>
            <a:endParaRPr lang="en-US" sz="1400" dirty="0"/>
          </a:p>
        </p:txBody>
      </p:sp>
      <p:sp>
        <p:nvSpPr>
          <p:cNvPr id="44" name="Text 42"/>
          <p:cNvSpPr/>
          <p:nvPr/>
        </p:nvSpPr>
        <p:spPr>
          <a:xfrm>
            <a:off x="86410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Routes and beats, own and hired vehicles, proof of delivery</a:t>
            </a:r>
            <a:endParaRPr lang="en-US" sz="950" dirty="0"/>
          </a:p>
        </p:txBody>
      </p:sp>
      <p:sp>
        <p:nvSpPr>
          <p:cNvPr id="45" name="Text 43"/>
          <p:cNvSpPr/>
          <p:nvPr/>
        </p:nvSpPr>
        <p:spPr>
          <a:xfrm>
            <a:off x="86227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9E5E10"/>
                </a:solidFill>
                <a:latin typeface="Calibri" pitchFamily="34" charset="0"/>
                <a:ea typeface="Calibri" pitchFamily="34" charset="-122"/>
                <a:cs typeface="Calibri" pitchFamily="34" charset="-120"/>
              </a:rPr>
              <a:t>NEW</a:t>
            </a:r>
            <a:endParaRPr lang="en-US" sz="850" dirty="0"/>
          </a:p>
        </p:txBody>
      </p:sp>
      <p:sp>
        <p:nvSpPr>
          <p:cNvPr id="46" name="Shape 44"/>
          <p:cNvSpPr/>
          <p:nvPr/>
        </p:nvSpPr>
        <p:spPr>
          <a:xfrm>
            <a:off x="10012680" y="3108960"/>
            <a:ext cx="137160" cy="0"/>
          </a:xfrm>
          <a:prstGeom prst="line">
            <a:avLst/>
          </a:prstGeom>
          <a:noFill/>
          <a:ln w="15875">
            <a:solidFill>
              <a:srgbClr val="67736C"/>
            </a:solidFill>
            <a:prstDash val="solid"/>
            <a:tailEnd type="triangle"/>
          </a:ln>
        </p:spPr>
      </p:sp>
      <p:sp>
        <p:nvSpPr>
          <p:cNvPr id="47" name="Shape 45"/>
          <p:cNvSpPr/>
          <p:nvPr/>
        </p:nvSpPr>
        <p:spPr>
          <a:xfrm>
            <a:off x="10149840" y="1965960"/>
            <a:ext cx="1463040" cy="2286000"/>
          </a:xfrm>
          <a:prstGeom prst="roundRect">
            <a:avLst>
              <a:gd name="adj" fmla="val 3750"/>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48" name="Shape 46"/>
          <p:cNvSpPr/>
          <p:nvPr/>
        </p:nvSpPr>
        <p:spPr>
          <a:xfrm>
            <a:off x="10680192" y="2139696"/>
            <a:ext cx="402336" cy="402336"/>
          </a:xfrm>
          <a:prstGeom prst="ellipse">
            <a:avLst/>
          </a:prstGeom>
          <a:solidFill>
            <a:srgbClr val="9E5E10"/>
          </a:solidFill>
          <a:ln w="12700">
            <a:solidFill>
              <a:srgbClr val="9E5E10"/>
            </a:solidFill>
            <a:prstDash val="solid"/>
          </a:ln>
        </p:spPr>
      </p:sp>
      <p:sp>
        <p:nvSpPr>
          <p:cNvPr id="49" name="Text 47"/>
          <p:cNvSpPr/>
          <p:nvPr/>
        </p:nvSpPr>
        <p:spPr>
          <a:xfrm>
            <a:off x="10680192" y="2139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50" name="Text 48"/>
          <p:cNvSpPr/>
          <p:nvPr/>
        </p:nvSpPr>
        <p:spPr>
          <a:xfrm>
            <a:off x="10222992" y="2615184"/>
            <a:ext cx="1316736" cy="274320"/>
          </a:xfrm>
          <a:prstGeom prst="rect">
            <a:avLst/>
          </a:prstGeom>
          <a:noFill/>
          <a:ln/>
        </p:spPr>
        <p:txBody>
          <a:bodyPr wrap="square" lIns="0" tIns="0" rIns="0" bIns="0" rtlCol="0" anchor="ctr"/>
          <a:lstStyle/>
          <a:p>
            <a:pPr algn="ctr" indent="0" marL="0">
              <a:buNone/>
            </a:pPr>
            <a:r>
              <a:rPr lang="en-US" sz="1400" b="1" dirty="0">
                <a:solidFill>
                  <a:srgbClr val="14201A"/>
                </a:solidFill>
                <a:latin typeface="Cambria" pitchFamily="34" charset="0"/>
                <a:ea typeface="Cambria" pitchFamily="34" charset="-122"/>
                <a:cs typeface="Cambria" pitchFamily="34" charset="-120"/>
              </a:rPr>
              <a:t>Collect</a:t>
            </a:r>
            <a:endParaRPr lang="en-US" sz="1400" dirty="0"/>
          </a:p>
        </p:txBody>
      </p:sp>
      <p:sp>
        <p:nvSpPr>
          <p:cNvPr id="51" name="Text 49"/>
          <p:cNvSpPr/>
          <p:nvPr/>
        </p:nvSpPr>
        <p:spPr>
          <a:xfrm>
            <a:off x="10241280" y="2926080"/>
            <a:ext cx="1280160" cy="914400"/>
          </a:xfrm>
          <a:prstGeom prst="rect">
            <a:avLst/>
          </a:prstGeom>
          <a:noFill/>
          <a:ln/>
        </p:spPr>
        <p:txBody>
          <a:bodyPr wrap="square" lIns="0" tIns="0" rIns="0" bIns="0" rtlCol="0" anchor="ctr"/>
          <a:lstStyle/>
          <a:p>
            <a:pPr algn="ctr" indent="0" marL="0">
              <a:lnSpc>
                <a:spcPct val="112000"/>
              </a:lnSpc>
              <a:buNone/>
            </a:pPr>
            <a:r>
              <a:rPr lang="en-US" sz="950" dirty="0">
                <a:solidFill>
                  <a:srgbClr val="3D4A43"/>
                </a:solidFill>
                <a:latin typeface="Calibri" pitchFamily="34" charset="0"/>
                <a:ea typeface="Calibri" pitchFamily="34" charset="-122"/>
                <a:cs typeface="Calibri" pitchFamily="34" charset="-120"/>
              </a:rPr>
              <a:t>Ageing clock, receipts against invoices, escalation ladder</a:t>
            </a:r>
            <a:endParaRPr lang="en-US" sz="950" dirty="0"/>
          </a:p>
        </p:txBody>
      </p:sp>
      <p:sp>
        <p:nvSpPr>
          <p:cNvPr id="52" name="Text 50"/>
          <p:cNvSpPr/>
          <p:nvPr/>
        </p:nvSpPr>
        <p:spPr>
          <a:xfrm>
            <a:off x="10222992" y="3931920"/>
            <a:ext cx="1316736" cy="219456"/>
          </a:xfrm>
          <a:prstGeom prst="rect">
            <a:avLst/>
          </a:prstGeom>
          <a:noFill/>
          <a:ln/>
        </p:spPr>
        <p:txBody>
          <a:bodyPr wrap="square" lIns="0" tIns="0" rIns="0" bIns="0" rtlCol="0" anchor="ctr"/>
          <a:lstStyle/>
          <a:p>
            <a:pPr algn="ctr" indent="0" marL="0">
              <a:buNone/>
            </a:pPr>
            <a:r>
              <a:rPr lang="en-US" sz="850" b="1" spc="80" kern="0" dirty="0">
                <a:solidFill>
                  <a:srgbClr val="9E5E10"/>
                </a:solidFill>
                <a:latin typeface="Calibri" pitchFamily="34" charset="0"/>
                <a:ea typeface="Calibri" pitchFamily="34" charset="-122"/>
                <a:cs typeface="Calibri" pitchFamily="34" charset="-120"/>
              </a:rPr>
              <a:t>NEW</a:t>
            </a:r>
            <a:endParaRPr lang="en-US" sz="850" dirty="0"/>
          </a:p>
        </p:txBody>
      </p:sp>
      <p:sp>
        <p:nvSpPr>
          <p:cNvPr id="53" name="Shape 51"/>
          <p:cNvSpPr/>
          <p:nvPr/>
        </p:nvSpPr>
        <p:spPr>
          <a:xfrm>
            <a:off x="1280160" y="4526280"/>
            <a:ext cx="9784080" cy="0"/>
          </a:xfrm>
          <a:prstGeom prst="line">
            <a:avLst/>
          </a:prstGeom>
          <a:noFill/>
          <a:ln w="19050">
            <a:solidFill>
              <a:srgbClr val="1F7A4D"/>
            </a:solidFill>
            <a:prstDash val="solid"/>
            <a:headEnd type="triangle"/>
          </a:ln>
        </p:spPr>
      </p:sp>
      <p:sp>
        <p:nvSpPr>
          <p:cNvPr id="54" name="Text 52"/>
          <p:cNvSpPr/>
          <p:nvPr/>
        </p:nvSpPr>
        <p:spPr>
          <a:xfrm>
            <a:off x="548640" y="4617720"/>
            <a:ext cx="11064240" cy="274320"/>
          </a:xfrm>
          <a:prstGeom prst="rect">
            <a:avLst/>
          </a:prstGeom>
          <a:noFill/>
          <a:ln/>
        </p:spPr>
        <p:txBody>
          <a:bodyPr wrap="square" lIns="0" tIns="0" rIns="0" bIns="0" rtlCol="0" anchor="ctr"/>
          <a:lstStyle/>
          <a:p>
            <a:pPr algn="ctr" indent="0" marL="0">
              <a:buNone/>
            </a:pPr>
            <a:r>
              <a:rPr lang="en-US" sz="1200" b="1" dirty="0">
                <a:solidFill>
                  <a:srgbClr val="1F7A4D"/>
                </a:solidFill>
                <a:latin typeface="Calibri" pitchFamily="34" charset="0"/>
                <a:ea typeface="Calibri" pitchFamily="34" charset="-122"/>
                <a:cs typeface="Calibri" pitchFamily="34" charset="-120"/>
              </a:rPr>
              <a:t>cash returns to buy the next cycle</a:t>
            </a:r>
            <a:endParaRPr lang="en-US" sz="1200" dirty="0"/>
          </a:p>
        </p:txBody>
      </p:sp>
      <p:sp>
        <p:nvSpPr>
          <p:cNvPr id="55" name="Shape 53"/>
          <p:cNvSpPr/>
          <p:nvPr/>
        </p:nvSpPr>
        <p:spPr>
          <a:xfrm>
            <a:off x="548640" y="5138928"/>
            <a:ext cx="182880" cy="182880"/>
          </a:xfrm>
          <a:prstGeom prst="ellipse">
            <a:avLst/>
          </a:prstGeom>
          <a:solidFill>
            <a:srgbClr val="9E5E10"/>
          </a:solidFill>
          <a:ln w="12700">
            <a:solidFill>
              <a:srgbClr val="333333"/>
            </a:solidFill>
            <a:prstDash val="solid"/>
          </a:ln>
        </p:spPr>
      </p:sp>
      <p:sp>
        <p:nvSpPr>
          <p:cNvPr id="56" name="Text 54"/>
          <p:cNvSpPr/>
          <p:nvPr/>
        </p:nvSpPr>
        <p:spPr>
          <a:xfrm>
            <a:off x="841248" y="5084064"/>
            <a:ext cx="3383280" cy="274320"/>
          </a:xfrm>
          <a:prstGeom prst="rect">
            <a:avLst/>
          </a:prstGeom>
          <a:noFill/>
          <a:ln/>
        </p:spPr>
        <p:txBody>
          <a:bodyPr wrap="square" lIns="0" tIns="0" rIns="0" bIns="0" rtlCol="0" anchor="ctr"/>
          <a:lstStyle/>
          <a:p>
            <a:pPr indent="0" marL="0">
              <a:buNone/>
            </a:pPr>
            <a:r>
              <a:rPr lang="en-US" sz="1050" dirty="0">
                <a:solidFill>
                  <a:srgbClr val="3D4A43"/>
                </a:solidFill>
                <a:latin typeface="Calibri" pitchFamily="34" charset="0"/>
                <a:ea typeface="Calibri" pitchFamily="34" charset="-122"/>
                <a:cs typeface="Calibri" pitchFamily="34" charset="-120"/>
              </a:rPr>
              <a:t>NEW — built in phases 6–10</a:t>
            </a:r>
            <a:endParaRPr lang="en-US" sz="1050" dirty="0"/>
          </a:p>
        </p:txBody>
      </p:sp>
      <p:sp>
        <p:nvSpPr>
          <p:cNvPr id="57" name="Shape 55"/>
          <p:cNvSpPr/>
          <p:nvPr/>
        </p:nvSpPr>
        <p:spPr>
          <a:xfrm>
            <a:off x="4389120" y="5138928"/>
            <a:ext cx="182880" cy="182880"/>
          </a:xfrm>
          <a:prstGeom prst="ellipse">
            <a:avLst/>
          </a:prstGeom>
          <a:solidFill>
            <a:srgbClr val="1F7A4D"/>
          </a:solidFill>
          <a:ln w="12700">
            <a:solidFill>
              <a:srgbClr val="333333"/>
            </a:solidFill>
            <a:prstDash val="solid"/>
          </a:ln>
        </p:spPr>
      </p:sp>
      <p:sp>
        <p:nvSpPr>
          <p:cNvPr id="58" name="Text 56"/>
          <p:cNvSpPr/>
          <p:nvPr/>
        </p:nvSpPr>
        <p:spPr>
          <a:xfrm>
            <a:off x="4681728" y="5084064"/>
            <a:ext cx="3383280" cy="274320"/>
          </a:xfrm>
          <a:prstGeom prst="rect">
            <a:avLst/>
          </a:prstGeom>
          <a:noFill/>
          <a:ln/>
        </p:spPr>
        <p:txBody>
          <a:bodyPr wrap="square" lIns="0" tIns="0" rIns="0" bIns="0" rtlCol="0" anchor="ctr"/>
          <a:lstStyle/>
          <a:p>
            <a:pPr indent="0" marL="0">
              <a:buNone/>
            </a:pPr>
            <a:r>
              <a:rPr lang="en-US" sz="1050" dirty="0">
                <a:solidFill>
                  <a:srgbClr val="3D4A43"/>
                </a:solidFill>
                <a:latin typeface="Calibri" pitchFamily="34" charset="0"/>
                <a:ea typeface="Calibri" pitchFamily="34" charset="-122"/>
                <a:cs typeface="Calibri" pitchFamily="34" charset="-120"/>
              </a:rPr>
              <a:t>BUILT / REUSED — already live and tested</a:t>
            </a:r>
            <a:endParaRPr lang="en-US" sz="1050" dirty="0"/>
          </a:p>
        </p:txBody>
      </p:sp>
      <p:sp>
        <p:nvSpPr>
          <p:cNvPr id="59" name="Text 57"/>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Every stage either speeds the loop up or stops it leaking. Four of the seven are new modules; three are already running in production.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SALES AND ORDER MANAGEMENT</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Four doors, one room</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Most B2B orders arrive by WhatsApp or a phone call, to a person. The system meets customers where they already are — and writes every channel into the same order.</a:t>
            </a:r>
            <a:endParaRPr lang="en-US" sz="1400" dirty="0"/>
          </a:p>
        </p:txBody>
      </p:sp>
      <p:sp>
        <p:nvSpPr>
          <p:cNvPr id="5" name="Shape 3"/>
          <p:cNvSpPr/>
          <p:nvPr/>
        </p:nvSpPr>
        <p:spPr>
          <a:xfrm>
            <a:off x="548640" y="1965960"/>
            <a:ext cx="2697480" cy="713232"/>
          </a:xfrm>
          <a:prstGeom prst="roundRect">
            <a:avLst>
              <a:gd name="adj" fmla="val 7692"/>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Text 4"/>
          <p:cNvSpPr/>
          <p:nvPr/>
        </p:nvSpPr>
        <p:spPr>
          <a:xfrm>
            <a:off x="731520" y="2057400"/>
            <a:ext cx="2377440" cy="256032"/>
          </a:xfrm>
          <a:prstGeom prst="rect">
            <a:avLst/>
          </a:prstGeom>
          <a:noFill/>
          <a:ln/>
        </p:spPr>
        <p:txBody>
          <a:bodyPr wrap="square" lIns="0" tIns="0" rIns="0" bIns="0" rtlCol="0" anchor="ctr"/>
          <a:lstStyle/>
          <a:p>
            <a:pPr indent="0" marL="0">
              <a:buNone/>
            </a:pPr>
            <a:r>
              <a:rPr lang="en-US" sz="1250" b="1" dirty="0">
                <a:solidFill>
                  <a:srgbClr val="14201A"/>
                </a:solidFill>
                <a:latin typeface="Calibri" pitchFamily="34" charset="0"/>
                <a:ea typeface="Calibri" pitchFamily="34" charset="-122"/>
                <a:cs typeface="Calibri" pitchFamily="34" charset="-120"/>
              </a:rPr>
              <a:t>WhatsApp</a:t>
            </a:r>
            <a:endParaRPr lang="en-US" sz="1250" dirty="0"/>
          </a:p>
        </p:txBody>
      </p:sp>
      <p:sp>
        <p:nvSpPr>
          <p:cNvPr id="7" name="Text 5"/>
          <p:cNvSpPr/>
          <p:nvPr/>
        </p:nvSpPr>
        <p:spPr>
          <a:xfrm>
            <a:off x="731520" y="2313432"/>
            <a:ext cx="2377440" cy="256032"/>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how most shops order today</a:t>
            </a:r>
            <a:endParaRPr lang="en-US" sz="950" dirty="0"/>
          </a:p>
        </p:txBody>
      </p:sp>
      <p:sp>
        <p:nvSpPr>
          <p:cNvPr id="8" name="Shape 6"/>
          <p:cNvSpPr/>
          <p:nvPr/>
        </p:nvSpPr>
        <p:spPr>
          <a:xfrm>
            <a:off x="3246120" y="2322576"/>
            <a:ext cx="566928" cy="0"/>
          </a:xfrm>
          <a:prstGeom prst="line">
            <a:avLst/>
          </a:prstGeom>
          <a:noFill/>
          <a:ln w="12700">
            <a:solidFill>
              <a:srgbClr val="D6D5CB"/>
            </a:solidFill>
            <a:prstDash val="solid"/>
          </a:ln>
        </p:spPr>
      </p:sp>
      <p:sp>
        <p:nvSpPr>
          <p:cNvPr id="9" name="Shape 7"/>
          <p:cNvSpPr/>
          <p:nvPr/>
        </p:nvSpPr>
        <p:spPr>
          <a:xfrm>
            <a:off x="548640" y="2825496"/>
            <a:ext cx="2697480" cy="713232"/>
          </a:xfrm>
          <a:prstGeom prst="roundRect">
            <a:avLst>
              <a:gd name="adj" fmla="val 7692"/>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0" name="Text 8"/>
          <p:cNvSpPr/>
          <p:nvPr/>
        </p:nvSpPr>
        <p:spPr>
          <a:xfrm>
            <a:off x="731520" y="2916936"/>
            <a:ext cx="2377440" cy="256032"/>
          </a:xfrm>
          <a:prstGeom prst="rect">
            <a:avLst/>
          </a:prstGeom>
          <a:noFill/>
          <a:ln/>
        </p:spPr>
        <p:txBody>
          <a:bodyPr wrap="square" lIns="0" tIns="0" rIns="0" bIns="0" rtlCol="0" anchor="ctr"/>
          <a:lstStyle/>
          <a:p>
            <a:pPr indent="0" marL="0">
              <a:buNone/>
            </a:pPr>
            <a:r>
              <a:rPr lang="en-US" sz="1250" b="1" dirty="0">
                <a:solidFill>
                  <a:srgbClr val="14201A"/>
                </a:solidFill>
                <a:latin typeface="Calibri" pitchFamily="34" charset="0"/>
                <a:ea typeface="Calibri" pitchFamily="34" charset="-122"/>
                <a:cs typeface="Calibri" pitchFamily="34" charset="-120"/>
              </a:rPr>
              <a:t>Order pad</a:t>
            </a:r>
            <a:endParaRPr lang="en-US" sz="1250" dirty="0"/>
          </a:p>
        </p:txBody>
      </p:sp>
      <p:sp>
        <p:nvSpPr>
          <p:cNvPr id="11" name="Text 9"/>
          <p:cNvSpPr/>
          <p:nvPr/>
        </p:nvSpPr>
        <p:spPr>
          <a:xfrm>
            <a:off x="731520" y="3172968"/>
            <a:ext cx="2377440" cy="256032"/>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last order pre-filled, 90 seconds</a:t>
            </a:r>
            <a:endParaRPr lang="en-US" sz="950" dirty="0"/>
          </a:p>
        </p:txBody>
      </p:sp>
      <p:sp>
        <p:nvSpPr>
          <p:cNvPr id="12" name="Shape 10"/>
          <p:cNvSpPr/>
          <p:nvPr/>
        </p:nvSpPr>
        <p:spPr>
          <a:xfrm>
            <a:off x="3246120" y="3182112"/>
            <a:ext cx="566928" cy="0"/>
          </a:xfrm>
          <a:prstGeom prst="line">
            <a:avLst/>
          </a:prstGeom>
          <a:noFill/>
          <a:ln w="12700">
            <a:solidFill>
              <a:srgbClr val="D6D5CB"/>
            </a:solidFill>
            <a:prstDash val="solid"/>
          </a:ln>
        </p:spPr>
      </p:sp>
      <p:sp>
        <p:nvSpPr>
          <p:cNvPr id="13" name="Shape 11"/>
          <p:cNvSpPr/>
          <p:nvPr/>
        </p:nvSpPr>
        <p:spPr>
          <a:xfrm>
            <a:off x="548640" y="3685032"/>
            <a:ext cx="2697480" cy="713232"/>
          </a:xfrm>
          <a:prstGeom prst="roundRect">
            <a:avLst>
              <a:gd name="adj" fmla="val 7692"/>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4" name="Text 12"/>
          <p:cNvSpPr/>
          <p:nvPr/>
        </p:nvSpPr>
        <p:spPr>
          <a:xfrm>
            <a:off x="731520" y="3776472"/>
            <a:ext cx="2377440" cy="256032"/>
          </a:xfrm>
          <a:prstGeom prst="rect">
            <a:avLst/>
          </a:prstGeom>
          <a:noFill/>
          <a:ln/>
        </p:spPr>
        <p:txBody>
          <a:bodyPr wrap="square" lIns="0" tIns="0" rIns="0" bIns="0" rtlCol="0" anchor="ctr"/>
          <a:lstStyle/>
          <a:p>
            <a:pPr indent="0" marL="0">
              <a:buNone/>
            </a:pPr>
            <a:r>
              <a:rPr lang="en-US" sz="1250" b="1" dirty="0">
                <a:solidFill>
                  <a:srgbClr val="14201A"/>
                </a:solidFill>
                <a:latin typeface="Calibri" pitchFamily="34" charset="0"/>
                <a:ea typeface="Calibri" pitchFamily="34" charset="-122"/>
                <a:cs typeface="Calibri" pitchFamily="34" charset="-120"/>
              </a:rPr>
              <a:t>Telesales &amp; reps</a:t>
            </a:r>
            <a:endParaRPr lang="en-US" sz="1250" dirty="0"/>
          </a:p>
        </p:txBody>
      </p:sp>
      <p:sp>
        <p:nvSpPr>
          <p:cNvPr id="15" name="Text 13"/>
          <p:cNvSpPr/>
          <p:nvPr/>
        </p:nvSpPr>
        <p:spPr>
          <a:xfrm>
            <a:off x="731520" y="4032504"/>
            <a:ext cx="2377440" cy="256032"/>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placed on the customer's behalf</a:t>
            </a:r>
            <a:endParaRPr lang="en-US" sz="950" dirty="0"/>
          </a:p>
        </p:txBody>
      </p:sp>
      <p:sp>
        <p:nvSpPr>
          <p:cNvPr id="16" name="Shape 14"/>
          <p:cNvSpPr/>
          <p:nvPr/>
        </p:nvSpPr>
        <p:spPr>
          <a:xfrm>
            <a:off x="3246120" y="4041648"/>
            <a:ext cx="566928" cy="0"/>
          </a:xfrm>
          <a:prstGeom prst="line">
            <a:avLst/>
          </a:prstGeom>
          <a:noFill/>
          <a:ln w="12700">
            <a:solidFill>
              <a:srgbClr val="D6D5CB"/>
            </a:solidFill>
            <a:prstDash val="solid"/>
          </a:ln>
        </p:spPr>
      </p:sp>
      <p:sp>
        <p:nvSpPr>
          <p:cNvPr id="17" name="Shape 15"/>
          <p:cNvSpPr/>
          <p:nvPr/>
        </p:nvSpPr>
        <p:spPr>
          <a:xfrm>
            <a:off x="548640" y="4544568"/>
            <a:ext cx="2697480" cy="713232"/>
          </a:xfrm>
          <a:prstGeom prst="roundRect">
            <a:avLst>
              <a:gd name="adj" fmla="val 7692"/>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8" name="Text 16"/>
          <p:cNvSpPr/>
          <p:nvPr/>
        </p:nvSpPr>
        <p:spPr>
          <a:xfrm>
            <a:off x="731520" y="4636008"/>
            <a:ext cx="2377440" cy="256032"/>
          </a:xfrm>
          <a:prstGeom prst="rect">
            <a:avLst/>
          </a:prstGeom>
          <a:noFill/>
          <a:ln/>
        </p:spPr>
        <p:txBody>
          <a:bodyPr wrap="square" lIns="0" tIns="0" rIns="0" bIns="0" rtlCol="0" anchor="ctr"/>
          <a:lstStyle/>
          <a:p>
            <a:pPr indent="0" marL="0">
              <a:buNone/>
            </a:pPr>
            <a:r>
              <a:rPr lang="en-US" sz="1250" b="1" dirty="0">
                <a:solidFill>
                  <a:srgbClr val="14201A"/>
                </a:solidFill>
                <a:latin typeface="Calibri" pitchFamily="34" charset="0"/>
                <a:ea typeface="Calibri" pitchFamily="34" charset="-122"/>
                <a:cs typeface="Calibri" pitchFamily="34" charset="-120"/>
              </a:rPr>
              <a:t>Counter walk-in</a:t>
            </a:r>
            <a:endParaRPr lang="en-US" sz="1250" dirty="0"/>
          </a:p>
        </p:txBody>
      </p:sp>
      <p:sp>
        <p:nvSpPr>
          <p:cNvPr id="19" name="Text 17"/>
          <p:cNvSpPr/>
          <p:nvPr/>
        </p:nvSpPr>
        <p:spPr>
          <a:xfrm>
            <a:off x="731520" y="4892040"/>
            <a:ext cx="2377440" cy="256032"/>
          </a:xfrm>
          <a:prstGeom prst="rect">
            <a:avLst/>
          </a:prstGeom>
          <a:noFill/>
          <a:ln/>
        </p:spPr>
        <p:txBody>
          <a:bodyPr wrap="square" lIns="0" tIns="0" rIns="0" bIns="0" rtlCol="0" anchor="ctr"/>
          <a:lstStyle/>
          <a:p>
            <a:pPr indent="0" marL="0">
              <a:buNone/>
            </a:pPr>
            <a:r>
              <a:rPr lang="en-US" sz="950" dirty="0">
                <a:solidFill>
                  <a:srgbClr val="67736C"/>
                </a:solidFill>
                <a:latin typeface="Calibri" pitchFamily="34" charset="0"/>
                <a:ea typeface="Calibri" pitchFamily="34" charset="-122"/>
                <a:cs typeface="Calibri" pitchFamily="34" charset="-120"/>
              </a:rPr>
              <a:t>recorded, because it moves stock</a:t>
            </a:r>
            <a:endParaRPr lang="en-US" sz="950" dirty="0"/>
          </a:p>
        </p:txBody>
      </p:sp>
      <p:sp>
        <p:nvSpPr>
          <p:cNvPr id="20" name="Shape 18"/>
          <p:cNvSpPr/>
          <p:nvPr/>
        </p:nvSpPr>
        <p:spPr>
          <a:xfrm>
            <a:off x="3246120" y="4901184"/>
            <a:ext cx="566928" cy="0"/>
          </a:xfrm>
          <a:prstGeom prst="line">
            <a:avLst/>
          </a:prstGeom>
          <a:noFill/>
          <a:ln w="12700">
            <a:solidFill>
              <a:srgbClr val="D6D5CB"/>
            </a:solidFill>
            <a:prstDash val="solid"/>
          </a:ln>
        </p:spPr>
      </p:sp>
      <p:sp>
        <p:nvSpPr>
          <p:cNvPr id="21" name="Shape 19"/>
          <p:cNvSpPr/>
          <p:nvPr/>
        </p:nvSpPr>
        <p:spPr>
          <a:xfrm>
            <a:off x="3813048" y="2322576"/>
            <a:ext cx="0" cy="2578608"/>
          </a:xfrm>
          <a:prstGeom prst="line">
            <a:avLst/>
          </a:prstGeom>
          <a:noFill/>
          <a:ln w="12700">
            <a:solidFill>
              <a:srgbClr val="D6D5CB"/>
            </a:solidFill>
            <a:prstDash val="solid"/>
          </a:ln>
        </p:spPr>
      </p:sp>
      <p:sp>
        <p:nvSpPr>
          <p:cNvPr id="22" name="Shape 20"/>
          <p:cNvSpPr/>
          <p:nvPr/>
        </p:nvSpPr>
        <p:spPr>
          <a:xfrm>
            <a:off x="3813048" y="3657600"/>
            <a:ext cx="256032" cy="0"/>
          </a:xfrm>
          <a:prstGeom prst="line">
            <a:avLst/>
          </a:prstGeom>
          <a:noFill/>
          <a:ln w="15875">
            <a:solidFill>
              <a:srgbClr val="67736C"/>
            </a:solidFill>
            <a:prstDash val="solid"/>
            <a:tailEnd type="triangle"/>
          </a:ln>
        </p:spPr>
      </p:sp>
      <p:sp>
        <p:nvSpPr>
          <p:cNvPr id="23" name="Shape 21"/>
          <p:cNvSpPr/>
          <p:nvPr/>
        </p:nvSpPr>
        <p:spPr>
          <a:xfrm>
            <a:off x="4069080" y="3218688"/>
            <a:ext cx="2377440" cy="877824"/>
          </a:xfrm>
          <a:prstGeom prst="roundRect">
            <a:avLst>
              <a:gd name="adj" fmla="val 6250"/>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24" name="Text 22"/>
          <p:cNvSpPr/>
          <p:nvPr/>
        </p:nvSpPr>
        <p:spPr>
          <a:xfrm>
            <a:off x="4069080" y="3319272"/>
            <a:ext cx="2377440" cy="256032"/>
          </a:xfrm>
          <a:prstGeom prst="rect">
            <a:avLst/>
          </a:prstGeom>
          <a:noFill/>
          <a:ln/>
        </p:spPr>
        <p:txBody>
          <a:bodyPr wrap="square" lIns="0" tIns="0" rIns="0" bIns="0" rtlCol="0" anchor="ctr"/>
          <a:lstStyle/>
          <a:p>
            <a:pPr algn="ctr" indent="0" marL="0">
              <a:buNone/>
            </a:pPr>
            <a:r>
              <a:rPr lang="en-US" sz="1100" b="1" spc="120" kern="0" dirty="0">
                <a:solidFill>
                  <a:srgbClr val="1F7A4D"/>
                </a:solidFill>
                <a:latin typeface="Calibri" pitchFamily="34" charset="0"/>
                <a:ea typeface="Calibri" pitchFamily="34" charset="-122"/>
                <a:cs typeface="Calibri" pitchFamily="34" charset="-120"/>
              </a:rPr>
              <a:t>ONE ORDER</a:t>
            </a:r>
            <a:endParaRPr lang="en-US" sz="1100" dirty="0"/>
          </a:p>
        </p:txBody>
      </p:sp>
      <p:sp>
        <p:nvSpPr>
          <p:cNvPr id="25" name="Text 23"/>
          <p:cNvSpPr/>
          <p:nvPr/>
        </p:nvSpPr>
        <p:spPr>
          <a:xfrm>
            <a:off x="4114800" y="3566160"/>
            <a:ext cx="2286000" cy="420624"/>
          </a:xfrm>
          <a:prstGeom prst="rect">
            <a:avLst/>
          </a:prstGeom>
          <a:noFill/>
          <a:ln/>
        </p:spPr>
        <p:txBody>
          <a:bodyPr wrap="square" lIns="0" tIns="0" rIns="0" bIns="0" rtlCol="0" anchor="ctr"/>
          <a:lstStyle/>
          <a:p>
            <a:pPr algn="ctr" indent="0" marL="0">
              <a:buNone/>
            </a:pPr>
            <a:r>
              <a:rPr lang="en-US" sz="950" dirty="0">
                <a:solidFill>
                  <a:srgbClr val="3D4A43"/>
                </a:solidFill>
                <a:latin typeface="Calibri" pitchFamily="34" charset="0"/>
                <a:ea typeface="Calibri" pitchFamily="34" charset="-122"/>
                <a:cs typeface="Calibri" pitchFamily="34" charset="-120"/>
              </a:rPr>
              <a:t>channel is an attribute,</a:t>
            </a:r>
            <a:endParaRPr lang="en-US" sz="950" dirty="0"/>
          </a:p>
          <a:p>
            <a:pPr algn="ctr" indent="0" marL="0">
              <a:buNone/>
            </a:pPr>
            <a:r>
              <a:rPr lang="en-US" sz="950" dirty="0">
                <a:solidFill>
                  <a:srgbClr val="3D4A43"/>
                </a:solidFill>
                <a:latin typeface="Calibri" pitchFamily="34" charset="0"/>
                <a:ea typeface="Calibri" pitchFamily="34" charset="-122"/>
                <a:cs typeface="Calibri" pitchFamily="34" charset="-120"/>
              </a:rPr>
              <a:t>never a separate code path</a:t>
            </a:r>
            <a:endParaRPr lang="en-US" sz="950" dirty="0"/>
          </a:p>
        </p:txBody>
      </p:sp>
      <p:sp>
        <p:nvSpPr>
          <p:cNvPr id="26" name="Shape 24"/>
          <p:cNvSpPr/>
          <p:nvPr/>
        </p:nvSpPr>
        <p:spPr>
          <a:xfrm>
            <a:off x="6446520" y="3657600"/>
            <a:ext cx="320040" cy="0"/>
          </a:xfrm>
          <a:prstGeom prst="line">
            <a:avLst/>
          </a:prstGeom>
          <a:noFill/>
          <a:ln w="15875">
            <a:solidFill>
              <a:srgbClr val="67736C"/>
            </a:solidFill>
            <a:prstDash val="solid"/>
            <a:tailEnd type="triangle"/>
          </a:ln>
        </p:spPr>
      </p:sp>
      <p:sp>
        <p:nvSpPr>
          <p:cNvPr id="27" name="Shape 25"/>
          <p:cNvSpPr/>
          <p:nvPr/>
        </p:nvSpPr>
        <p:spPr>
          <a:xfrm>
            <a:off x="6766560" y="3017520"/>
            <a:ext cx="1600200" cy="1280160"/>
          </a:xfrm>
          <a:prstGeom prst="diamond">
            <a:avLst/>
          </a:prstGeom>
          <a:solidFill>
            <a:srgbClr val="F6EAD8"/>
          </a:solidFill>
          <a:ln w="19050">
            <a:solidFill>
              <a:srgbClr val="9E5E10"/>
            </a:solidFill>
            <a:prstDash val="solid"/>
          </a:ln>
        </p:spPr>
      </p:sp>
      <p:sp>
        <p:nvSpPr>
          <p:cNvPr id="28" name="Text 26"/>
          <p:cNvSpPr/>
          <p:nvPr/>
        </p:nvSpPr>
        <p:spPr>
          <a:xfrm>
            <a:off x="6766560" y="3017520"/>
            <a:ext cx="1600200" cy="1280160"/>
          </a:xfrm>
          <a:prstGeom prst="rect">
            <a:avLst/>
          </a:prstGeom>
          <a:noFill/>
          <a:ln/>
        </p:spPr>
        <p:txBody>
          <a:bodyPr wrap="square" lIns="0" tIns="0" rIns="0" bIns="0" rtlCol="0" anchor="ctr"/>
          <a:lstStyle/>
          <a:p>
            <a:pPr algn="ctr" indent="0" marL="0">
              <a:buNone/>
            </a:pPr>
            <a:r>
              <a:rPr lang="en-US" sz="1100" b="1" dirty="0">
                <a:solidFill>
                  <a:srgbClr val="9E5E10"/>
                </a:solidFill>
                <a:latin typeface="Calibri" pitchFamily="34" charset="0"/>
                <a:ea typeface="Calibri" pitchFamily="34" charset="-122"/>
                <a:cs typeface="Calibri" pitchFamily="34" charset="-120"/>
              </a:rPr>
              <a:t>CREDIT</a:t>
            </a:r>
            <a:endParaRPr lang="en-US" sz="1100" dirty="0"/>
          </a:p>
          <a:p>
            <a:pPr algn="ctr" indent="0" marL="0">
              <a:buNone/>
            </a:pPr>
            <a:r>
              <a:rPr lang="en-US" sz="1100" b="1" dirty="0">
                <a:solidFill>
                  <a:srgbClr val="9E5E10"/>
                </a:solidFill>
                <a:latin typeface="Calibri" pitchFamily="34" charset="0"/>
                <a:ea typeface="Calibri" pitchFamily="34" charset="-122"/>
                <a:cs typeface="Calibri" pitchFamily="34" charset="-120"/>
              </a:rPr>
              <a:t>GATE</a:t>
            </a:r>
            <a:endParaRPr lang="en-US" sz="1100" dirty="0"/>
          </a:p>
        </p:txBody>
      </p:sp>
      <p:sp>
        <p:nvSpPr>
          <p:cNvPr id="29" name="Shape 27"/>
          <p:cNvSpPr/>
          <p:nvPr/>
        </p:nvSpPr>
        <p:spPr>
          <a:xfrm>
            <a:off x="8915400" y="2212848"/>
            <a:ext cx="2697480" cy="786384"/>
          </a:xfrm>
          <a:prstGeom prst="roundRect">
            <a:avLst>
              <a:gd name="adj" fmla="val 6977"/>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30" name="Text 28"/>
          <p:cNvSpPr/>
          <p:nvPr/>
        </p:nvSpPr>
        <p:spPr>
          <a:xfrm>
            <a:off x="9098280" y="2322576"/>
            <a:ext cx="2377440" cy="256032"/>
          </a:xfrm>
          <a:prstGeom prst="rect">
            <a:avLst/>
          </a:prstGeom>
          <a:noFill/>
          <a:ln/>
        </p:spPr>
        <p:txBody>
          <a:bodyPr wrap="square" lIns="0" tIns="0" rIns="0" bIns="0" rtlCol="0" anchor="ctr"/>
          <a:lstStyle/>
          <a:p>
            <a:pPr indent="0" marL="0">
              <a:buNone/>
            </a:pPr>
            <a:r>
              <a:rPr lang="en-US" sz="1200" b="1" dirty="0">
                <a:solidFill>
                  <a:srgbClr val="1F7A4D"/>
                </a:solidFill>
                <a:latin typeface="Calibri" pitchFamily="34" charset="0"/>
                <a:ea typeface="Calibri" pitchFamily="34" charset="-122"/>
                <a:cs typeface="Calibri" pitchFamily="34" charset="-120"/>
              </a:rPr>
              <a:t>Confirmed</a:t>
            </a:r>
            <a:endParaRPr lang="en-US" sz="1200" dirty="0"/>
          </a:p>
        </p:txBody>
      </p:sp>
      <p:sp>
        <p:nvSpPr>
          <p:cNvPr id="31" name="Text 29"/>
          <p:cNvSpPr/>
          <p:nvPr/>
        </p:nvSpPr>
        <p:spPr>
          <a:xfrm>
            <a:off x="9098280" y="2596896"/>
            <a:ext cx="237744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within limit, nothing overdue</a:t>
            </a:r>
            <a:endParaRPr lang="en-US" sz="950" dirty="0"/>
          </a:p>
        </p:txBody>
      </p:sp>
      <p:sp>
        <p:nvSpPr>
          <p:cNvPr id="32" name="Shape 30"/>
          <p:cNvSpPr/>
          <p:nvPr/>
        </p:nvSpPr>
        <p:spPr>
          <a:xfrm>
            <a:off x="8641080" y="2606040"/>
            <a:ext cx="274320" cy="0"/>
          </a:xfrm>
          <a:prstGeom prst="line">
            <a:avLst/>
          </a:prstGeom>
          <a:noFill/>
          <a:ln w="12700">
            <a:solidFill>
              <a:srgbClr val="D6D5CB"/>
            </a:solidFill>
            <a:prstDash val="solid"/>
          </a:ln>
        </p:spPr>
      </p:sp>
      <p:sp>
        <p:nvSpPr>
          <p:cNvPr id="33" name="Shape 31"/>
          <p:cNvSpPr/>
          <p:nvPr/>
        </p:nvSpPr>
        <p:spPr>
          <a:xfrm>
            <a:off x="8915400" y="3255264"/>
            <a:ext cx="2697480" cy="786384"/>
          </a:xfrm>
          <a:prstGeom prst="roundRect">
            <a:avLst>
              <a:gd name="adj" fmla="val 6977"/>
            </a:avLst>
          </a:prstGeom>
          <a:solidFill>
            <a:srgbClr val="F6EAD8"/>
          </a:solidFill>
          <a:ln w="12700">
            <a:solidFill>
              <a:srgbClr val="9E5E10"/>
            </a:solidFill>
            <a:prstDash val="solid"/>
          </a:ln>
          <a:effectLst>
            <a:outerShdw sx="100000" sy="100000" kx="0" ky="0" algn="bl" rotWithShape="0" blurRad="127000" dist="12700" dir="5400000">
              <a:srgbClr val="14201A">
                <a:alpha val="9000"/>
              </a:srgbClr>
            </a:outerShdw>
          </a:effectLst>
        </p:spPr>
      </p:sp>
      <p:sp>
        <p:nvSpPr>
          <p:cNvPr id="34" name="Text 32"/>
          <p:cNvSpPr/>
          <p:nvPr/>
        </p:nvSpPr>
        <p:spPr>
          <a:xfrm>
            <a:off x="9098280" y="3364992"/>
            <a:ext cx="2377440" cy="256032"/>
          </a:xfrm>
          <a:prstGeom prst="rect">
            <a:avLst/>
          </a:prstGeom>
          <a:noFill/>
          <a:ln/>
        </p:spPr>
        <p:txBody>
          <a:bodyPr wrap="square" lIns="0" tIns="0" rIns="0" bIns="0" rtlCol="0" anchor="ctr"/>
          <a:lstStyle/>
          <a:p>
            <a:pPr indent="0" marL="0">
              <a:buNone/>
            </a:pPr>
            <a:r>
              <a:rPr lang="en-US" sz="1200" b="1" dirty="0">
                <a:solidFill>
                  <a:srgbClr val="9E5E10"/>
                </a:solidFill>
                <a:latin typeface="Calibri" pitchFamily="34" charset="0"/>
                <a:ea typeface="Calibri" pitchFamily="34" charset="-122"/>
                <a:cs typeface="Calibri" pitchFamily="34" charset="-120"/>
              </a:rPr>
              <a:t>Needs approval</a:t>
            </a:r>
            <a:endParaRPr lang="en-US" sz="1200" dirty="0"/>
          </a:p>
        </p:txBody>
      </p:sp>
      <p:sp>
        <p:nvSpPr>
          <p:cNvPr id="35" name="Text 33"/>
          <p:cNvSpPr/>
          <p:nvPr/>
        </p:nvSpPr>
        <p:spPr>
          <a:xfrm>
            <a:off x="9098280" y="3639312"/>
            <a:ext cx="237744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overdue 16–30 days</a:t>
            </a:r>
            <a:endParaRPr lang="en-US" sz="950" dirty="0"/>
          </a:p>
        </p:txBody>
      </p:sp>
      <p:sp>
        <p:nvSpPr>
          <p:cNvPr id="36" name="Shape 34"/>
          <p:cNvSpPr/>
          <p:nvPr/>
        </p:nvSpPr>
        <p:spPr>
          <a:xfrm>
            <a:off x="8641080" y="3648456"/>
            <a:ext cx="274320" cy="0"/>
          </a:xfrm>
          <a:prstGeom prst="line">
            <a:avLst/>
          </a:prstGeom>
          <a:noFill/>
          <a:ln w="12700">
            <a:solidFill>
              <a:srgbClr val="D6D5CB"/>
            </a:solidFill>
            <a:prstDash val="solid"/>
          </a:ln>
        </p:spPr>
      </p:sp>
      <p:sp>
        <p:nvSpPr>
          <p:cNvPr id="37" name="Shape 35"/>
          <p:cNvSpPr/>
          <p:nvPr/>
        </p:nvSpPr>
        <p:spPr>
          <a:xfrm>
            <a:off x="8915400" y="4297680"/>
            <a:ext cx="2697480" cy="786384"/>
          </a:xfrm>
          <a:prstGeom prst="roundRect">
            <a:avLst>
              <a:gd name="adj" fmla="val 6977"/>
            </a:avLst>
          </a:prstGeom>
          <a:solidFill>
            <a:srgbClr val="F5E2E0"/>
          </a:solidFill>
          <a:ln w="12700">
            <a:solidFill>
              <a:srgbClr val="A33228"/>
            </a:solidFill>
            <a:prstDash val="solid"/>
          </a:ln>
          <a:effectLst>
            <a:outerShdw sx="100000" sy="100000" kx="0" ky="0" algn="bl" rotWithShape="0" blurRad="127000" dist="12700" dir="5400000">
              <a:srgbClr val="14201A">
                <a:alpha val="9000"/>
              </a:srgbClr>
            </a:outerShdw>
          </a:effectLst>
        </p:spPr>
      </p:sp>
      <p:sp>
        <p:nvSpPr>
          <p:cNvPr id="38" name="Text 36"/>
          <p:cNvSpPr/>
          <p:nvPr/>
        </p:nvSpPr>
        <p:spPr>
          <a:xfrm>
            <a:off x="9098280" y="4407408"/>
            <a:ext cx="2377440" cy="256032"/>
          </a:xfrm>
          <a:prstGeom prst="rect">
            <a:avLst/>
          </a:prstGeom>
          <a:noFill/>
          <a:ln/>
        </p:spPr>
        <p:txBody>
          <a:bodyPr wrap="square" lIns="0" tIns="0" rIns="0" bIns="0" rtlCol="0" anchor="ctr"/>
          <a:lstStyle/>
          <a:p>
            <a:pPr indent="0" marL="0">
              <a:buNone/>
            </a:pPr>
            <a:r>
              <a:rPr lang="en-US" sz="1200" b="1" dirty="0">
                <a:solidFill>
                  <a:srgbClr val="A33228"/>
                </a:solidFill>
                <a:latin typeface="Calibri" pitchFamily="34" charset="0"/>
                <a:ea typeface="Calibri" pitchFamily="34" charset="-122"/>
                <a:cs typeface="Calibri" pitchFamily="34" charset="-120"/>
              </a:rPr>
              <a:t>Blocked · cash only</a:t>
            </a:r>
            <a:endParaRPr lang="en-US" sz="1200" dirty="0"/>
          </a:p>
        </p:txBody>
      </p:sp>
      <p:sp>
        <p:nvSpPr>
          <p:cNvPr id="39" name="Text 37"/>
          <p:cNvSpPr/>
          <p:nvPr/>
        </p:nvSpPr>
        <p:spPr>
          <a:xfrm>
            <a:off x="9098280" y="4681728"/>
            <a:ext cx="237744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over limit, or 30+ days overdue</a:t>
            </a:r>
            <a:endParaRPr lang="en-US" sz="950" dirty="0"/>
          </a:p>
        </p:txBody>
      </p:sp>
      <p:sp>
        <p:nvSpPr>
          <p:cNvPr id="40" name="Shape 38"/>
          <p:cNvSpPr/>
          <p:nvPr/>
        </p:nvSpPr>
        <p:spPr>
          <a:xfrm>
            <a:off x="8641080" y="4690872"/>
            <a:ext cx="274320" cy="0"/>
          </a:xfrm>
          <a:prstGeom prst="line">
            <a:avLst/>
          </a:prstGeom>
          <a:noFill/>
          <a:ln w="12700">
            <a:solidFill>
              <a:srgbClr val="D6D5CB"/>
            </a:solidFill>
            <a:prstDash val="solid"/>
          </a:ln>
        </p:spPr>
      </p:sp>
      <p:sp>
        <p:nvSpPr>
          <p:cNvPr id="41" name="Shape 39"/>
          <p:cNvSpPr/>
          <p:nvPr/>
        </p:nvSpPr>
        <p:spPr>
          <a:xfrm>
            <a:off x="8366760" y="3657600"/>
            <a:ext cx="274320" cy="0"/>
          </a:xfrm>
          <a:prstGeom prst="line">
            <a:avLst/>
          </a:prstGeom>
          <a:noFill/>
          <a:ln w="12700">
            <a:solidFill>
              <a:srgbClr val="D6D5CB"/>
            </a:solidFill>
            <a:prstDash val="solid"/>
          </a:ln>
        </p:spPr>
      </p:sp>
      <p:sp>
        <p:nvSpPr>
          <p:cNvPr id="42" name="Shape 40"/>
          <p:cNvSpPr/>
          <p:nvPr/>
        </p:nvSpPr>
        <p:spPr>
          <a:xfrm>
            <a:off x="8641080" y="2606040"/>
            <a:ext cx="0" cy="2084832"/>
          </a:xfrm>
          <a:prstGeom prst="line">
            <a:avLst/>
          </a:prstGeom>
          <a:noFill/>
          <a:ln w="12700">
            <a:solidFill>
              <a:srgbClr val="D6D5CB"/>
            </a:solidFill>
            <a:prstDash val="solid"/>
          </a:ln>
        </p:spPr>
      </p:sp>
      <p:sp>
        <p:nvSpPr>
          <p:cNvPr id="43" name="Shape 41"/>
          <p:cNvSpPr/>
          <p:nvPr/>
        </p:nvSpPr>
        <p:spPr>
          <a:xfrm>
            <a:off x="548640" y="5440680"/>
            <a:ext cx="11064240" cy="658368"/>
          </a:xfrm>
          <a:prstGeom prst="roundRect">
            <a:avLst>
              <a:gd name="adj" fmla="val 8333"/>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44" name="Text 42"/>
          <p:cNvSpPr/>
          <p:nvPr/>
        </p:nvSpPr>
        <p:spPr>
          <a:xfrm>
            <a:off x="822960" y="5532120"/>
            <a:ext cx="10515600" cy="256032"/>
          </a:xfrm>
          <a:prstGeom prst="rect">
            <a:avLst/>
          </a:prstGeom>
          <a:noFill/>
          <a:ln/>
        </p:spPr>
        <p:txBody>
          <a:bodyPr wrap="square" lIns="0" tIns="0" rIns="0" bIns="0" rtlCol="0" anchor="ctr"/>
          <a:lstStyle/>
          <a:p>
            <a:pPr indent="0" marL="0">
              <a:buNone/>
            </a:pPr>
            <a:r>
              <a:rPr lang="en-US" sz="1200" b="1" dirty="0">
                <a:solidFill>
                  <a:srgbClr val="14201A"/>
                </a:solidFill>
                <a:latin typeface="Calibri" pitchFamily="34" charset="0"/>
                <a:ea typeface="Calibri" pitchFamily="34" charset="-122"/>
                <a:cs typeface="Calibri" pitchFamily="34" charset="-120"/>
              </a:rPr>
              <a:t>available credit  =  credit limit  −  outstanding invoices  −  undelivered confirmed orders  +  unapplied receipts</a:t>
            </a:r>
            <a:endParaRPr lang="en-US" sz="1200" dirty="0"/>
          </a:p>
        </p:txBody>
      </p:sp>
      <p:sp>
        <p:nvSpPr>
          <p:cNvPr id="45" name="Text 43"/>
          <p:cNvSpPr/>
          <p:nvPr/>
        </p:nvSpPr>
        <p:spPr>
          <a:xfrm>
            <a:off x="822960" y="5788152"/>
            <a:ext cx="10515600" cy="256032"/>
          </a:xfrm>
          <a:prstGeom prst="rect">
            <a:avLst/>
          </a:prstGeom>
          <a:noFill/>
          <a:ln/>
        </p:spPr>
        <p:txBody>
          <a:bodyPr wrap="square" lIns="0" tIns="0" rIns="0" bIns="0" rtlCol="0" anchor="ctr"/>
          <a:lstStyle/>
          <a:p>
            <a:pPr indent="0" marL="0">
              <a:buNone/>
            </a:pPr>
            <a:r>
              <a:rPr lang="en-US" sz="1050" i="1" dirty="0">
                <a:solidFill>
                  <a:srgbClr val="67736C"/>
                </a:solidFill>
                <a:latin typeface="Calibri" pitchFamily="34" charset="0"/>
                <a:ea typeface="Calibri" pitchFamily="34" charset="-122"/>
                <a:cs typeface="Calibri" pitchFamily="34" charset="-120"/>
              </a:rPr>
              <a:t>Every override is logged — who, when, why, how much. A credit gate everyone can click past is worse than no gate at all.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INVENTORY MANAGEMENT</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Stock truth, at every location</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Allocation, replenishment and valuation all stand on one thing: the system's number matching the shelf. Everything here defends that match.</a:t>
            </a:r>
            <a:endParaRPr lang="en-US" sz="1400" dirty="0"/>
          </a:p>
        </p:txBody>
      </p:sp>
      <p:sp>
        <p:nvSpPr>
          <p:cNvPr id="5" name="Text 3"/>
          <p:cNvSpPr/>
          <p:nvPr/>
        </p:nvSpPr>
        <p:spPr>
          <a:xfrm>
            <a:off x="548640" y="1901952"/>
            <a:ext cx="5486400" cy="237744"/>
          </a:xfrm>
          <a:prstGeom prst="rect">
            <a:avLst/>
          </a:prstGeom>
          <a:noFill/>
          <a:ln/>
        </p:spPr>
        <p:txBody>
          <a:bodyPr wrap="square" lIns="0" tIns="0" rIns="0" bIns="0" rtlCol="0" anchor="ctr"/>
          <a:lstStyle/>
          <a:p>
            <a:pPr indent="0" marL="0">
              <a:buNone/>
            </a:pPr>
            <a:r>
              <a:rPr lang="en-US" sz="1000" b="1" spc="140" kern="0" dirty="0">
                <a:solidFill>
                  <a:srgbClr val="67736C"/>
                </a:solidFill>
                <a:latin typeface="Calibri" pitchFamily="34" charset="0"/>
                <a:ea typeface="Calibri" pitchFamily="34" charset="-122"/>
                <a:cs typeface="Calibri" pitchFamily="34" charset="-120"/>
              </a:rPr>
              <a:t>ONE BRANCH · 620 UNITS OF A PRODUCT</a:t>
            </a:r>
            <a:endParaRPr lang="en-US" sz="1000" dirty="0"/>
          </a:p>
        </p:txBody>
      </p:sp>
      <p:sp>
        <p:nvSpPr>
          <p:cNvPr id="6" name="Shape 4"/>
          <p:cNvSpPr/>
          <p:nvPr/>
        </p:nvSpPr>
        <p:spPr>
          <a:xfrm>
            <a:off x="548640" y="2194560"/>
            <a:ext cx="6246266" cy="713232"/>
          </a:xfrm>
          <a:prstGeom prst="rect">
            <a:avLst/>
          </a:prstGeom>
          <a:solidFill>
            <a:srgbClr val="E0EFE6"/>
          </a:solidFill>
          <a:ln w="12700">
            <a:solidFill>
              <a:srgbClr val="1F7A4D"/>
            </a:solidFill>
            <a:prstDash val="solid"/>
          </a:ln>
        </p:spPr>
      </p:sp>
      <p:sp>
        <p:nvSpPr>
          <p:cNvPr id="7" name="Text 5"/>
          <p:cNvSpPr/>
          <p:nvPr/>
        </p:nvSpPr>
        <p:spPr>
          <a:xfrm>
            <a:off x="585216" y="2267712"/>
            <a:ext cx="6173114" cy="274320"/>
          </a:xfrm>
          <a:prstGeom prst="rect">
            <a:avLst/>
          </a:prstGeom>
          <a:noFill/>
          <a:ln/>
        </p:spPr>
        <p:txBody>
          <a:bodyPr wrap="square" lIns="0" tIns="0" rIns="0" bIns="0" rtlCol="0" anchor="ctr"/>
          <a:lstStyle/>
          <a:p>
            <a:pPr algn="ctr" indent="0" marL="0">
              <a:buNone/>
            </a:pPr>
            <a:r>
              <a:rPr lang="en-US" sz="1200" b="1" dirty="0">
                <a:solidFill>
                  <a:srgbClr val="1F7A4D"/>
                </a:solidFill>
                <a:latin typeface="Calibri" pitchFamily="34" charset="0"/>
                <a:ea typeface="Calibri" pitchFamily="34" charset="-122"/>
                <a:cs typeface="Calibri" pitchFamily="34" charset="-120"/>
              </a:rPr>
              <a:t>Available · 350</a:t>
            </a:r>
            <a:endParaRPr lang="en-US" sz="1200" dirty="0"/>
          </a:p>
        </p:txBody>
      </p:sp>
      <p:sp>
        <p:nvSpPr>
          <p:cNvPr id="8" name="Text 6"/>
          <p:cNvSpPr/>
          <p:nvPr/>
        </p:nvSpPr>
        <p:spPr>
          <a:xfrm>
            <a:off x="585216" y="2560320"/>
            <a:ext cx="6173114" cy="274320"/>
          </a:xfrm>
          <a:prstGeom prst="rect">
            <a:avLst/>
          </a:prstGeom>
          <a:noFill/>
          <a:ln/>
        </p:spPr>
        <p:txBody>
          <a:bodyPr wrap="square" lIns="0" tIns="0" rIns="0" bIns="0" rtlCol="0" anchor="ctr"/>
          <a:lstStyle/>
          <a:p>
            <a:pPr algn="ctr" indent="0" marL="0">
              <a:buNone/>
            </a:pPr>
            <a:r>
              <a:rPr lang="en-US" sz="850" dirty="0">
                <a:solidFill>
                  <a:srgbClr val="3D4A43"/>
                </a:solidFill>
                <a:latin typeface="Calibri" pitchFamily="34" charset="0"/>
                <a:ea typeface="Calibri" pitchFamily="34" charset="-122"/>
                <a:cs typeface="Calibri" pitchFamily="34" charset="-120"/>
              </a:rPr>
              <a:t>what the order pad may sell</a:t>
            </a:r>
            <a:endParaRPr lang="en-US" sz="850" dirty="0"/>
          </a:p>
        </p:txBody>
      </p:sp>
      <p:sp>
        <p:nvSpPr>
          <p:cNvPr id="9" name="Shape 7"/>
          <p:cNvSpPr/>
          <p:nvPr/>
        </p:nvSpPr>
        <p:spPr>
          <a:xfrm>
            <a:off x="6794906" y="2194560"/>
            <a:ext cx="1963217" cy="713232"/>
          </a:xfrm>
          <a:prstGeom prst="rect">
            <a:avLst/>
          </a:prstGeom>
          <a:solidFill>
            <a:srgbClr val="F6EAD8"/>
          </a:solidFill>
          <a:ln w="12700">
            <a:solidFill>
              <a:srgbClr val="9E5E10"/>
            </a:solidFill>
            <a:prstDash val="solid"/>
          </a:ln>
        </p:spPr>
      </p:sp>
      <p:sp>
        <p:nvSpPr>
          <p:cNvPr id="10" name="Text 8"/>
          <p:cNvSpPr/>
          <p:nvPr/>
        </p:nvSpPr>
        <p:spPr>
          <a:xfrm>
            <a:off x="6831482" y="2267712"/>
            <a:ext cx="1890065" cy="274320"/>
          </a:xfrm>
          <a:prstGeom prst="rect">
            <a:avLst/>
          </a:prstGeom>
          <a:noFill/>
          <a:ln/>
        </p:spPr>
        <p:txBody>
          <a:bodyPr wrap="square" lIns="0" tIns="0" rIns="0" bIns="0" rtlCol="0" anchor="ctr"/>
          <a:lstStyle/>
          <a:p>
            <a:pPr algn="ctr" indent="0" marL="0">
              <a:buNone/>
            </a:pPr>
            <a:r>
              <a:rPr lang="en-US" sz="1200" b="1" dirty="0">
                <a:solidFill>
                  <a:srgbClr val="9E5E10"/>
                </a:solidFill>
                <a:latin typeface="Calibri" pitchFamily="34" charset="0"/>
                <a:ea typeface="Calibri" pitchFamily="34" charset="-122"/>
                <a:cs typeface="Calibri" pitchFamily="34" charset="-120"/>
              </a:rPr>
              <a:t>Reserved · 110</a:t>
            </a:r>
            <a:endParaRPr lang="en-US" sz="1200" dirty="0"/>
          </a:p>
        </p:txBody>
      </p:sp>
      <p:sp>
        <p:nvSpPr>
          <p:cNvPr id="11" name="Text 9"/>
          <p:cNvSpPr/>
          <p:nvPr/>
        </p:nvSpPr>
        <p:spPr>
          <a:xfrm>
            <a:off x="6831482" y="2560320"/>
            <a:ext cx="1890065" cy="274320"/>
          </a:xfrm>
          <a:prstGeom prst="rect">
            <a:avLst/>
          </a:prstGeom>
          <a:noFill/>
          <a:ln/>
        </p:spPr>
        <p:txBody>
          <a:bodyPr wrap="square" lIns="0" tIns="0" rIns="0" bIns="0" rtlCol="0" anchor="ctr"/>
          <a:lstStyle/>
          <a:p>
            <a:pPr algn="ctr" indent="0" marL="0">
              <a:buNone/>
            </a:pPr>
            <a:r>
              <a:rPr lang="en-US" sz="850" dirty="0">
                <a:solidFill>
                  <a:srgbClr val="3D4A43"/>
                </a:solidFill>
                <a:latin typeface="Calibri" pitchFamily="34" charset="0"/>
                <a:ea typeface="Calibri" pitchFamily="34" charset="-122"/>
                <a:cs typeface="Calibri" pitchFamily="34" charset="-120"/>
              </a:rPr>
              <a:t>in checkouts right now</a:t>
            </a:r>
            <a:endParaRPr lang="en-US" sz="850" dirty="0"/>
          </a:p>
        </p:txBody>
      </p:sp>
      <p:sp>
        <p:nvSpPr>
          <p:cNvPr id="12" name="Shape 10"/>
          <p:cNvSpPr/>
          <p:nvPr/>
        </p:nvSpPr>
        <p:spPr>
          <a:xfrm>
            <a:off x="8758123" y="2194560"/>
            <a:ext cx="1605686" cy="713232"/>
          </a:xfrm>
          <a:prstGeom prst="rect">
            <a:avLst/>
          </a:prstGeom>
          <a:solidFill>
            <a:srgbClr val="F0DCBE"/>
          </a:solidFill>
          <a:ln w="12700">
            <a:solidFill>
              <a:srgbClr val="9E5E10"/>
            </a:solidFill>
            <a:prstDash val="solid"/>
          </a:ln>
        </p:spPr>
      </p:sp>
      <p:sp>
        <p:nvSpPr>
          <p:cNvPr id="13" name="Text 11"/>
          <p:cNvSpPr/>
          <p:nvPr/>
        </p:nvSpPr>
        <p:spPr>
          <a:xfrm>
            <a:off x="8794699" y="2267712"/>
            <a:ext cx="1532534" cy="274320"/>
          </a:xfrm>
          <a:prstGeom prst="rect">
            <a:avLst/>
          </a:prstGeom>
          <a:noFill/>
          <a:ln/>
        </p:spPr>
        <p:txBody>
          <a:bodyPr wrap="square" lIns="0" tIns="0" rIns="0" bIns="0" rtlCol="0" anchor="ctr"/>
          <a:lstStyle/>
          <a:p>
            <a:pPr algn="ctr" indent="0" marL="0">
              <a:buNone/>
            </a:pPr>
            <a:r>
              <a:rPr lang="en-US" sz="1200" b="1" dirty="0">
                <a:solidFill>
                  <a:srgbClr val="9E5E10"/>
                </a:solidFill>
                <a:latin typeface="Calibri" pitchFamily="34" charset="0"/>
                <a:ea typeface="Calibri" pitchFamily="34" charset="-122"/>
                <a:cs typeface="Calibri" pitchFamily="34" charset="-120"/>
              </a:rPr>
              <a:t>Firm · 90</a:t>
            </a:r>
            <a:endParaRPr lang="en-US" sz="1200" dirty="0"/>
          </a:p>
        </p:txBody>
      </p:sp>
      <p:sp>
        <p:nvSpPr>
          <p:cNvPr id="14" name="Text 12"/>
          <p:cNvSpPr/>
          <p:nvPr/>
        </p:nvSpPr>
        <p:spPr>
          <a:xfrm>
            <a:off x="8794699" y="2560320"/>
            <a:ext cx="1532534" cy="274320"/>
          </a:xfrm>
          <a:prstGeom prst="rect">
            <a:avLst/>
          </a:prstGeom>
          <a:noFill/>
          <a:ln/>
        </p:spPr>
        <p:txBody>
          <a:bodyPr wrap="square" lIns="0" tIns="0" rIns="0" bIns="0" rtlCol="0" anchor="ctr"/>
          <a:lstStyle/>
          <a:p>
            <a:pPr algn="ctr" indent="0" marL="0">
              <a:buNone/>
            </a:pPr>
            <a:r>
              <a:rPr lang="en-US" sz="850" dirty="0">
                <a:solidFill>
                  <a:srgbClr val="3D4A43"/>
                </a:solidFill>
                <a:latin typeface="Calibri" pitchFamily="34" charset="0"/>
                <a:ea typeface="Calibri" pitchFamily="34" charset="-122"/>
                <a:cs typeface="Calibri" pitchFamily="34" charset="-120"/>
              </a:rPr>
              <a:t>held for confirmed events</a:t>
            </a:r>
            <a:endParaRPr lang="en-US" sz="850" dirty="0"/>
          </a:p>
        </p:txBody>
      </p:sp>
      <p:sp>
        <p:nvSpPr>
          <p:cNvPr id="15" name="Shape 13"/>
          <p:cNvSpPr/>
          <p:nvPr/>
        </p:nvSpPr>
        <p:spPr>
          <a:xfrm>
            <a:off x="10363810" y="2194560"/>
            <a:ext cx="1249070" cy="713232"/>
          </a:xfrm>
          <a:prstGeom prst="rect">
            <a:avLst/>
          </a:prstGeom>
          <a:solidFill>
            <a:srgbClr val="F1F0EA"/>
          </a:solidFill>
          <a:ln w="12700">
            <a:solidFill>
              <a:srgbClr val="67736C"/>
            </a:solidFill>
            <a:prstDash val="solid"/>
          </a:ln>
        </p:spPr>
      </p:sp>
      <p:sp>
        <p:nvSpPr>
          <p:cNvPr id="16" name="Text 14"/>
          <p:cNvSpPr/>
          <p:nvPr/>
        </p:nvSpPr>
        <p:spPr>
          <a:xfrm>
            <a:off x="10400386" y="2267712"/>
            <a:ext cx="1175918" cy="274320"/>
          </a:xfrm>
          <a:prstGeom prst="rect">
            <a:avLst/>
          </a:prstGeom>
          <a:noFill/>
          <a:ln/>
        </p:spPr>
        <p:txBody>
          <a:bodyPr wrap="square" lIns="0" tIns="0" rIns="0" bIns="0" rtlCol="0" anchor="ctr"/>
          <a:lstStyle/>
          <a:p>
            <a:pPr algn="ctr" indent="0" marL="0">
              <a:buNone/>
            </a:pPr>
            <a:r>
              <a:rPr lang="en-US" sz="1200" b="1" dirty="0">
                <a:solidFill>
                  <a:srgbClr val="67736C"/>
                </a:solidFill>
                <a:latin typeface="Calibri" pitchFamily="34" charset="0"/>
                <a:ea typeface="Calibri" pitchFamily="34" charset="-122"/>
                <a:cs typeface="Calibri" pitchFamily="34" charset="-120"/>
              </a:rPr>
              <a:t>In transit · 70</a:t>
            </a:r>
            <a:endParaRPr lang="en-US" sz="1200" dirty="0"/>
          </a:p>
        </p:txBody>
      </p:sp>
      <p:sp>
        <p:nvSpPr>
          <p:cNvPr id="17" name="Text 15"/>
          <p:cNvSpPr/>
          <p:nvPr/>
        </p:nvSpPr>
        <p:spPr>
          <a:xfrm>
            <a:off x="10400386" y="2560320"/>
            <a:ext cx="1175918" cy="274320"/>
          </a:xfrm>
          <a:prstGeom prst="rect">
            <a:avLst/>
          </a:prstGeom>
          <a:noFill/>
          <a:ln/>
        </p:spPr>
        <p:txBody>
          <a:bodyPr wrap="square" lIns="0" tIns="0" rIns="0" bIns="0" rtlCol="0" anchor="ctr"/>
          <a:lstStyle/>
          <a:p>
            <a:pPr algn="ctr" indent="0" marL="0">
              <a:buNone/>
            </a:pPr>
            <a:r>
              <a:rPr lang="en-US" sz="850" dirty="0">
                <a:solidFill>
                  <a:srgbClr val="3D4A43"/>
                </a:solidFill>
                <a:latin typeface="Calibri" pitchFamily="34" charset="0"/>
                <a:ea typeface="Calibri" pitchFamily="34" charset="-122"/>
                <a:cs typeface="Calibri" pitchFamily="34" charset="-120"/>
              </a:rPr>
              <a:t>on the truck — sellable nowhere</a:t>
            </a:r>
            <a:endParaRPr lang="en-US" sz="850" dirty="0"/>
          </a:p>
        </p:txBody>
      </p:sp>
      <p:sp>
        <p:nvSpPr>
          <p:cNvPr id="18" name="Text 16"/>
          <p:cNvSpPr/>
          <p:nvPr/>
        </p:nvSpPr>
        <p:spPr>
          <a:xfrm>
            <a:off x="548640" y="2980944"/>
            <a:ext cx="6400800" cy="256032"/>
          </a:xfrm>
          <a:prstGeom prst="rect">
            <a:avLst/>
          </a:prstGeom>
          <a:noFill/>
          <a:ln/>
        </p:spPr>
        <p:txBody>
          <a:bodyPr wrap="square" lIns="0" tIns="0" rIns="0" bIns="0" rtlCol="0" anchor="ctr"/>
          <a:lstStyle/>
          <a:p>
            <a:pPr indent="0" marL="0">
              <a:buNone/>
            </a:pPr>
            <a:r>
              <a:rPr lang="en-US" sz="1150" b="1" dirty="0">
                <a:solidFill>
                  <a:srgbClr val="14201A"/>
                </a:solidFill>
                <a:latin typeface="Calibri" pitchFamily="34" charset="0"/>
                <a:ea typeface="Calibri" pitchFamily="34" charset="-122"/>
                <a:cs typeface="Calibri" pitchFamily="34" charset="-120"/>
              </a:rPr>
              <a:t>sellable  =  on hand  −  reserved  −  firm allocated</a:t>
            </a:r>
            <a:endParaRPr lang="en-US" sz="1150" dirty="0"/>
          </a:p>
        </p:txBody>
      </p:sp>
      <p:sp>
        <p:nvSpPr>
          <p:cNvPr id="19" name="Shape 17"/>
          <p:cNvSpPr/>
          <p:nvPr/>
        </p:nvSpPr>
        <p:spPr>
          <a:xfrm>
            <a:off x="548640" y="3401568"/>
            <a:ext cx="3493008" cy="1755648"/>
          </a:xfrm>
          <a:prstGeom prst="roundRect">
            <a:avLst>
              <a:gd name="adj" fmla="val 3125"/>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20" name="Text 18"/>
          <p:cNvSpPr/>
          <p:nvPr/>
        </p:nvSpPr>
        <p:spPr>
          <a:xfrm>
            <a:off x="768096" y="3529584"/>
            <a:ext cx="3108960" cy="274320"/>
          </a:xfrm>
          <a:prstGeom prst="rect">
            <a:avLst/>
          </a:prstGeom>
          <a:noFill/>
          <a:ln/>
        </p:spPr>
        <p:txBody>
          <a:bodyPr wrap="square" lIns="0" tIns="0" rIns="0" bIns="0" rtlCol="0" anchor="ctr"/>
          <a:lstStyle/>
          <a:p>
            <a:pPr indent="0" marL="0">
              <a:buNone/>
            </a:pPr>
            <a:r>
              <a:rPr lang="en-US" sz="1400" b="1" dirty="0">
                <a:solidFill>
                  <a:srgbClr val="1F7A4D"/>
                </a:solidFill>
                <a:latin typeface="Cambria" pitchFamily="34" charset="0"/>
                <a:ea typeface="Cambria" pitchFamily="34" charset="-122"/>
                <a:cs typeface="Cambria" pitchFamily="34" charset="-120"/>
              </a:rPr>
              <a:t>Already built and proven</a:t>
            </a:r>
            <a:endParaRPr lang="en-US" sz="1400" dirty="0"/>
          </a:p>
        </p:txBody>
      </p:sp>
      <p:sp>
        <p:nvSpPr>
          <p:cNvPr id="21" name="Text 19"/>
          <p:cNvSpPr/>
          <p:nvPr/>
        </p:nvSpPr>
        <p:spPr>
          <a:xfrm>
            <a:off x="768096" y="3840480"/>
            <a:ext cx="3108960" cy="1225296"/>
          </a:xfrm>
          <a:prstGeom prst="rect">
            <a:avLst/>
          </a:prstGeom>
          <a:noFill/>
          <a:ln/>
        </p:spPr>
        <p:txBody>
          <a:bodyPr wrap="square" lIns="0" tIns="0" rIns="0" bIns="0" rtlCol="0" anchor="ctr"/>
          <a:lstStyle/>
          <a:p>
            <a:pPr indent="0" marL="0">
              <a:lnSpc>
                <a:spcPct val="114000"/>
              </a:lnSpc>
              <a:buNone/>
            </a:pPr>
            <a:r>
              <a:rPr lang="en-US" sz="1000" dirty="0">
                <a:solidFill>
                  <a:srgbClr val="3D4A43"/>
                </a:solidFill>
                <a:latin typeface="Calibri" pitchFamily="34" charset="0"/>
                <a:ea typeface="Calibri" pitchFamily="34" charset="-122"/>
                <a:cs typeface="Calibri" pitchFamily="34" charset="-120"/>
              </a:rPr>
              <a:t>The oversell guard — one atomic reservation check, tested against 20 racing checkouts. Batches as rows, first-expiry-first-out picking, shelf-life sweeps, and a recall that produces a regulator-ready report.</a:t>
            </a:r>
            <a:endParaRPr lang="en-US" sz="1000" dirty="0"/>
          </a:p>
        </p:txBody>
      </p:sp>
      <p:sp>
        <p:nvSpPr>
          <p:cNvPr id="22" name="Shape 20"/>
          <p:cNvSpPr/>
          <p:nvPr/>
        </p:nvSpPr>
        <p:spPr>
          <a:xfrm>
            <a:off x="4270248" y="3401568"/>
            <a:ext cx="3493008" cy="1755648"/>
          </a:xfrm>
          <a:prstGeom prst="roundRect">
            <a:avLst>
              <a:gd name="adj" fmla="val 3125"/>
            </a:avLst>
          </a:prstGeom>
          <a:solidFill>
            <a:srgbClr val="F1F0EA"/>
          </a:solidFill>
          <a:ln w="12700">
            <a:solidFill>
              <a:srgbClr val="14201A"/>
            </a:solidFill>
            <a:prstDash val="solid"/>
          </a:ln>
          <a:effectLst>
            <a:outerShdw sx="100000" sy="100000" kx="0" ky="0" algn="bl" rotWithShape="0" blurRad="127000" dist="12700" dir="5400000">
              <a:srgbClr val="14201A">
                <a:alpha val="9000"/>
              </a:srgbClr>
            </a:outerShdw>
          </a:effectLst>
        </p:spPr>
      </p:sp>
      <p:sp>
        <p:nvSpPr>
          <p:cNvPr id="23" name="Text 21"/>
          <p:cNvSpPr/>
          <p:nvPr/>
        </p:nvSpPr>
        <p:spPr>
          <a:xfrm>
            <a:off x="4489704" y="3529584"/>
            <a:ext cx="3108960" cy="274320"/>
          </a:xfrm>
          <a:prstGeom prst="rect">
            <a:avLst/>
          </a:prstGeom>
          <a:noFill/>
          <a:ln/>
        </p:spPr>
        <p:txBody>
          <a:bodyPr wrap="square" lIns="0" tIns="0" rIns="0" bIns="0" rtlCol="0" anchor="ctr"/>
          <a:lstStyle/>
          <a:p>
            <a:pPr indent="0" marL="0">
              <a:buNone/>
            </a:pPr>
            <a:r>
              <a:rPr lang="en-US" sz="1400" b="1" dirty="0">
                <a:solidFill>
                  <a:srgbClr val="14201A"/>
                </a:solidFill>
                <a:latin typeface="Cambria" pitchFamily="34" charset="0"/>
                <a:ea typeface="Cambria" pitchFamily="34" charset="-122"/>
                <a:cs typeface="Cambria" pitchFamily="34" charset="-120"/>
              </a:rPr>
              <a:t>Computed, not guessed</a:t>
            </a:r>
            <a:endParaRPr lang="en-US" sz="1400" dirty="0"/>
          </a:p>
        </p:txBody>
      </p:sp>
      <p:sp>
        <p:nvSpPr>
          <p:cNvPr id="24" name="Text 22"/>
          <p:cNvSpPr/>
          <p:nvPr/>
        </p:nvSpPr>
        <p:spPr>
          <a:xfrm>
            <a:off x="4489704" y="3840480"/>
            <a:ext cx="3108960" cy="1225296"/>
          </a:xfrm>
          <a:prstGeom prst="rect">
            <a:avLst/>
          </a:prstGeom>
          <a:noFill/>
          <a:ln/>
        </p:spPr>
        <p:txBody>
          <a:bodyPr wrap="square" lIns="0" tIns="0" rIns="0" bIns="0" rtlCol="0" anchor="ctr"/>
          <a:lstStyle/>
          <a:p>
            <a:pPr indent="0" marL="0">
              <a:lnSpc>
                <a:spcPct val="114000"/>
              </a:lnSpc>
              <a:buNone/>
            </a:pPr>
            <a:r>
              <a:rPr lang="en-US" sz="1000" dirty="0">
                <a:solidFill>
                  <a:srgbClr val="3D4A43"/>
                </a:solidFill>
                <a:latin typeface="Calibri" pitchFamily="34" charset="0"/>
                <a:ea typeface="Calibri" pitchFamily="34" charset="-122"/>
                <a:cs typeface="Calibri" pitchFamily="34" charset="-120"/>
              </a:rPr>
              <a:t>Reorder point = average daily sell-through × lead time + safety stock, per branch, per product, on a rolling window. The hub decides what each branch needs; the branch does not guess.</a:t>
            </a:r>
            <a:endParaRPr lang="en-US" sz="1000" dirty="0"/>
          </a:p>
        </p:txBody>
      </p:sp>
      <p:sp>
        <p:nvSpPr>
          <p:cNvPr id="25" name="Shape 23"/>
          <p:cNvSpPr/>
          <p:nvPr/>
        </p:nvSpPr>
        <p:spPr>
          <a:xfrm>
            <a:off x="7991856" y="3401568"/>
            <a:ext cx="3493008" cy="1755648"/>
          </a:xfrm>
          <a:prstGeom prst="roundRect">
            <a:avLst>
              <a:gd name="adj" fmla="val 3125"/>
            </a:avLst>
          </a:prstGeom>
          <a:solidFill>
            <a:srgbClr val="F5E2E0"/>
          </a:solidFill>
          <a:ln w="12700">
            <a:solidFill>
              <a:srgbClr val="A33228"/>
            </a:solidFill>
            <a:prstDash val="solid"/>
          </a:ln>
          <a:effectLst>
            <a:outerShdw sx="100000" sy="100000" kx="0" ky="0" algn="bl" rotWithShape="0" blurRad="127000" dist="12700" dir="5400000">
              <a:srgbClr val="14201A">
                <a:alpha val="9000"/>
              </a:srgbClr>
            </a:outerShdw>
          </a:effectLst>
        </p:spPr>
      </p:sp>
      <p:sp>
        <p:nvSpPr>
          <p:cNvPr id="26" name="Text 24"/>
          <p:cNvSpPr/>
          <p:nvPr/>
        </p:nvSpPr>
        <p:spPr>
          <a:xfrm>
            <a:off x="8211312" y="3529584"/>
            <a:ext cx="3108960" cy="274320"/>
          </a:xfrm>
          <a:prstGeom prst="rect">
            <a:avLst/>
          </a:prstGeom>
          <a:noFill/>
          <a:ln/>
        </p:spPr>
        <p:txBody>
          <a:bodyPr wrap="square" lIns="0" tIns="0" rIns="0" bIns="0" rtlCol="0" anchor="ctr"/>
          <a:lstStyle/>
          <a:p>
            <a:pPr indent="0" marL="0">
              <a:buNone/>
            </a:pPr>
            <a:r>
              <a:rPr lang="en-US" sz="1400" b="1" dirty="0">
                <a:solidFill>
                  <a:srgbClr val="A33228"/>
                </a:solidFill>
                <a:latin typeface="Cambria" pitchFamily="34" charset="0"/>
                <a:ea typeface="Cambria" pitchFamily="34" charset="-122"/>
                <a:cs typeface="Cambria" pitchFamily="34" charset="-120"/>
              </a:rPr>
              <a:t>The quiet killer</a:t>
            </a:r>
            <a:endParaRPr lang="en-US" sz="1400" dirty="0"/>
          </a:p>
        </p:txBody>
      </p:sp>
      <p:sp>
        <p:nvSpPr>
          <p:cNvPr id="27" name="Text 25"/>
          <p:cNvSpPr/>
          <p:nvPr/>
        </p:nvSpPr>
        <p:spPr>
          <a:xfrm>
            <a:off x="8211312" y="3840480"/>
            <a:ext cx="3108960" cy="1225296"/>
          </a:xfrm>
          <a:prstGeom prst="rect">
            <a:avLst/>
          </a:prstGeom>
          <a:noFill/>
          <a:ln/>
        </p:spPr>
        <p:txBody>
          <a:bodyPr wrap="square" lIns="0" tIns="0" rIns="0" bIns="0" rtlCol="0" anchor="ctr"/>
          <a:lstStyle/>
          <a:p>
            <a:pPr indent="0" marL="0">
              <a:lnSpc>
                <a:spcPct val="114000"/>
              </a:lnSpc>
              <a:buNone/>
            </a:pPr>
            <a:r>
              <a:rPr lang="en-US" sz="1000" dirty="0">
                <a:solidFill>
                  <a:srgbClr val="3D4A43"/>
                </a:solidFill>
                <a:latin typeface="Calibri" pitchFamily="34" charset="0"/>
                <a:ea typeface="Calibri" pitchFamily="34" charset="-122"/>
                <a:cs typeface="Calibri" pitchFamily="34" charset="-120"/>
              </a:rPr>
              <a:t>A walk-in buying 5 kg of atta removes stock the system still believes is there. Unrecorded, that error compounds daily and breaks allocation, replenishment and valuation at once — so counter sales are recorded from day one.</a:t>
            </a:r>
            <a:endParaRPr lang="en-US" sz="1000" dirty="0"/>
          </a:p>
        </p:txBody>
      </p:sp>
      <p:sp>
        <p:nvSpPr>
          <p:cNvPr id="28" name="Shape 26"/>
          <p:cNvSpPr/>
          <p:nvPr/>
        </p:nvSpPr>
        <p:spPr>
          <a:xfrm>
            <a:off x="548640" y="5285232"/>
            <a:ext cx="2560320" cy="804672"/>
          </a:xfrm>
          <a:prstGeom prst="roundRect">
            <a:avLst>
              <a:gd name="adj" fmla="val 681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9" name="Text 27"/>
          <p:cNvSpPr/>
          <p:nvPr/>
        </p:nvSpPr>
        <p:spPr>
          <a:xfrm>
            <a:off x="731520" y="5358384"/>
            <a:ext cx="1188720" cy="329184"/>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 98%</a:t>
            </a:r>
            <a:endParaRPr lang="en-US" sz="1800" dirty="0"/>
          </a:p>
        </p:txBody>
      </p:sp>
      <p:sp>
        <p:nvSpPr>
          <p:cNvPr id="30" name="Text 28"/>
          <p:cNvSpPr/>
          <p:nvPr/>
        </p:nvSpPr>
        <p:spPr>
          <a:xfrm>
            <a:off x="731520" y="5687568"/>
            <a:ext cx="219456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stock accuracy</a:t>
            </a:r>
            <a:endParaRPr lang="en-US" sz="1000" dirty="0"/>
          </a:p>
        </p:txBody>
      </p:sp>
      <p:sp>
        <p:nvSpPr>
          <p:cNvPr id="31" name="Shape 29"/>
          <p:cNvSpPr/>
          <p:nvPr/>
        </p:nvSpPr>
        <p:spPr>
          <a:xfrm>
            <a:off x="3360420" y="5285232"/>
            <a:ext cx="2560320" cy="804672"/>
          </a:xfrm>
          <a:prstGeom prst="roundRect">
            <a:avLst>
              <a:gd name="adj" fmla="val 681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2" name="Text 30"/>
          <p:cNvSpPr/>
          <p:nvPr/>
        </p:nvSpPr>
        <p:spPr>
          <a:xfrm>
            <a:off x="3543300" y="5358384"/>
            <a:ext cx="1188720" cy="329184"/>
          </a:xfrm>
          <a:prstGeom prst="rect">
            <a:avLst/>
          </a:prstGeom>
          <a:noFill/>
          <a:ln/>
        </p:spPr>
        <p:txBody>
          <a:bodyPr wrap="square" lIns="0" tIns="0" rIns="0" bIns="0" rtlCol="0" anchor="ctr"/>
          <a:lstStyle/>
          <a:p>
            <a:pPr indent="0" marL="0">
              <a:buNone/>
            </a:pPr>
            <a:r>
              <a:rPr lang="en-US" sz="1800" b="1" dirty="0">
                <a:solidFill>
                  <a:srgbClr val="A33228"/>
                </a:solidFill>
                <a:latin typeface="Cambria" pitchFamily="34" charset="0"/>
                <a:ea typeface="Cambria" pitchFamily="34" charset="-122"/>
                <a:cs typeface="Cambria" pitchFamily="34" charset="-120"/>
              </a:rPr>
              <a:t>&lt; 8%</a:t>
            </a:r>
            <a:endParaRPr lang="en-US" sz="1800" dirty="0"/>
          </a:p>
        </p:txBody>
      </p:sp>
      <p:sp>
        <p:nvSpPr>
          <p:cNvPr id="33" name="Text 31"/>
          <p:cNvSpPr/>
          <p:nvPr/>
        </p:nvSpPr>
        <p:spPr>
          <a:xfrm>
            <a:off x="3543300" y="5687568"/>
            <a:ext cx="219456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fresh produce wastage</a:t>
            </a:r>
            <a:endParaRPr lang="en-US" sz="1000" dirty="0"/>
          </a:p>
        </p:txBody>
      </p:sp>
      <p:sp>
        <p:nvSpPr>
          <p:cNvPr id="34" name="Shape 32"/>
          <p:cNvSpPr/>
          <p:nvPr/>
        </p:nvSpPr>
        <p:spPr>
          <a:xfrm>
            <a:off x="6172200" y="5285232"/>
            <a:ext cx="2560320" cy="804672"/>
          </a:xfrm>
          <a:prstGeom prst="roundRect">
            <a:avLst>
              <a:gd name="adj" fmla="val 681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5" name="Text 33"/>
          <p:cNvSpPr/>
          <p:nvPr/>
        </p:nvSpPr>
        <p:spPr>
          <a:xfrm>
            <a:off x="6355080" y="5358384"/>
            <a:ext cx="1188720" cy="329184"/>
          </a:xfrm>
          <a:prstGeom prst="rect">
            <a:avLst/>
          </a:prstGeom>
          <a:noFill/>
          <a:ln/>
        </p:spPr>
        <p:txBody>
          <a:bodyPr wrap="square" lIns="0" tIns="0" rIns="0" bIns="0" rtlCol="0" anchor="ctr"/>
          <a:lstStyle/>
          <a:p>
            <a:pPr indent="0" marL="0">
              <a:buNone/>
            </a:pPr>
            <a:r>
              <a:rPr lang="en-US" sz="1800" b="1" dirty="0">
                <a:solidFill>
                  <a:srgbClr val="9E5E10"/>
                </a:solidFill>
                <a:latin typeface="Cambria" pitchFamily="34" charset="0"/>
                <a:ea typeface="Cambria" pitchFamily="34" charset="-122"/>
                <a:cs typeface="Cambria" pitchFamily="34" charset="-120"/>
              </a:rPr>
              <a:t>&lt; 3%</a:t>
            </a:r>
            <a:endParaRPr lang="en-US" sz="1800" dirty="0"/>
          </a:p>
        </p:txBody>
      </p:sp>
      <p:sp>
        <p:nvSpPr>
          <p:cNvPr id="36" name="Text 34"/>
          <p:cNvSpPr/>
          <p:nvPr/>
        </p:nvSpPr>
        <p:spPr>
          <a:xfrm>
            <a:off x="6355080" y="5687568"/>
            <a:ext cx="219456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dead stock over 60 days</a:t>
            </a:r>
            <a:endParaRPr lang="en-US" sz="1000" dirty="0"/>
          </a:p>
        </p:txBody>
      </p:sp>
      <p:sp>
        <p:nvSpPr>
          <p:cNvPr id="37" name="Shape 35"/>
          <p:cNvSpPr/>
          <p:nvPr/>
        </p:nvSpPr>
        <p:spPr>
          <a:xfrm>
            <a:off x="8983980" y="5285232"/>
            <a:ext cx="2560320" cy="804672"/>
          </a:xfrm>
          <a:prstGeom prst="roundRect">
            <a:avLst>
              <a:gd name="adj" fmla="val 6818"/>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8" name="Text 36"/>
          <p:cNvSpPr/>
          <p:nvPr/>
        </p:nvSpPr>
        <p:spPr>
          <a:xfrm>
            <a:off x="9166860" y="5358384"/>
            <a:ext cx="1188720" cy="329184"/>
          </a:xfrm>
          <a:prstGeom prst="rect">
            <a:avLst/>
          </a:prstGeom>
          <a:noFill/>
          <a:ln/>
        </p:spPr>
        <p:txBody>
          <a:bodyPr wrap="square" lIns="0" tIns="0" rIns="0" bIns="0" rtlCol="0" anchor="ctr"/>
          <a:lstStyle/>
          <a:p>
            <a:pPr indent="0" marL="0">
              <a:buNone/>
            </a:pPr>
            <a:r>
              <a:rPr lang="en-US" sz="1800" b="1" dirty="0">
                <a:solidFill>
                  <a:srgbClr val="1F7A4D"/>
                </a:solidFill>
                <a:latin typeface="Cambria" pitchFamily="34" charset="0"/>
                <a:ea typeface="Cambria" pitchFamily="34" charset="-122"/>
                <a:cs typeface="Cambria" pitchFamily="34" charset="-120"/>
              </a:rPr>
              <a:t>&lt; 2%</a:t>
            </a:r>
            <a:endParaRPr lang="en-US" sz="1800" dirty="0"/>
          </a:p>
        </p:txBody>
      </p:sp>
      <p:sp>
        <p:nvSpPr>
          <p:cNvPr id="39" name="Text 37"/>
          <p:cNvSpPr/>
          <p:nvPr/>
        </p:nvSpPr>
        <p:spPr>
          <a:xfrm>
            <a:off x="9166860" y="5687568"/>
            <a:ext cx="219456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stock-outs on A-class items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MONEY AND CREDIT</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A ledger that cannot lie</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Every rupee that moves posts a balanced double-entry transaction — refused in code, refused by the service, and refused again by the database. Margin and receivables are computed from the ledger, never summed from order rows.</a:t>
            </a:r>
            <a:endParaRPr lang="en-US" sz="1400" dirty="0"/>
          </a:p>
        </p:txBody>
      </p:sp>
      <p:sp>
        <p:nvSpPr>
          <p:cNvPr id="5" name="Shape 3"/>
          <p:cNvSpPr/>
          <p:nvPr/>
        </p:nvSpPr>
        <p:spPr>
          <a:xfrm>
            <a:off x="548640" y="2011680"/>
            <a:ext cx="5989320" cy="2788920"/>
          </a:xfrm>
          <a:prstGeom prst="roundRect">
            <a:avLst>
              <a:gd name="adj" fmla="val 1967"/>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Text 4"/>
          <p:cNvSpPr/>
          <p:nvPr/>
        </p:nvSpPr>
        <p:spPr>
          <a:xfrm>
            <a:off x="777240" y="2121408"/>
            <a:ext cx="5486400" cy="237744"/>
          </a:xfrm>
          <a:prstGeom prst="rect">
            <a:avLst/>
          </a:prstGeom>
          <a:noFill/>
          <a:ln/>
        </p:spPr>
        <p:txBody>
          <a:bodyPr wrap="square" lIns="0" tIns="0" rIns="0" bIns="0" rtlCol="0" anchor="ctr"/>
          <a:lstStyle/>
          <a:p>
            <a:pPr indent="0" marL="0">
              <a:buNone/>
            </a:pPr>
            <a:r>
              <a:rPr lang="en-US" sz="950" b="1" spc="120" kern="0" dirty="0">
                <a:solidFill>
                  <a:srgbClr val="67736C"/>
                </a:solidFill>
                <a:latin typeface="Calibri" pitchFamily="34" charset="0"/>
                <a:ea typeface="Calibri" pitchFamily="34" charset="-122"/>
                <a:cs typeface="Calibri" pitchFamily="34" charset="-120"/>
              </a:rPr>
              <a:t>ONE CREDIT SALE, FOLLOWED THROUGH</a:t>
            </a:r>
            <a:endParaRPr lang="en-US" sz="950" dirty="0"/>
          </a:p>
        </p:txBody>
      </p:sp>
      <p:sp>
        <p:nvSpPr>
          <p:cNvPr id="7" name="Text 5"/>
          <p:cNvSpPr/>
          <p:nvPr/>
        </p:nvSpPr>
        <p:spPr>
          <a:xfrm>
            <a:off x="777240" y="2432304"/>
            <a:ext cx="4206240" cy="256032"/>
          </a:xfrm>
          <a:prstGeom prst="rect">
            <a:avLst/>
          </a:prstGeom>
          <a:noFill/>
          <a:ln/>
        </p:spPr>
        <p:txBody>
          <a:bodyPr wrap="square" lIns="0" tIns="0" rIns="0" bIns="0" rtlCol="0" anchor="ctr"/>
          <a:lstStyle/>
          <a:p>
            <a:pPr indent="0" marL="0">
              <a:buNone/>
            </a:pPr>
            <a:r>
              <a:rPr lang="en-US" sz="1050" dirty="0">
                <a:solidFill>
                  <a:srgbClr val="14201A"/>
                </a:solidFill>
                <a:latin typeface="Courier New" pitchFamily="34" charset="0"/>
                <a:ea typeface="Courier New" pitchFamily="34" charset="-122"/>
                <a:cs typeface="Courier New" pitchFamily="34" charset="-120"/>
              </a:rPr>
              <a:t>Dr   customer receivable</a:t>
            </a:r>
            <a:endParaRPr lang="en-US" sz="1050" dirty="0"/>
          </a:p>
        </p:txBody>
      </p:sp>
      <p:sp>
        <p:nvSpPr>
          <p:cNvPr id="8" name="Text 6"/>
          <p:cNvSpPr/>
          <p:nvPr/>
        </p:nvSpPr>
        <p:spPr>
          <a:xfrm>
            <a:off x="4983480" y="2432304"/>
            <a:ext cx="1325880" cy="256032"/>
          </a:xfrm>
          <a:prstGeom prst="rect">
            <a:avLst/>
          </a:prstGeom>
          <a:noFill/>
          <a:ln/>
        </p:spPr>
        <p:txBody>
          <a:bodyPr wrap="square" lIns="0" tIns="0" rIns="0" bIns="0" rtlCol="0" anchor="ctr"/>
          <a:lstStyle/>
          <a:p>
            <a:pPr algn="r" indent="0" marL="0">
              <a:buNone/>
            </a:pPr>
            <a:r>
              <a:rPr lang="en-US" sz="1050" dirty="0">
                <a:solidFill>
                  <a:srgbClr val="14201A"/>
                </a:solidFill>
                <a:latin typeface="Courier New" pitchFamily="34" charset="0"/>
                <a:ea typeface="Courier New" pitchFamily="34" charset="-122"/>
                <a:cs typeface="Courier New" pitchFamily="34" charset="-120"/>
              </a:rPr>
              <a:t>12,600</a:t>
            </a:r>
            <a:endParaRPr lang="en-US" sz="1050" dirty="0"/>
          </a:p>
        </p:txBody>
      </p:sp>
      <p:sp>
        <p:nvSpPr>
          <p:cNvPr id="9" name="Text 7"/>
          <p:cNvSpPr/>
          <p:nvPr/>
        </p:nvSpPr>
        <p:spPr>
          <a:xfrm>
            <a:off x="777240" y="2706624"/>
            <a:ext cx="4206240" cy="256032"/>
          </a:xfrm>
          <a:prstGeom prst="rect">
            <a:avLst/>
          </a:prstGeom>
          <a:noFill/>
          <a:ln/>
        </p:spPr>
        <p:txBody>
          <a:bodyPr wrap="square" lIns="0" tIns="0" rIns="0" bIns="0" rtlCol="0" anchor="ctr"/>
          <a:lstStyle/>
          <a:p>
            <a:pPr indent="0" marL="0">
              <a:buNone/>
            </a:pPr>
            <a:r>
              <a:rPr lang="en-US" sz="1050" dirty="0">
                <a:solidFill>
                  <a:srgbClr val="67736C"/>
                </a:solidFill>
                <a:latin typeface="Courier New" pitchFamily="34" charset="0"/>
                <a:ea typeface="Courier New" pitchFamily="34" charset="-122"/>
                <a:cs typeface="Courier New" pitchFamily="34" charset="-120"/>
              </a:rPr>
              <a:t>       Cr   sales revenue</a:t>
            </a:r>
            <a:endParaRPr lang="en-US" sz="1050" dirty="0"/>
          </a:p>
        </p:txBody>
      </p:sp>
      <p:sp>
        <p:nvSpPr>
          <p:cNvPr id="10" name="Text 8"/>
          <p:cNvSpPr/>
          <p:nvPr/>
        </p:nvSpPr>
        <p:spPr>
          <a:xfrm>
            <a:off x="4983480" y="2706624"/>
            <a:ext cx="1325880" cy="256032"/>
          </a:xfrm>
          <a:prstGeom prst="rect">
            <a:avLst/>
          </a:prstGeom>
          <a:noFill/>
          <a:ln/>
        </p:spPr>
        <p:txBody>
          <a:bodyPr wrap="square" lIns="0" tIns="0" rIns="0" bIns="0" rtlCol="0" anchor="ctr"/>
          <a:lstStyle/>
          <a:p>
            <a:pPr algn="r" indent="0" marL="0">
              <a:buNone/>
            </a:pPr>
            <a:r>
              <a:rPr lang="en-US" sz="1050" dirty="0">
                <a:solidFill>
                  <a:srgbClr val="67736C"/>
                </a:solidFill>
                <a:latin typeface="Courier New" pitchFamily="34" charset="0"/>
                <a:ea typeface="Courier New" pitchFamily="34" charset="-122"/>
                <a:cs typeface="Courier New" pitchFamily="34" charset="-120"/>
              </a:rPr>
              <a:t>12,000</a:t>
            </a:r>
            <a:endParaRPr lang="en-US" sz="1050" dirty="0"/>
          </a:p>
        </p:txBody>
      </p:sp>
      <p:sp>
        <p:nvSpPr>
          <p:cNvPr id="11" name="Text 9"/>
          <p:cNvSpPr/>
          <p:nvPr/>
        </p:nvSpPr>
        <p:spPr>
          <a:xfrm>
            <a:off x="777240" y="2980944"/>
            <a:ext cx="4206240" cy="256032"/>
          </a:xfrm>
          <a:prstGeom prst="rect">
            <a:avLst/>
          </a:prstGeom>
          <a:noFill/>
          <a:ln/>
        </p:spPr>
        <p:txBody>
          <a:bodyPr wrap="square" lIns="0" tIns="0" rIns="0" bIns="0" rtlCol="0" anchor="ctr"/>
          <a:lstStyle/>
          <a:p>
            <a:pPr indent="0" marL="0">
              <a:buNone/>
            </a:pPr>
            <a:r>
              <a:rPr lang="en-US" sz="1050" dirty="0">
                <a:solidFill>
                  <a:srgbClr val="67736C"/>
                </a:solidFill>
                <a:latin typeface="Courier New" pitchFamily="34" charset="0"/>
                <a:ea typeface="Courier New" pitchFamily="34" charset="-122"/>
                <a:cs typeface="Courier New" pitchFamily="34" charset="-120"/>
              </a:rPr>
              <a:t>       Cr   GST payable</a:t>
            </a:r>
            <a:endParaRPr lang="en-US" sz="1050" dirty="0"/>
          </a:p>
        </p:txBody>
      </p:sp>
      <p:sp>
        <p:nvSpPr>
          <p:cNvPr id="12" name="Text 10"/>
          <p:cNvSpPr/>
          <p:nvPr/>
        </p:nvSpPr>
        <p:spPr>
          <a:xfrm>
            <a:off x="4983480" y="2980944"/>
            <a:ext cx="1325880" cy="256032"/>
          </a:xfrm>
          <a:prstGeom prst="rect">
            <a:avLst/>
          </a:prstGeom>
          <a:noFill/>
          <a:ln/>
        </p:spPr>
        <p:txBody>
          <a:bodyPr wrap="square" lIns="0" tIns="0" rIns="0" bIns="0" rtlCol="0" anchor="ctr"/>
          <a:lstStyle/>
          <a:p>
            <a:pPr algn="r" indent="0" marL="0">
              <a:buNone/>
            </a:pPr>
            <a:r>
              <a:rPr lang="en-US" sz="1050" dirty="0">
                <a:solidFill>
                  <a:srgbClr val="67736C"/>
                </a:solidFill>
                <a:latin typeface="Courier New" pitchFamily="34" charset="0"/>
                <a:ea typeface="Courier New" pitchFamily="34" charset="-122"/>
                <a:cs typeface="Courier New" pitchFamily="34" charset="-120"/>
              </a:rPr>
              <a:t>600</a:t>
            </a:r>
            <a:endParaRPr lang="en-US" sz="1050" dirty="0"/>
          </a:p>
        </p:txBody>
      </p:sp>
      <p:sp>
        <p:nvSpPr>
          <p:cNvPr id="13" name="Text 11"/>
          <p:cNvSpPr/>
          <p:nvPr/>
        </p:nvSpPr>
        <p:spPr>
          <a:xfrm>
            <a:off x="777240" y="3255264"/>
            <a:ext cx="4206240" cy="256032"/>
          </a:xfrm>
          <a:prstGeom prst="rect">
            <a:avLst/>
          </a:prstGeom>
          <a:noFill/>
          <a:ln/>
        </p:spPr>
        <p:txBody>
          <a:bodyPr wrap="square" lIns="0" tIns="0" rIns="0" bIns="0" rtlCol="0" anchor="ctr"/>
          <a:lstStyle/>
          <a:p>
            <a:pPr indent="0" marL="0">
              <a:buNone/>
            </a:pPr>
            <a:r>
              <a:rPr lang="en-US" sz="1050" dirty="0">
                <a:solidFill>
                  <a:srgbClr val="14201A"/>
                </a:solidFill>
                <a:latin typeface="Courier New" pitchFamily="34" charset="0"/>
                <a:ea typeface="Courier New" pitchFamily="34" charset="-122"/>
                <a:cs typeface="Courier New" pitchFamily="34" charset="-120"/>
              </a:rPr>
              <a:t>Dr   cost of goods</a:t>
            </a:r>
            <a:endParaRPr lang="en-US" sz="1050" dirty="0"/>
          </a:p>
        </p:txBody>
      </p:sp>
      <p:sp>
        <p:nvSpPr>
          <p:cNvPr id="14" name="Text 12"/>
          <p:cNvSpPr/>
          <p:nvPr/>
        </p:nvSpPr>
        <p:spPr>
          <a:xfrm>
            <a:off x="4983480" y="3255264"/>
            <a:ext cx="1325880" cy="256032"/>
          </a:xfrm>
          <a:prstGeom prst="rect">
            <a:avLst/>
          </a:prstGeom>
          <a:noFill/>
          <a:ln/>
        </p:spPr>
        <p:txBody>
          <a:bodyPr wrap="square" lIns="0" tIns="0" rIns="0" bIns="0" rtlCol="0" anchor="ctr"/>
          <a:lstStyle/>
          <a:p>
            <a:pPr algn="r" indent="0" marL="0">
              <a:buNone/>
            </a:pPr>
            <a:r>
              <a:rPr lang="en-US" sz="1050" dirty="0">
                <a:solidFill>
                  <a:srgbClr val="14201A"/>
                </a:solidFill>
                <a:latin typeface="Courier New" pitchFamily="34" charset="0"/>
                <a:ea typeface="Courier New" pitchFamily="34" charset="-122"/>
                <a:cs typeface="Courier New" pitchFamily="34" charset="-120"/>
              </a:rPr>
              <a:t>10,800</a:t>
            </a:r>
            <a:endParaRPr lang="en-US" sz="1050" dirty="0"/>
          </a:p>
        </p:txBody>
      </p:sp>
      <p:sp>
        <p:nvSpPr>
          <p:cNvPr id="15" name="Text 13"/>
          <p:cNvSpPr/>
          <p:nvPr/>
        </p:nvSpPr>
        <p:spPr>
          <a:xfrm>
            <a:off x="777240" y="3529584"/>
            <a:ext cx="4206240" cy="256032"/>
          </a:xfrm>
          <a:prstGeom prst="rect">
            <a:avLst/>
          </a:prstGeom>
          <a:noFill/>
          <a:ln/>
        </p:spPr>
        <p:txBody>
          <a:bodyPr wrap="square" lIns="0" tIns="0" rIns="0" bIns="0" rtlCol="0" anchor="ctr"/>
          <a:lstStyle/>
          <a:p>
            <a:pPr indent="0" marL="0">
              <a:buNone/>
            </a:pPr>
            <a:r>
              <a:rPr lang="en-US" sz="1050" dirty="0">
                <a:solidFill>
                  <a:srgbClr val="67736C"/>
                </a:solidFill>
                <a:latin typeface="Courier New" pitchFamily="34" charset="0"/>
                <a:ea typeface="Courier New" pitchFamily="34" charset="-122"/>
                <a:cs typeface="Courier New" pitchFamily="34" charset="-120"/>
              </a:rPr>
              <a:t>       Cr   inventory (branch)</a:t>
            </a:r>
            <a:endParaRPr lang="en-US" sz="1050" dirty="0"/>
          </a:p>
        </p:txBody>
      </p:sp>
      <p:sp>
        <p:nvSpPr>
          <p:cNvPr id="16" name="Text 14"/>
          <p:cNvSpPr/>
          <p:nvPr/>
        </p:nvSpPr>
        <p:spPr>
          <a:xfrm>
            <a:off x="4983480" y="3529584"/>
            <a:ext cx="1325880" cy="256032"/>
          </a:xfrm>
          <a:prstGeom prst="rect">
            <a:avLst/>
          </a:prstGeom>
          <a:noFill/>
          <a:ln/>
        </p:spPr>
        <p:txBody>
          <a:bodyPr wrap="square" lIns="0" tIns="0" rIns="0" bIns="0" rtlCol="0" anchor="ctr"/>
          <a:lstStyle/>
          <a:p>
            <a:pPr algn="r" indent="0" marL="0">
              <a:buNone/>
            </a:pPr>
            <a:r>
              <a:rPr lang="en-US" sz="1050" dirty="0">
                <a:solidFill>
                  <a:srgbClr val="67736C"/>
                </a:solidFill>
                <a:latin typeface="Courier New" pitchFamily="34" charset="0"/>
                <a:ea typeface="Courier New" pitchFamily="34" charset="-122"/>
                <a:cs typeface="Courier New" pitchFamily="34" charset="-120"/>
              </a:rPr>
              <a:t>10,800</a:t>
            </a:r>
            <a:endParaRPr lang="en-US" sz="1050" dirty="0"/>
          </a:p>
        </p:txBody>
      </p:sp>
      <p:sp>
        <p:nvSpPr>
          <p:cNvPr id="17" name="Text 15"/>
          <p:cNvSpPr/>
          <p:nvPr/>
        </p:nvSpPr>
        <p:spPr>
          <a:xfrm>
            <a:off x="777240" y="3913632"/>
            <a:ext cx="5486400" cy="256032"/>
          </a:xfrm>
          <a:prstGeom prst="rect">
            <a:avLst/>
          </a:prstGeom>
          <a:noFill/>
          <a:ln/>
        </p:spPr>
        <p:txBody>
          <a:bodyPr wrap="square" lIns="0" tIns="0" rIns="0" bIns="0" rtlCol="0" anchor="ctr"/>
          <a:lstStyle/>
          <a:p>
            <a:pPr indent="0" marL="0">
              <a:buNone/>
            </a:pPr>
            <a:r>
              <a:rPr lang="en-US" sz="1100" b="1" dirty="0">
                <a:solidFill>
                  <a:srgbClr val="1F7A4D"/>
                </a:solidFill>
                <a:latin typeface="Calibri" pitchFamily="34" charset="0"/>
                <a:ea typeface="Calibri" pitchFamily="34" charset="-122"/>
                <a:cs typeface="Calibri" pitchFamily="34" charset="-120"/>
              </a:rPr>
              <a:t>→  gross margin ₹1,200 falls straight out of the ledger</a:t>
            </a:r>
            <a:endParaRPr lang="en-US" sz="1100" dirty="0"/>
          </a:p>
        </p:txBody>
      </p:sp>
      <p:sp>
        <p:nvSpPr>
          <p:cNvPr id="18" name="Shape 16"/>
          <p:cNvSpPr/>
          <p:nvPr/>
        </p:nvSpPr>
        <p:spPr>
          <a:xfrm>
            <a:off x="548640" y="4956048"/>
            <a:ext cx="5989320" cy="1143000"/>
          </a:xfrm>
          <a:prstGeom prst="roundRect">
            <a:avLst>
              <a:gd name="adj" fmla="val 4800"/>
            </a:avLst>
          </a:prstGeom>
          <a:solidFill>
            <a:srgbClr val="E0EFE6"/>
          </a:solidFill>
          <a:ln w="12700">
            <a:solidFill>
              <a:srgbClr val="1F7A4D"/>
            </a:solidFill>
            <a:prstDash val="solid"/>
          </a:ln>
          <a:effectLst>
            <a:outerShdw sx="100000" sy="100000" kx="0" ky="0" algn="bl" rotWithShape="0" blurRad="127000" dist="12700" dir="5400000">
              <a:srgbClr val="14201A">
                <a:alpha val="9000"/>
              </a:srgbClr>
            </a:outerShdw>
          </a:effectLst>
        </p:spPr>
      </p:sp>
      <p:sp>
        <p:nvSpPr>
          <p:cNvPr id="19" name="Text 17"/>
          <p:cNvSpPr/>
          <p:nvPr/>
        </p:nvSpPr>
        <p:spPr>
          <a:xfrm>
            <a:off x="777240" y="5047488"/>
            <a:ext cx="5486400" cy="256032"/>
          </a:xfrm>
          <a:prstGeom prst="rect">
            <a:avLst/>
          </a:prstGeom>
          <a:noFill/>
          <a:ln/>
        </p:spPr>
        <p:txBody>
          <a:bodyPr wrap="square" lIns="0" tIns="0" rIns="0" bIns="0" rtlCol="0" anchor="ctr"/>
          <a:lstStyle/>
          <a:p>
            <a:pPr indent="0" marL="0">
              <a:buNone/>
            </a:pPr>
            <a:r>
              <a:rPr lang="en-US" sz="1200" b="1" dirty="0">
                <a:solidFill>
                  <a:srgbClr val="1F7A4D"/>
                </a:solidFill>
                <a:latin typeface="Calibri" pitchFamily="34" charset="0"/>
                <a:ea typeface="Calibri" pitchFamily="34" charset="-122"/>
                <a:cs typeface="Calibri" pitchFamily="34" charset="-120"/>
              </a:rPr>
              <a:t>Two controls fall out for free</a:t>
            </a:r>
            <a:endParaRPr lang="en-US" sz="1200" dirty="0"/>
          </a:p>
        </p:txBody>
      </p:sp>
      <p:sp>
        <p:nvSpPr>
          <p:cNvPr id="20" name="Text 18"/>
          <p:cNvSpPr/>
          <p:nvPr/>
        </p:nvSpPr>
        <p:spPr>
          <a:xfrm>
            <a:off x="777240" y="5303520"/>
            <a:ext cx="5532120" cy="694944"/>
          </a:xfrm>
          <a:prstGeom prst="rect">
            <a:avLst/>
          </a:prstGeom>
          <a:noFill/>
          <a:ln/>
        </p:spPr>
        <p:txBody>
          <a:bodyPr wrap="square" lIns="0" tIns="0" rIns="0" bIns="0" rtlCol="0" anchor="ctr"/>
          <a:lstStyle/>
          <a:p>
            <a:pPr indent="0" marL="0">
              <a:lnSpc>
                <a:spcPct val="112000"/>
              </a:lnSpc>
              <a:buNone/>
            </a:pPr>
            <a:r>
              <a:rPr lang="en-US" sz="1050" dirty="0">
                <a:solidFill>
                  <a:srgbClr val="3D4A43"/>
                </a:solidFill>
                <a:latin typeface="Calibri" pitchFamily="34" charset="0"/>
                <a:ea typeface="Calibri" pitchFamily="34" charset="-122"/>
                <a:cs typeface="Calibri" pitchFamily="34" charset="-120"/>
              </a:rPr>
              <a:t>A receivable past its due date is the overdue amount. Cash in transit past the deposit deadline is the driver's shortfall. Both surface automatically — no reconciliation spreadsheet exists anywhere in this business.</a:t>
            </a:r>
            <a:endParaRPr lang="en-US" sz="1050" dirty="0"/>
          </a:p>
        </p:txBody>
      </p:sp>
      <p:sp>
        <p:nvSpPr>
          <p:cNvPr id="21" name="Text 19"/>
          <p:cNvSpPr/>
          <p:nvPr/>
        </p:nvSpPr>
        <p:spPr>
          <a:xfrm>
            <a:off x="6812280" y="2011680"/>
            <a:ext cx="4754880" cy="237744"/>
          </a:xfrm>
          <a:prstGeom prst="rect">
            <a:avLst/>
          </a:prstGeom>
          <a:noFill/>
          <a:ln/>
        </p:spPr>
        <p:txBody>
          <a:bodyPr wrap="square" lIns="0" tIns="0" rIns="0" bIns="0" rtlCol="0" anchor="ctr"/>
          <a:lstStyle/>
          <a:p>
            <a:pPr indent="0" marL="0">
              <a:buNone/>
            </a:pPr>
            <a:r>
              <a:rPr lang="en-US" sz="950" b="1" spc="120" kern="0" dirty="0">
                <a:solidFill>
                  <a:srgbClr val="67736C"/>
                </a:solidFill>
                <a:latin typeface="Calibri" pitchFamily="34" charset="0"/>
                <a:ea typeface="Calibri" pitchFamily="34" charset="-122"/>
                <a:cs typeface="Calibri" pitchFamily="34" charset="-120"/>
              </a:rPr>
              <a:t>THE COLLECTIONS LADDER</a:t>
            </a:r>
            <a:endParaRPr lang="en-US" sz="950" dirty="0"/>
          </a:p>
        </p:txBody>
      </p:sp>
      <p:sp>
        <p:nvSpPr>
          <p:cNvPr id="22" name="Shape 20"/>
          <p:cNvSpPr/>
          <p:nvPr/>
        </p:nvSpPr>
        <p:spPr>
          <a:xfrm>
            <a:off x="6812280" y="2322576"/>
            <a:ext cx="4800600" cy="502920"/>
          </a:xfrm>
          <a:prstGeom prst="roundRect">
            <a:avLst>
              <a:gd name="adj" fmla="val 9091"/>
            </a:avLst>
          </a:prstGeom>
          <a:solidFill>
            <a:srgbClr val="F1F0EA"/>
          </a:solidFill>
          <a:ln w="12700">
            <a:solidFill>
              <a:srgbClr val="D6D5CB"/>
            </a:solidFill>
            <a:prstDash val="solid"/>
          </a:ln>
        </p:spPr>
      </p:sp>
      <p:sp>
        <p:nvSpPr>
          <p:cNvPr id="23" name="Shape 21"/>
          <p:cNvSpPr/>
          <p:nvPr/>
        </p:nvSpPr>
        <p:spPr>
          <a:xfrm>
            <a:off x="6967728" y="2487168"/>
            <a:ext cx="173736" cy="173736"/>
          </a:xfrm>
          <a:prstGeom prst="ellipse">
            <a:avLst/>
          </a:prstGeom>
          <a:solidFill>
            <a:srgbClr val="1F7A4D"/>
          </a:solidFill>
          <a:ln w="12700">
            <a:solidFill>
              <a:srgbClr val="333333"/>
            </a:solidFill>
            <a:prstDash val="solid"/>
          </a:ln>
        </p:spPr>
      </p:sp>
      <p:sp>
        <p:nvSpPr>
          <p:cNvPr id="24" name="Text 22"/>
          <p:cNvSpPr/>
          <p:nvPr/>
        </p:nvSpPr>
        <p:spPr>
          <a:xfrm>
            <a:off x="7242048" y="2441448"/>
            <a:ext cx="1051560" cy="274320"/>
          </a:xfrm>
          <a:prstGeom prst="rect">
            <a:avLst/>
          </a:prstGeom>
          <a:noFill/>
          <a:ln/>
        </p:spPr>
        <p:txBody>
          <a:bodyPr wrap="square" lIns="0" tIns="0" rIns="0" bIns="0" rtlCol="0" anchor="ctr"/>
          <a:lstStyle/>
          <a:p>
            <a:pPr indent="0" marL="0">
              <a:buNone/>
            </a:pPr>
            <a:r>
              <a:rPr lang="en-US" sz="1100" b="1" dirty="0">
                <a:solidFill>
                  <a:srgbClr val="14201A"/>
                </a:solidFill>
                <a:latin typeface="Calibri" pitchFamily="34" charset="0"/>
                <a:ea typeface="Calibri" pitchFamily="34" charset="-122"/>
                <a:cs typeface="Calibri" pitchFamily="34" charset="-120"/>
              </a:rPr>
              <a:t>Before due</a:t>
            </a:r>
            <a:endParaRPr lang="en-US" sz="1100" dirty="0"/>
          </a:p>
        </p:txBody>
      </p:sp>
      <p:sp>
        <p:nvSpPr>
          <p:cNvPr id="25" name="Text 23"/>
          <p:cNvSpPr/>
          <p:nvPr/>
        </p:nvSpPr>
        <p:spPr>
          <a:xfrm>
            <a:off x="8321040" y="2441448"/>
            <a:ext cx="1234440" cy="274320"/>
          </a:xfrm>
          <a:prstGeom prst="rect">
            <a:avLst/>
          </a:prstGeom>
          <a:noFill/>
          <a:ln/>
        </p:spPr>
        <p:txBody>
          <a:bodyPr wrap="square" lIns="0" tIns="0" rIns="0" bIns="0" rtlCol="0" anchor="ctr"/>
          <a:lstStyle/>
          <a:p>
            <a:pPr indent="0" marL="0">
              <a:buNone/>
            </a:pPr>
            <a:r>
              <a:rPr lang="en-US" sz="1000" dirty="0">
                <a:solidFill>
                  <a:srgbClr val="67736C"/>
                </a:solidFill>
                <a:latin typeface="Calibri" pitchFamily="34" charset="0"/>
                <a:ea typeface="Calibri" pitchFamily="34" charset="-122"/>
                <a:cs typeface="Calibri" pitchFamily="34" charset="-120"/>
              </a:rPr>
              <a:t>System</a:t>
            </a:r>
            <a:endParaRPr lang="en-US" sz="1000" dirty="0"/>
          </a:p>
        </p:txBody>
      </p:sp>
      <p:sp>
        <p:nvSpPr>
          <p:cNvPr id="26" name="Text 24"/>
          <p:cNvSpPr/>
          <p:nvPr/>
        </p:nvSpPr>
        <p:spPr>
          <a:xfrm>
            <a:off x="9509760" y="2441448"/>
            <a:ext cx="201168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WhatsApp reminder, 2 days ahead</a:t>
            </a:r>
            <a:endParaRPr lang="en-US" sz="950" dirty="0"/>
          </a:p>
        </p:txBody>
      </p:sp>
      <p:sp>
        <p:nvSpPr>
          <p:cNvPr id="27" name="Shape 25"/>
          <p:cNvSpPr/>
          <p:nvPr/>
        </p:nvSpPr>
        <p:spPr>
          <a:xfrm>
            <a:off x="6812280" y="2898648"/>
            <a:ext cx="4800600" cy="502920"/>
          </a:xfrm>
          <a:prstGeom prst="roundRect">
            <a:avLst>
              <a:gd name="adj" fmla="val 9091"/>
            </a:avLst>
          </a:prstGeom>
          <a:solidFill>
            <a:srgbClr val="FFFFFF"/>
          </a:solidFill>
          <a:ln w="12700">
            <a:solidFill>
              <a:srgbClr val="D6D5CB"/>
            </a:solidFill>
            <a:prstDash val="solid"/>
          </a:ln>
        </p:spPr>
      </p:sp>
      <p:sp>
        <p:nvSpPr>
          <p:cNvPr id="28" name="Shape 26"/>
          <p:cNvSpPr/>
          <p:nvPr/>
        </p:nvSpPr>
        <p:spPr>
          <a:xfrm>
            <a:off x="6967728" y="3063240"/>
            <a:ext cx="173736" cy="173736"/>
          </a:xfrm>
          <a:prstGeom prst="ellipse">
            <a:avLst/>
          </a:prstGeom>
          <a:solidFill>
            <a:srgbClr val="1F7A4D"/>
          </a:solidFill>
          <a:ln w="12700">
            <a:solidFill>
              <a:srgbClr val="333333"/>
            </a:solidFill>
            <a:prstDash val="solid"/>
          </a:ln>
        </p:spPr>
      </p:sp>
      <p:sp>
        <p:nvSpPr>
          <p:cNvPr id="29" name="Text 27"/>
          <p:cNvSpPr/>
          <p:nvPr/>
        </p:nvSpPr>
        <p:spPr>
          <a:xfrm>
            <a:off x="7242048" y="3017520"/>
            <a:ext cx="1051560" cy="274320"/>
          </a:xfrm>
          <a:prstGeom prst="rect">
            <a:avLst/>
          </a:prstGeom>
          <a:noFill/>
          <a:ln/>
        </p:spPr>
        <p:txBody>
          <a:bodyPr wrap="square" lIns="0" tIns="0" rIns="0" bIns="0" rtlCol="0" anchor="ctr"/>
          <a:lstStyle/>
          <a:p>
            <a:pPr indent="0" marL="0">
              <a:buNone/>
            </a:pPr>
            <a:r>
              <a:rPr lang="en-US" sz="1100" b="1" dirty="0">
                <a:solidFill>
                  <a:srgbClr val="14201A"/>
                </a:solidFill>
                <a:latin typeface="Calibri" pitchFamily="34" charset="0"/>
                <a:ea typeface="Calibri" pitchFamily="34" charset="-122"/>
                <a:cs typeface="Calibri" pitchFamily="34" charset="-120"/>
              </a:rPr>
              <a:t>1–15 days</a:t>
            </a:r>
            <a:endParaRPr lang="en-US" sz="1100" dirty="0"/>
          </a:p>
        </p:txBody>
      </p:sp>
      <p:sp>
        <p:nvSpPr>
          <p:cNvPr id="30" name="Text 28"/>
          <p:cNvSpPr/>
          <p:nvPr/>
        </p:nvSpPr>
        <p:spPr>
          <a:xfrm>
            <a:off x="8321040" y="3017520"/>
            <a:ext cx="1234440" cy="274320"/>
          </a:xfrm>
          <a:prstGeom prst="rect">
            <a:avLst/>
          </a:prstGeom>
          <a:noFill/>
          <a:ln/>
        </p:spPr>
        <p:txBody>
          <a:bodyPr wrap="square" lIns="0" tIns="0" rIns="0" bIns="0" rtlCol="0" anchor="ctr"/>
          <a:lstStyle/>
          <a:p>
            <a:pPr indent="0" marL="0">
              <a:buNone/>
            </a:pPr>
            <a:r>
              <a:rPr lang="en-US" sz="1000" dirty="0">
                <a:solidFill>
                  <a:srgbClr val="67736C"/>
                </a:solidFill>
                <a:latin typeface="Calibri" pitchFamily="34" charset="0"/>
                <a:ea typeface="Calibri" pitchFamily="34" charset="-122"/>
                <a:cs typeface="Calibri" pitchFamily="34" charset="-120"/>
              </a:rPr>
              <a:t>Sales rep</a:t>
            </a:r>
            <a:endParaRPr lang="en-US" sz="1000" dirty="0"/>
          </a:p>
        </p:txBody>
      </p:sp>
      <p:sp>
        <p:nvSpPr>
          <p:cNvPr id="31" name="Text 29"/>
          <p:cNvSpPr/>
          <p:nvPr/>
        </p:nvSpPr>
        <p:spPr>
          <a:xfrm>
            <a:off x="9509760" y="3017520"/>
            <a:ext cx="201168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Reminder on the next visit</a:t>
            </a:r>
            <a:endParaRPr lang="en-US" sz="950" dirty="0"/>
          </a:p>
        </p:txBody>
      </p:sp>
      <p:sp>
        <p:nvSpPr>
          <p:cNvPr id="32" name="Shape 30"/>
          <p:cNvSpPr/>
          <p:nvPr/>
        </p:nvSpPr>
        <p:spPr>
          <a:xfrm>
            <a:off x="6812280" y="3474720"/>
            <a:ext cx="4800600" cy="502920"/>
          </a:xfrm>
          <a:prstGeom prst="roundRect">
            <a:avLst>
              <a:gd name="adj" fmla="val 9091"/>
            </a:avLst>
          </a:prstGeom>
          <a:solidFill>
            <a:srgbClr val="F1F0EA"/>
          </a:solidFill>
          <a:ln w="12700">
            <a:solidFill>
              <a:srgbClr val="D6D5CB"/>
            </a:solidFill>
            <a:prstDash val="solid"/>
          </a:ln>
        </p:spPr>
      </p:sp>
      <p:sp>
        <p:nvSpPr>
          <p:cNvPr id="33" name="Shape 31"/>
          <p:cNvSpPr/>
          <p:nvPr/>
        </p:nvSpPr>
        <p:spPr>
          <a:xfrm>
            <a:off x="6967728" y="3639312"/>
            <a:ext cx="173736" cy="173736"/>
          </a:xfrm>
          <a:prstGeom prst="ellipse">
            <a:avLst/>
          </a:prstGeom>
          <a:solidFill>
            <a:srgbClr val="9E5E10"/>
          </a:solidFill>
          <a:ln w="12700">
            <a:solidFill>
              <a:srgbClr val="333333"/>
            </a:solidFill>
            <a:prstDash val="solid"/>
          </a:ln>
        </p:spPr>
      </p:sp>
      <p:sp>
        <p:nvSpPr>
          <p:cNvPr id="34" name="Text 32"/>
          <p:cNvSpPr/>
          <p:nvPr/>
        </p:nvSpPr>
        <p:spPr>
          <a:xfrm>
            <a:off x="7242048" y="3593592"/>
            <a:ext cx="1051560" cy="274320"/>
          </a:xfrm>
          <a:prstGeom prst="rect">
            <a:avLst/>
          </a:prstGeom>
          <a:noFill/>
          <a:ln/>
        </p:spPr>
        <p:txBody>
          <a:bodyPr wrap="square" lIns="0" tIns="0" rIns="0" bIns="0" rtlCol="0" anchor="ctr"/>
          <a:lstStyle/>
          <a:p>
            <a:pPr indent="0" marL="0">
              <a:buNone/>
            </a:pPr>
            <a:r>
              <a:rPr lang="en-US" sz="1100" b="1" dirty="0">
                <a:solidFill>
                  <a:srgbClr val="14201A"/>
                </a:solidFill>
                <a:latin typeface="Calibri" pitchFamily="34" charset="0"/>
                <a:ea typeface="Calibri" pitchFamily="34" charset="-122"/>
                <a:cs typeface="Calibri" pitchFamily="34" charset="-120"/>
              </a:rPr>
              <a:t>16–30 days</a:t>
            </a:r>
            <a:endParaRPr lang="en-US" sz="1100" dirty="0"/>
          </a:p>
        </p:txBody>
      </p:sp>
      <p:sp>
        <p:nvSpPr>
          <p:cNvPr id="35" name="Text 33"/>
          <p:cNvSpPr/>
          <p:nvPr/>
        </p:nvSpPr>
        <p:spPr>
          <a:xfrm>
            <a:off x="8321040" y="3593592"/>
            <a:ext cx="1234440" cy="274320"/>
          </a:xfrm>
          <a:prstGeom prst="rect">
            <a:avLst/>
          </a:prstGeom>
          <a:noFill/>
          <a:ln/>
        </p:spPr>
        <p:txBody>
          <a:bodyPr wrap="square" lIns="0" tIns="0" rIns="0" bIns="0" rtlCol="0" anchor="ctr"/>
          <a:lstStyle/>
          <a:p>
            <a:pPr indent="0" marL="0">
              <a:buNone/>
            </a:pPr>
            <a:r>
              <a:rPr lang="en-US" sz="1000" dirty="0">
                <a:solidFill>
                  <a:srgbClr val="67736C"/>
                </a:solidFill>
                <a:latin typeface="Calibri" pitchFamily="34" charset="0"/>
                <a:ea typeface="Calibri" pitchFamily="34" charset="-122"/>
                <a:cs typeface="Calibri" pitchFamily="34" charset="-120"/>
              </a:rPr>
              <a:t>Branch manager</a:t>
            </a:r>
            <a:endParaRPr lang="en-US" sz="1000" dirty="0"/>
          </a:p>
        </p:txBody>
      </p:sp>
      <p:sp>
        <p:nvSpPr>
          <p:cNvPr id="36" name="Text 34"/>
          <p:cNvSpPr/>
          <p:nvPr/>
        </p:nvSpPr>
        <p:spPr>
          <a:xfrm>
            <a:off x="9509760" y="3593592"/>
            <a:ext cx="201168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Call · new orders need approval</a:t>
            </a:r>
            <a:endParaRPr lang="en-US" sz="950" dirty="0"/>
          </a:p>
        </p:txBody>
      </p:sp>
      <p:sp>
        <p:nvSpPr>
          <p:cNvPr id="37" name="Shape 35"/>
          <p:cNvSpPr/>
          <p:nvPr/>
        </p:nvSpPr>
        <p:spPr>
          <a:xfrm>
            <a:off x="6812280" y="4050792"/>
            <a:ext cx="4800600" cy="502920"/>
          </a:xfrm>
          <a:prstGeom prst="roundRect">
            <a:avLst>
              <a:gd name="adj" fmla="val 9091"/>
            </a:avLst>
          </a:prstGeom>
          <a:solidFill>
            <a:srgbClr val="FFFFFF"/>
          </a:solidFill>
          <a:ln w="12700">
            <a:solidFill>
              <a:srgbClr val="D6D5CB"/>
            </a:solidFill>
            <a:prstDash val="solid"/>
          </a:ln>
        </p:spPr>
      </p:sp>
      <p:sp>
        <p:nvSpPr>
          <p:cNvPr id="38" name="Shape 36"/>
          <p:cNvSpPr/>
          <p:nvPr/>
        </p:nvSpPr>
        <p:spPr>
          <a:xfrm>
            <a:off x="6967728" y="4215384"/>
            <a:ext cx="173736" cy="173736"/>
          </a:xfrm>
          <a:prstGeom prst="ellipse">
            <a:avLst/>
          </a:prstGeom>
          <a:solidFill>
            <a:srgbClr val="A33228"/>
          </a:solidFill>
          <a:ln w="12700">
            <a:solidFill>
              <a:srgbClr val="333333"/>
            </a:solidFill>
            <a:prstDash val="solid"/>
          </a:ln>
        </p:spPr>
      </p:sp>
      <p:sp>
        <p:nvSpPr>
          <p:cNvPr id="39" name="Text 37"/>
          <p:cNvSpPr/>
          <p:nvPr/>
        </p:nvSpPr>
        <p:spPr>
          <a:xfrm>
            <a:off x="7242048" y="4169664"/>
            <a:ext cx="1051560" cy="274320"/>
          </a:xfrm>
          <a:prstGeom prst="rect">
            <a:avLst/>
          </a:prstGeom>
          <a:noFill/>
          <a:ln/>
        </p:spPr>
        <p:txBody>
          <a:bodyPr wrap="square" lIns="0" tIns="0" rIns="0" bIns="0" rtlCol="0" anchor="ctr"/>
          <a:lstStyle/>
          <a:p>
            <a:pPr indent="0" marL="0">
              <a:buNone/>
            </a:pPr>
            <a:r>
              <a:rPr lang="en-US" sz="1100" b="1" dirty="0">
                <a:solidFill>
                  <a:srgbClr val="14201A"/>
                </a:solidFill>
                <a:latin typeface="Calibri" pitchFamily="34" charset="0"/>
                <a:ea typeface="Calibri" pitchFamily="34" charset="-122"/>
                <a:cs typeface="Calibri" pitchFamily="34" charset="-120"/>
              </a:rPr>
              <a:t>31–60 days</a:t>
            </a:r>
            <a:endParaRPr lang="en-US" sz="1100" dirty="0"/>
          </a:p>
        </p:txBody>
      </p:sp>
      <p:sp>
        <p:nvSpPr>
          <p:cNvPr id="40" name="Text 38"/>
          <p:cNvSpPr/>
          <p:nvPr/>
        </p:nvSpPr>
        <p:spPr>
          <a:xfrm>
            <a:off x="8321040" y="4169664"/>
            <a:ext cx="1234440" cy="274320"/>
          </a:xfrm>
          <a:prstGeom prst="rect">
            <a:avLst/>
          </a:prstGeom>
          <a:noFill/>
          <a:ln/>
        </p:spPr>
        <p:txBody>
          <a:bodyPr wrap="square" lIns="0" tIns="0" rIns="0" bIns="0" rtlCol="0" anchor="ctr"/>
          <a:lstStyle/>
          <a:p>
            <a:pPr indent="0" marL="0">
              <a:buNone/>
            </a:pPr>
            <a:r>
              <a:rPr lang="en-US" sz="1000" dirty="0">
                <a:solidFill>
                  <a:srgbClr val="67736C"/>
                </a:solidFill>
                <a:latin typeface="Calibri" pitchFamily="34" charset="0"/>
                <a:ea typeface="Calibri" pitchFamily="34" charset="-122"/>
                <a:cs typeface="Calibri" pitchFamily="34" charset="-120"/>
              </a:rPr>
              <a:t>Head office</a:t>
            </a:r>
            <a:endParaRPr lang="en-US" sz="1000" dirty="0"/>
          </a:p>
        </p:txBody>
      </p:sp>
      <p:sp>
        <p:nvSpPr>
          <p:cNvPr id="41" name="Text 39"/>
          <p:cNvSpPr/>
          <p:nvPr/>
        </p:nvSpPr>
        <p:spPr>
          <a:xfrm>
            <a:off x="9509760" y="4169664"/>
            <a:ext cx="201168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Supply stops. Security enforced</a:t>
            </a:r>
            <a:endParaRPr lang="en-US" sz="950" dirty="0"/>
          </a:p>
        </p:txBody>
      </p:sp>
      <p:sp>
        <p:nvSpPr>
          <p:cNvPr id="42" name="Shape 40"/>
          <p:cNvSpPr/>
          <p:nvPr/>
        </p:nvSpPr>
        <p:spPr>
          <a:xfrm>
            <a:off x="6812280" y="4626864"/>
            <a:ext cx="4800600" cy="502920"/>
          </a:xfrm>
          <a:prstGeom prst="roundRect">
            <a:avLst>
              <a:gd name="adj" fmla="val 9091"/>
            </a:avLst>
          </a:prstGeom>
          <a:solidFill>
            <a:srgbClr val="F1F0EA"/>
          </a:solidFill>
          <a:ln w="12700">
            <a:solidFill>
              <a:srgbClr val="D6D5CB"/>
            </a:solidFill>
            <a:prstDash val="solid"/>
          </a:ln>
        </p:spPr>
      </p:sp>
      <p:sp>
        <p:nvSpPr>
          <p:cNvPr id="43" name="Shape 41"/>
          <p:cNvSpPr/>
          <p:nvPr/>
        </p:nvSpPr>
        <p:spPr>
          <a:xfrm>
            <a:off x="6967728" y="4791456"/>
            <a:ext cx="173736" cy="173736"/>
          </a:xfrm>
          <a:prstGeom prst="ellipse">
            <a:avLst/>
          </a:prstGeom>
          <a:solidFill>
            <a:srgbClr val="A33228"/>
          </a:solidFill>
          <a:ln w="12700">
            <a:solidFill>
              <a:srgbClr val="333333"/>
            </a:solidFill>
            <a:prstDash val="solid"/>
          </a:ln>
        </p:spPr>
      </p:sp>
      <p:sp>
        <p:nvSpPr>
          <p:cNvPr id="44" name="Text 42"/>
          <p:cNvSpPr/>
          <p:nvPr/>
        </p:nvSpPr>
        <p:spPr>
          <a:xfrm>
            <a:off x="7242048" y="4745736"/>
            <a:ext cx="1051560" cy="274320"/>
          </a:xfrm>
          <a:prstGeom prst="rect">
            <a:avLst/>
          </a:prstGeom>
          <a:noFill/>
          <a:ln/>
        </p:spPr>
        <p:txBody>
          <a:bodyPr wrap="square" lIns="0" tIns="0" rIns="0" bIns="0" rtlCol="0" anchor="ctr"/>
          <a:lstStyle/>
          <a:p>
            <a:pPr indent="0" marL="0">
              <a:buNone/>
            </a:pPr>
            <a:r>
              <a:rPr lang="en-US" sz="1100" b="1" dirty="0">
                <a:solidFill>
                  <a:srgbClr val="14201A"/>
                </a:solidFill>
                <a:latin typeface="Calibri" pitchFamily="34" charset="0"/>
                <a:ea typeface="Calibri" pitchFamily="34" charset="-122"/>
                <a:cs typeface="Calibri" pitchFamily="34" charset="-120"/>
              </a:rPr>
              <a:t>61–90 days</a:t>
            </a:r>
            <a:endParaRPr lang="en-US" sz="1100" dirty="0"/>
          </a:p>
        </p:txBody>
      </p:sp>
      <p:sp>
        <p:nvSpPr>
          <p:cNvPr id="45" name="Text 43"/>
          <p:cNvSpPr/>
          <p:nvPr/>
        </p:nvSpPr>
        <p:spPr>
          <a:xfrm>
            <a:off x="8321040" y="4745736"/>
            <a:ext cx="1234440" cy="274320"/>
          </a:xfrm>
          <a:prstGeom prst="rect">
            <a:avLst/>
          </a:prstGeom>
          <a:noFill/>
          <a:ln/>
        </p:spPr>
        <p:txBody>
          <a:bodyPr wrap="square" lIns="0" tIns="0" rIns="0" bIns="0" rtlCol="0" anchor="ctr"/>
          <a:lstStyle/>
          <a:p>
            <a:pPr indent="0" marL="0">
              <a:buNone/>
            </a:pPr>
            <a:r>
              <a:rPr lang="en-US" sz="1000" dirty="0">
                <a:solidFill>
                  <a:srgbClr val="67736C"/>
                </a:solidFill>
                <a:latin typeface="Calibri" pitchFamily="34" charset="0"/>
                <a:ea typeface="Calibri" pitchFamily="34" charset="-122"/>
                <a:cs typeface="Calibri" pitchFamily="34" charset="-120"/>
              </a:rPr>
              <a:t>Head office</a:t>
            </a:r>
            <a:endParaRPr lang="en-US" sz="1000" dirty="0"/>
          </a:p>
        </p:txBody>
      </p:sp>
      <p:sp>
        <p:nvSpPr>
          <p:cNvPr id="46" name="Text 44"/>
          <p:cNvSpPr/>
          <p:nvPr/>
        </p:nvSpPr>
        <p:spPr>
          <a:xfrm>
            <a:off x="9509760" y="4745736"/>
            <a:ext cx="201168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Legal notice · provision raised</a:t>
            </a:r>
            <a:endParaRPr lang="en-US" sz="950" dirty="0"/>
          </a:p>
        </p:txBody>
      </p:sp>
      <p:sp>
        <p:nvSpPr>
          <p:cNvPr id="47" name="Shape 45"/>
          <p:cNvSpPr/>
          <p:nvPr/>
        </p:nvSpPr>
        <p:spPr>
          <a:xfrm>
            <a:off x="6812280" y="5202936"/>
            <a:ext cx="4800600" cy="502920"/>
          </a:xfrm>
          <a:prstGeom prst="roundRect">
            <a:avLst>
              <a:gd name="adj" fmla="val 9091"/>
            </a:avLst>
          </a:prstGeom>
          <a:solidFill>
            <a:srgbClr val="FFFFFF"/>
          </a:solidFill>
          <a:ln w="12700">
            <a:solidFill>
              <a:srgbClr val="D6D5CB"/>
            </a:solidFill>
            <a:prstDash val="solid"/>
          </a:ln>
        </p:spPr>
      </p:sp>
      <p:sp>
        <p:nvSpPr>
          <p:cNvPr id="48" name="Shape 46"/>
          <p:cNvSpPr/>
          <p:nvPr/>
        </p:nvSpPr>
        <p:spPr>
          <a:xfrm>
            <a:off x="6967728" y="5367528"/>
            <a:ext cx="173736" cy="173736"/>
          </a:xfrm>
          <a:prstGeom prst="ellipse">
            <a:avLst/>
          </a:prstGeom>
          <a:solidFill>
            <a:srgbClr val="A33228"/>
          </a:solidFill>
          <a:ln w="12700">
            <a:solidFill>
              <a:srgbClr val="333333"/>
            </a:solidFill>
            <a:prstDash val="solid"/>
          </a:ln>
        </p:spPr>
      </p:sp>
      <p:sp>
        <p:nvSpPr>
          <p:cNvPr id="49" name="Text 47"/>
          <p:cNvSpPr/>
          <p:nvPr/>
        </p:nvSpPr>
        <p:spPr>
          <a:xfrm>
            <a:off x="7242048" y="5321808"/>
            <a:ext cx="1051560" cy="274320"/>
          </a:xfrm>
          <a:prstGeom prst="rect">
            <a:avLst/>
          </a:prstGeom>
          <a:noFill/>
          <a:ln/>
        </p:spPr>
        <p:txBody>
          <a:bodyPr wrap="square" lIns="0" tIns="0" rIns="0" bIns="0" rtlCol="0" anchor="ctr"/>
          <a:lstStyle/>
          <a:p>
            <a:pPr indent="0" marL="0">
              <a:buNone/>
            </a:pPr>
            <a:r>
              <a:rPr lang="en-US" sz="1100" b="1" dirty="0">
                <a:solidFill>
                  <a:srgbClr val="14201A"/>
                </a:solidFill>
                <a:latin typeface="Calibri" pitchFamily="34" charset="0"/>
                <a:ea typeface="Calibri" pitchFamily="34" charset="-122"/>
                <a:cs typeface="Calibri" pitchFamily="34" charset="-120"/>
              </a:rPr>
              <a:t>90+ days</a:t>
            </a:r>
            <a:endParaRPr lang="en-US" sz="1100" dirty="0"/>
          </a:p>
        </p:txBody>
      </p:sp>
      <p:sp>
        <p:nvSpPr>
          <p:cNvPr id="50" name="Text 48"/>
          <p:cNvSpPr/>
          <p:nvPr/>
        </p:nvSpPr>
        <p:spPr>
          <a:xfrm>
            <a:off x="8321040" y="5321808"/>
            <a:ext cx="1234440" cy="274320"/>
          </a:xfrm>
          <a:prstGeom prst="rect">
            <a:avLst/>
          </a:prstGeom>
          <a:noFill/>
          <a:ln/>
        </p:spPr>
        <p:txBody>
          <a:bodyPr wrap="square" lIns="0" tIns="0" rIns="0" bIns="0" rtlCol="0" anchor="ctr"/>
          <a:lstStyle/>
          <a:p>
            <a:pPr indent="0" marL="0">
              <a:buNone/>
            </a:pPr>
            <a:r>
              <a:rPr lang="en-US" sz="1000" dirty="0">
                <a:solidFill>
                  <a:srgbClr val="67736C"/>
                </a:solidFill>
                <a:latin typeface="Calibri" pitchFamily="34" charset="0"/>
                <a:ea typeface="Calibri" pitchFamily="34" charset="-122"/>
                <a:cs typeface="Calibri" pitchFamily="34" charset="-120"/>
              </a:rPr>
              <a:t>Founder</a:t>
            </a:r>
            <a:endParaRPr lang="en-US" sz="1000" dirty="0"/>
          </a:p>
        </p:txBody>
      </p:sp>
      <p:sp>
        <p:nvSpPr>
          <p:cNvPr id="51" name="Text 49"/>
          <p:cNvSpPr/>
          <p:nvPr/>
        </p:nvSpPr>
        <p:spPr>
          <a:xfrm>
            <a:off x="9509760" y="5321808"/>
            <a:ext cx="2011680" cy="274320"/>
          </a:xfrm>
          <a:prstGeom prst="rect">
            <a:avLst/>
          </a:prstGeom>
          <a:noFill/>
          <a:ln/>
        </p:spPr>
        <p:txBody>
          <a:bodyPr wrap="square" lIns="0" tIns="0" rIns="0" bIns="0" rtlCol="0" anchor="ctr"/>
          <a:lstStyle/>
          <a:p>
            <a:pPr indent="0" marL="0">
              <a:buNone/>
            </a:pPr>
            <a:r>
              <a:rPr lang="en-US" sz="950" dirty="0">
                <a:solidFill>
                  <a:srgbClr val="3D4A43"/>
                </a:solidFill>
                <a:latin typeface="Calibri" pitchFamily="34" charset="0"/>
                <a:ea typeface="Calibri" pitchFamily="34" charset="-122"/>
                <a:cs typeface="Calibri" pitchFamily="34" charset="-120"/>
              </a:rPr>
              <a:t>Write-off decision · suspended</a:t>
            </a:r>
            <a:endParaRPr lang="en-US" sz="950" dirty="0"/>
          </a:p>
        </p:txBody>
      </p:sp>
      <p:sp>
        <p:nvSpPr>
          <p:cNvPr id="52" name="Text 50"/>
          <p:cNvSpPr/>
          <p:nvPr/>
        </p:nvSpPr>
        <p:spPr>
          <a:xfrm>
            <a:off x="6812280" y="5815584"/>
            <a:ext cx="4800600" cy="274320"/>
          </a:xfrm>
          <a:prstGeom prst="rect">
            <a:avLst/>
          </a:prstGeom>
          <a:noFill/>
          <a:ln/>
        </p:spPr>
        <p:txBody>
          <a:bodyPr wrap="square" lIns="0" tIns="0" rIns="0" bIns="0" rtlCol="0" anchor="ctr"/>
          <a:lstStyle/>
          <a:p>
            <a:pPr indent="0" marL="0">
              <a:buNone/>
            </a:pPr>
            <a:r>
              <a:rPr lang="en-US" sz="950" i="1" dirty="0">
                <a:solidFill>
                  <a:srgbClr val="67736C"/>
                </a:solidFill>
                <a:latin typeface="Calibri" pitchFamily="34" charset="0"/>
                <a:ea typeface="Calibri" pitchFamily="34" charset="-122"/>
                <a:cs typeface="Calibri" pitchFamily="34" charset="-120"/>
              </a:rPr>
              <a:t>Targets: collection within 25 days · receivables past 60 days under 5% of the book · bad debt under 0.5% of revenue.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TECHNOLOGY</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Built on a foundation that already ships</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Not a greenfield promise. The platform is live on Google Cloud with 753 automated tests, continuous deployment, and a year of grocery-specific mechanics already proven in production.</a:t>
            </a:r>
            <a:endParaRPr lang="en-US" sz="1400" dirty="0"/>
          </a:p>
        </p:txBody>
      </p:sp>
      <p:sp>
        <p:nvSpPr>
          <p:cNvPr id="5" name="Shape 3"/>
          <p:cNvSpPr/>
          <p:nvPr/>
        </p:nvSpPr>
        <p:spPr>
          <a:xfrm>
            <a:off x="548640" y="1874520"/>
            <a:ext cx="3493008" cy="1572768"/>
          </a:xfrm>
          <a:prstGeom prst="roundRect">
            <a:avLst>
              <a:gd name="adj" fmla="val 348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Text 4"/>
          <p:cNvSpPr/>
          <p:nvPr/>
        </p:nvSpPr>
        <p:spPr>
          <a:xfrm>
            <a:off x="768096" y="1993392"/>
            <a:ext cx="3108960" cy="274320"/>
          </a:xfrm>
          <a:prstGeom prst="rect">
            <a:avLst/>
          </a:prstGeom>
          <a:noFill/>
          <a:ln/>
        </p:spPr>
        <p:txBody>
          <a:bodyPr wrap="square" lIns="0" tIns="0" rIns="0" bIns="0" rtlCol="0" anchor="ctr"/>
          <a:lstStyle/>
          <a:p>
            <a:pPr indent="0" marL="0">
              <a:buNone/>
            </a:pPr>
            <a:r>
              <a:rPr lang="en-US" sz="1500" b="1" dirty="0">
                <a:solidFill>
                  <a:srgbClr val="1F7A4D"/>
                </a:solidFill>
                <a:latin typeface="Cambria" pitchFamily="34" charset="0"/>
                <a:ea typeface="Cambria" pitchFamily="34" charset="-122"/>
                <a:cs typeface="Cambria" pitchFamily="34" charset="-120"/>
              </a:rPr>
              <a:t>Stack</a:t>
            </a:r>
            <a:endParaRPr lang="en-US" sz="1500" dirty="0"/>
          </a:p>
        </p:txBody>
      </p:sp>
      <p:sp>
        <p:nvSpPr>
          <p:cNvPr id="7" name="Text 5"/>
          <p:cNvSpPr/>
          <p:nvPr/>
        </p:nvSpPr>
        <p:spPr>
          <a:xfrm>
            <a:off x="768096" y="2304288"/>
            <a:ext cx="3108960" cy="1042416"/>
          </a:xfrm>
          <a:prstGeom prst="rect">
            <a:avLst/>
          </a:prstGeom>
          <a:noFill/>
          <a:ln/>
        </p:spPr>
        <p:txBody>
          <a:bodyPr wrap="square" lIns="0" tIns="0" rIns="0" bIns="0" rtlCol="0" anchor="ctr"/>
          <a:lstStyle/>
          <a:p>
            <a:pPr indent="0" marL="0">
              <a:lnSpc>
                <a:spcPct val="114000"/>
              </a:lnSpc>
              <a:buNone/>
            </a:pPr>
            <a:r>
              <a:rPr lang="en-US" sz="1000" dirty="0">
                <a:solidFill>
                  <a:srgbClr val="3D4A43"/>
                </a:solidFill>
                <a:latin typeface="Calibri" pitchFamily="34" charset="0"/>
                <a:ea typeface="Calibri" pitchFamily="34" charset="-122"/>
                <a:cs typeface="Calibri" pitchFamily="34" charset="-120"/>
              </a:rPr>
              <a:t>TypeScript end to end · NestJS API · PostgreSQL with PostGIS · Redis · Next.js progressive web app · Google Cloud Run, Mumbai region · CI deploys on every green merge</a:t>
            </a:r>
            <a:endParaRPr lang="en-US" sz="1000" dirty="0"/>
          </a:p>
        </p:txBody>
      </p:sp>
      <p:sp>
        <p:nvSpPr>
          <p:cNvPr id="8" name="Shape 6"/>
          <p:cNvSpPr/>
          <p:nvPr/>
        </p:nvSpPr>
        <p:spPr>
          <a:xfrm>
            <a:off x="4270248" y="1874520"/>
            <a:ext cx="3493008" cy="1572768"/>
          </a:xfrm>
          <a:prstGeom prst="roundRect">
            <a:avLst>
              <a:gd name="adj" fmla="val 348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9" name="Text 7"/>
          <p:cNvSpPr/>
          <p:nvPr/>
        </p:nvSpPr>
        <p:spPr>
          <a:xfrm>
            <a:off x="4489704" y="1993392"/>
            <a:ext cx="3108960" cy="274320"/>
          </a:xfrm>
          <a:prstGeom prst="rect">
            <a:avLst/>
          </a:prstGeom>
          <a:noFill/>
          <a:ln/>
        </p:spPr>
        <p:txBody>
          <a:bodyPr wrap="square" lIns="0" tIns="0" rIns="0" bIns="0" rtlCol="0" anchor="ctr"/>
          <a:lstStyle/>
          <a:p>
            <a:pPr indent="0" marL="0">
              <a:buNone/>
            </a:pPr>
            <a:r>
              <a:rPr lang="en-US" sz="1500" b="1" dirty="0">
                <a:solidFill>
                  <a:srgbClr val="1F7A4D"/>
                </a:solidFill>
                <a:latin typeface="Cambria" pitchFamily="34" charset="0"/>
                <a:ea typeface="Cambria" pitchFamily="34" charset="-122"/>
                <a:cs typeface="Cambria" pitchFamily="34" charset="-120"/>
              </a:rPr>
              <a:t>Architecture</a:t>
            </a:r>
            <a:endParaRPr lang="en-US" sz="1500" dirty="0"/>
          </a:p>
        </p:txBody>
      </p:sp>
      <p:sp>
        <p:nvSpPr>
          <p:cNvPr id="10" name="Text 8"/>
          <p:cNvSpPr/>
          <p:nvPr/>
        </p:nvSpPr>
        <p:spPr>
          <a:xfrm>
            <a:off x="4489704" y="2304288"/>
            <a:ext cx="3108960" cy="1042416"/>
          </a:xfrm>
          <a:prstGeom prst="rect">
            <a:avLst/>
          </a:prstGeom>
          <a:noFill/>
          <a:ln/>
        </p:spPr>
        <p:txBody>
          <a:bodyPr wrap="square" lIns="0" tIns="0" rIns="0" bIns="0" rtlCol="0" anchor="ctr"/>
          <a:lstStyle/>
          <a:p>
            <a:pPr indent="0" marL="0">
              <a:lnSpc>
                <a:spcPct val="114000"/>
              </a:lnSpc>
              <a:buNone/>
            </a:pPr>
            <a:r>
              <a:rPr lang="en-US" sz="1000" dirty="0">
                <a:solidFill>
                  <a:srgbClr val="3D4A43"/>
                </a:solidFill>
                <a:latin typeface="Calibri" pitchFamily="34" charset="0"/>
                <a:ea typeface="Calibri" pitchFamily="34" charset="-122"/>
                <a:cs typeface="Calibri" pitchFamily="34" charset="-120"/>
              </a:rPr>
              <a:t>A modular monolith — one deployable, 26 bounded modules, each owning its own database schema. CI fails the build if one module reaches into another's internals</a:t>
            </a:r>
            <a:endParaRPr lang="en-US" sz="1000" dirty="0"/>
          </a:p>
        </p:txBody>
      </p:sp>
      <p:sp>
        <p:nvSpPr>
          <p:cNvPr id="11" name="Shape 9"/>
          <p:cNvSpPr/>
          <p:nvPr/>
        </p:nvSpPr>
        <p:spPr>
          <a:xfrm>
            <a:off x="7991856" y="1874520"/>
            <a:ext cx="3493008" cy="1572768"/>
          </a:xfrm>
          <a:prstGeom prst="roundRect">
            <a:avLst>
              <a:gd name="adj" fmla="val 3488"/>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2" name="Text 10"/>
          <p:cNvSpPr/>
          <p:nvPr/>
        </p:nvSpPr>
        <p:spPr>
          <a:xfrm>
            <a:off x="8211312" y="1993392"/>
            <a:ext cx="3108960" cy="274320"/>
          </a:xfrm>
          <a:prstGeom prst="rect">
            <a:avLst/>
          </a:prstGeom>
          <a:noFill/>
          <a:ln/>
        </p:spPr>
        <p:txBody>
          <a:bodyPr wrap="square" lIns="0" tIns="0" rIns="0" bIns="0" rtlCol="0" anchor="ctr"/>
          <a:lstStyle/>
          <a:p>
            <a:pPr indent="0" marL="0">
              <a:buNone/>
            </a:pPr>
            <a:r>
              <a:rPr lang="en-US" sz="1500" b="1" dirty="0">
                <a:solidFill>
                  <a:srgbClr val="1F7A4D"/>
                </a:solidFill>
                <a:latin typeface="Cambria" pitchFamily="34" charset="0"/>
                <a:ea typeface="Cambria" pitchFamily="34" charset="-122"/>
                <a:cs typeface="Cambria" pitchFamily="34" charset="-120"/>
              </a:rPr>
              <a:t>Discipline that carries</a:t>
            </a:r>
            <a:endParaRPr lang="en-US" sz="1500" dirty="0"/>
          </a:p>
        </p:txBody>
      </p:sp>
      <p:sp>
        <p:nvSpPr>
          <p:cNvPr id="13" name="Text 11"/>
          <p:cNvSpPr/>
          <p:nvPr/>
        </p:nvSpPr>
        <p:spPr>
          <a:xfrm>
            <a:off x="8211312" y="2304288"/>
            <a:ext cx="3108960" cy="1042416"/>
          </a:xfrm>
          <a:prstGeom prst="rect">
            <a:avLst/>
          </a:prstGeom>
          <a:noFill/>
          <a:ln/>
        </p:spPr>
        <p:txBody>
          <a:bodyPr wrap="square" lIns="0" tIns="0" rIns="0" bIns="0" rtlCol="0" anchor="ctr"/>
          <a:lstStyle/>
          <a:p>
            <a:pPr indent="0" marL="0">
              <a:lnSpc>
                <a:spcPct val="114000"/>
              </a:lnSpc>
              <a:buNone/>
            </a:pPr>
            <a:r>
              <a:rPr lang="en-US" sz="1000" dirty="0">
                <a:solidFill>
                  <a:srgbClr val="3D4A43"/>
                </a:solidFill>
                <a:latin typeface="Calibri" pitchFamily="34" charset="0"/>
                <a:ea typeface="Calibri" pitchFamily="34" charset="-122"/>
                <a:cs typeface="Calibri" pitchFamily="34" charset="-120"/>
              </a:rPr>
              <a:t>Idempotency keys on every mutating endpoint · transactional outbox for events · analytics shipped with every feature · the double-entry invariant asserted in three independent places</a:t>
            </a:r>
            <a:endParaRPr lang="en-US" sz="1000" dirty="0"/>
          </a:p>
        </p:txBody>
      </p:sp>
      <p:sp>
        <p:nvSpPr>
          <p:cNvPr id="14" name="Text 12"/>
          <p:cNvSpPr/>
          <p:nvPr/>
        </p:nvSpPr>
        <p:spPr>
          <a:xfrm>
            <a:off x="548640" y="3602736"/>
            <a:ext cx="6400800" cy="237744"/>
          </a:xfrm>
          <a:prstGeom prst="rect">
            <a:avLst/>
          </a:prstGeom>
          <a:noFill/>
          <a:ln/>
        </p:spPr>
        <p:txBody>
          <a:bodyPr wrap="square" lIns="0" tIns="0" rIns="0" bIns="0" rtlCol="0" anchor="ctr"/>
          <a:lstStyle/>
          <a:p>
            <a:pPr indent="0" marL="0">
              <a:buNone/>
            </a:pPr>
            <a:r>
              <a:rPr lang="en-US" sz="950" b="1" spc="120" kern="0" dirty="0">
                <a:solidFill>
                  <a:srgbClr val="67736C"/>
                </a:solidFill>
                <a:latin typeface="Calibri" pitchFamily="34" charset="0"/>
                <a:ea typeface="Calibri" pitchFamily="34" charset="-122"/>
                <a:cs typeface="Calibri" pitchFamily="34" charset="-120"/>
              </a:rPr>
              <a:t>WHAT THE PIVOT DOES TO THE CODEBASE</a:t>
            </a:r>
            <a:endParaRPr lang="en-US" sz="950" dirty="0"/>
          </a:p>
        </p:txBody>
      </p:sp>
      <p:sp>
        <p:nvSpPr>
          <p:cNvPr id="15" name="Shape 13"/>
          <p:cNvSpPr/>
          <p:nvPr/>
        </p:nvSpPr>
        <p:spPr>
          <a:xfrm>
            <a:off x="548640" y="3895344"/>
            <a:ext cx="11064240" cy="493776"/>
          </a:xfrm>
          <a:prstGeom prst="roundRect">
            <a:avLst>
              <a:gd name="adj" fmla="val 9259"/>
            </a:avLst>
          </a:prstGeom>
          <a:solidFill>
            <a:srgbClr val="E0EFE6"/>
          </a:solidFill>
          <a:ln w="12700">
            <a:solidFill>
              <a:srgbClr val="1F7A4D"/>
            </a:solidFill>
            <a:prstDash val="solid"/>
          </a:ln>
        </p:spPr>
      </p:sp>
      <p:sp>
        <p:nvSpPr>
          <p:cNvPr id="16" name="Text 14"/>
          <p:cNvSpPr/>
          <p:nvPr/>
        </p:nvSpPr>
        <p:spPr>
          <a:xfrm>
            <a:off x="749808" y="4005072"/>
            <a:ext cx="2148840" cy="274320"/>
          </a:xfrm>
          <a:prstGeom prst="rect">
            <a:avLst/>
          </a:prstGeom>
          <a:noFill/>
          <a:ln/>
        </p:spPr>
        <p:txBody>
          <a:bodyPr wrap="square" lIns="0" tIns="0" rIns="0" bIns="0" rtlCol="0" anchor="ctr"/>
          <a:lstStyle/>
          <a:p>
            <a:pPr indent="0" marL="0">
              <a:buNone/>
            </a:pPr>
            <a:r>
              <a:rPr lang="en-US" sz="1000" b="1" spc="80" kern="0" dirty="0">
                <a:solidFill>
                  <a:srgbClr val="1F7A4D"/>
                </a:solidFill>
                <a:latin typeface="Calibri" pitchFamily="34" charset="0"/>
                <a:ea typeface="Calibri" pitchFamily="34" charset="-122"/>
                <a:cs typeface="Calibri" pitchFamily="34" charset="-120"/>
              </a:rPr>
              <a:t>SURVIVES INTACT</a:t>
            </a:r>
            <a:endParaRPr lang="en-US" sz="1000" dirty="0"/>
          </a:p>
        </p:txBody>
      </p:sp>
      <p:sp>
        <p:nvSpPr>
          <p:cNvPr id="17" name="Text 15"/>
          <p:cNvSpPr/>
          <p:nvPr/>
        </p:nvSpPr>
        <p:spPr>
          <a:xfrm>
            <a:off x="2971800" y="4005072"/>
            <a:ext cx="841248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catalog · search · batches &amp; FEFO · recall · variable weight · substitutions · order state machine · reservations · UPI payments · notifications · analytics</a:t>
            </a:r>
            <a:endParaRPr lang="en-US" sz="1000" dirty="0"/>
          </a:p>
        </p:txBody>
      </p:sp>
      <p:sp>
        <p:nvSpPr>
          <p:cNvPr id="18" name="Shape 16"/>
          <p:cNvSpPr/>
          <p:nvPr/>
        </p:nvSpPr>
        <p:spPr>
          <a:xfrm>
            <a:off x="548640" y="4462272"/>
            <a:ext cx="11064240" cy="493776"/>
          </a:xfrm>
          <a:prstGeom prst="roundRect">
            <a:avLst>
              <a:gd name="adj" fmla="val 9259"/>
            </a:avLst>
          </a:prstGeom>
          <a:solidFill>
            <a:srgbClr val="F1F0EA"/>
          </a:solidFill>
          <a:ln w="12700">
            <a:solidFill>
              <a:srgbClr val="14201A"/>
            </a:solidFill>
            <a:prstDash val="solid"/>
          </a:ln>
        </p:spPr>
      </p:sp>
      <p:sp>
        <p:nvSpPr>
          <p:cNvPr id="19" name="Text 17"/>
          <p:cNvSpPr/>
          <p:nvPr/>
        </p:nvSpPr>
        <p:spPr>
          <a:xfrm>
            <a:off x="749808" y="4572000"/>
            <a:ext cx="2148840" cy="274320"/>
          </a:xfrm>
          <a:prstGeom prst="rect">
            <a:avLst/>
          </a:prstGeom>
          <a:noFill/>
          <a:ln/>
        </p:spPr>
        <p:txBody>
          <a:bodyPr wrap="square" lIns="0" tIns="0" rIns="0" bIns="0" rtlCol="0" anchor="ctr"/>
          <a:lstStyle/>
          <a:p>
            <a:pPr indent="0" marL="0">
              <a:buNone/>
            </a:pPr>
            <a:r>
              <a:rPr lang="en-US" sz="1000" b="1" spc="80" kern="0" dirty="0">
                <a:solidFill>
                  <a:srgbClr val="14201A"/>
                </a:solidFill>
                <a:latin typeface="Calibri" pitchFamily="34" charset="0"/>
                <a:ea typeface="Calibri" pitchFamily="34" charset="-122"/>
                <a:cs typeface="Calibri" pitchFamily="34" charset="-120"/>
              </a:rPr>
              <a:t>RE-POINTED AT B2B</a:t>
            </a:r>
            <a:endParaRPr lang="en-US" sz="1000" dirty="0"/>
          </a:p>
        </p:txBody>
      </p:sp>
      <p:sp>
        <p:nvSpPr>
          <p:cNvPr id="20" name="Text 18"/>
          <p:cNvSpPr/>
          <p:nvPr/>
        </p:nvSpPr>
        <p:spPr>
          <a:xfrm>
            <a:off x="2971800" y="4572000"/>
            <a:ext cx="841248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vendor → branch · cart → order pad · slots → routes · COD risk → credit risk · pricing → price lists · settlement → collections</a:t>
            </a:r>
            <a:endParaRPr lang="en-US" sz="1000" dirty="0"/>
          </a:p>
        </p:txBody>
      </p:sp>
      <p:sp>
        <p:nvSpPr>
          <p:cNvPr id="21" name="Shape 19"/>
          <p:cNvSpPr/>
          <p:nvPr/>
        </p:nvSpPr>
        <p:spPr>
          <a:xfrm>
            <a:off x="548640" y="5029200"/>
            <a:ext cx="11064240" cy="493776"/>
          </a:xfrm>
          <a:prstGeom prst="roundRect">
            <a:avLst>
              <a:gd name="adj" fmla="val 9259"/>
            </a:avLst>
          </a:prstGeom>
          <a:solidFill>
            <a:srgbClr val="F6EAD8"/>
          </a:solidFill>
          <a:ln w="12700">
            <a:solidFill>
              <a:srgbClr val="9E5E10"/>
            </a:solidFill>
            <a:prstDash val="solid"/>
          </a:ln>
        </p:spPr>
      </p:sp>
      <p:sp>
        <p:nvSpPr>
          <p:cNvPr id="22" name="Text 20"/>
          <p:cNvSpPr/>
          <p:nvPr/>
        </p:nvSpPr>
        <p:spPr>
          <a:xfrm>
            <a:off x="749808" y="5138928"/>
            <a:ext cx="2148840" cy="274320"/>
          </a:xfrm>
          <a:prstGeom prst="rect">
            <a:avLst/>
          </a:prstGeom>
          <a:noFill/>
          <a:ln/>
        </p:spPr>
        <p:txBody>
          <a:bodyPr wrap="square" lIns="0" tIns="0" rIns="0" bIns="0" rtlCol="0" anchor="ctr"/>
          <a:lstStyle/>
          <a:p>
            <a:pPr indent="0" marL="0">
              <a:buNone/>
            </a:pPr>
            <a:r>
              <a:rPr lang="en-US" sz="1000" b="1" spc="80" kern="0" dirty="0">
                <a:solidFill>
                  <a:srgbClr val="9E5E10"/>
                </a:solidFill>
                <a:latin typeface="Calibri" pitchFamily="34" charset="0"/>
                <a:ea typeface="Calibri" pitchFamily="34" charset="-122"/>
                <a:cs typeface="Calibri" pitchFamily="34" charset="-120"/>
              </a:rPr>
              <a:t>NEW BUILDS</a:t>
            </a:r>
            <a:endParaRPr lang="en-US" sz="1000" dirty="0"/>
          </a:p>
        </p:txBody>
      </p:sp>
      <p:sp>
        <p:nvSpPr>
          <p:cNvPr id="23" name="Text 21"/>
          <p:cNvSpPr/>
          <p:nvPr/>
        </p:nvSpPr>
        <p:spPr>
          <a:xfrm>
            <a:off x="2971800" y="5138928"/>
            <a:ext cx="841248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procurement · goods receipt &amp; landed cost · stock transfer · credit &amp; receivables · wastage · counter sale</a:t>
            </a:r>
            <a:endParaRPr lang="en-US" sz="1000" dirty="0"/>
          </a:p>
        </p:txBody>
      </p:sp>
      <p:sp>
        <p:nvSpPr>
          <p:cNvPr id="24" name="Shape 22"/>
          <p:cNvSpPr/>
          <p:nvPr/>
        </p:nvSpPr>
        <p:spPr>
          <a:xfrm>
            <a:off x="548640" y="5596128"/>
            <a:ext cx="11064240" cy="493776"/>
          </a:xfrm>
          <a:prstGeom prst="roundRect">
            <a:avLst>
              <a:gd name="adj" fmla="val 9259"/>
            </a:avLst>
          </a:prstGeom>
          <a:solidFill>
            <a:srgbClr val="F5E2E0"/>
          </a:solidFill>
          <a:ln w="12700">
            <a:solidFill>
              <a:srgbClr val="A33228"/>
            </a:solidFill>
            <a:prstDash val="solid"/>
          </a:ln>
        </p:spPr>
      </p:sp>
      <p:sp>
        <p:nvSpPr>
          <p:cNvPr id="25" name="Text 23"/>
          <p:cNvSpPr/>
          <p:nvPr/>
        </p:nvSpPr>
        <p:spPr>
          <a:xfrm>
            <a:off x="749808" y="5705856"/>
            <a:ext cx="2148840" cy="274320"/>
          </a:xfrm>
          <a:prstGeom prst="rect">
            <a:avLst/>
          </a:prstGeom>
          <a:noFill/>
          <a:ln/>
        </p:spPr>
        <p:txBody>
          <a:bodyPr wrap="square" lIns="0" tIns="0" rIns="0" bIns="0" rtlCol="0" anchor="ctr"/>
          <a:lstStyle/>
          <a:p>
            <a:pPr indent="0" marL="0">
              <a:buNone/>
            </a:pPr>
            <a:r>
              <a:rPr lang="en-US" sz="1000" b="1" spc="80" kern="0" dirty="0">
                <a:solidFill>
                  <a:srgbClr val="A33228"/>
                </a:solidFill>
                <a:latin typeface="Calibri" pitchFamily="34" charset="0"/>
                <a:ea typeface="Calibri" pitchFamily="34" charset="-122"/>
                <a:cs typeface="Calibri" pitchFamily="34" charset="-120"/>
              </a:rPr>
              <a:t>DELETED</a:t>
            </a:r>
            <a:endParaRPr lang="en-US" sz="1000" dirty="0"/>
          </a:p>
        </p:txBody>
      </p:sp>
      <p:sp>
        <p:nvSpPr>
          <p:cNvPr id="26" name="Text 24"/>
          <p:cNvSpPr/>
          <p:nvPr/>
        </p:nvSpPr>
        <p:spPr>
          <a:xfrm>
            <a:off x="2971800" y="5705856"/>
            <a:ext cx="8412480" cy="274320"/>
          </a:xfrm>
          <a:prstGeom prst="rect">
            <a:avLst/>
          </a:prstGeom>
          <a:noFill/>
          <a:ln/>
        </p:spPr>
        <p:txBody>
          <a:bodyPr wrap="square" lIns="0" tIns="0" rIns="0" bIns="0" rtlCol="0" anchor="ctr"/>
          <a:lstStyle/>
          <a:p>
            <a:pPr indent="0" marL="0">
              <a:buNone/>
            </a:pPr>
            <a:r>
              <a:rPr lang="en-US" sz="1000" dirty="0">
                <a:solidFill>
                  <a:srgbClr val="3D4A43"/>
                </a:solidFill>
                <a:latin typeface="Calibri" pitchFamily="34" charset="0"/>
                <a:ea typeface="Calibri" pitchFamily="34" charset="-122"/>
                <a:cs typeface="Calibri" pitchFamily="34" charset="-120"/>
              </a:rPr>
              <a:t>commission · vendor onboarding &amp; SLAs · vendor payouts · marketplace tax provisions</a:t>
            </a:r>
            <a:endParaRPr lang="en-US" sz="1000" dirty="0"/>
          </a:p>
        </p:txBody>
      </p:sp>
      <p:sp>
        <p:nvSpPr>
          <p:cNvPr id="27" name="Text 25"/>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Why the pivot is survivable at all: module boundaries were enforced from day one, so re-pointing touches known seams rather than a tangle. That discipline, paid for early, makes this a redirection and not a rewrite.</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PLAN</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Eight phases, each with a gate it must pass</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The order is set by dependency, not preference: margin cannot be computed before landed cost exists, and landed cost cannot exist before goods receipt does.</a:t>
            </a:r>
            <a:endParaRPr lang="en-US" sz="1400" dirty="0"/>
          </a:p>
        </p:txBody>
      </p:sp>
      <p:sp>
        <p:nvSpPr>
          <p:cNvPr id="5" name="Shape 3"/>
          <p:cNvSpPr/>
          <p:nvPr/>
        </p:nvSpPr>
        <p:spPr>
          <a:xfrm>
            <a:off x="548640" y="1874520"/>
            <a:ext cx="808892" cy="566928"/>
          </a:xfrm>
          <a:prstGeom prst="roundRect">
            <a:avLst>
              <a:gd name="adj" fmla="val 8065"/>
            </a:avLst>
          </a:prstGeom>
          <a:solidFill>
            <a:srgbClr val="E0EFE6"/>
          </a:solidFill>
          <a:ln w="15875">
            <a:solidFill>
              <a:srgbClr val="1F7A4D"/>
            </a:solidFill>
            <a:prstDash val="solid"/>
          </a:ln>
        </p:spPr>
      </p:sp>
      <p:sp>
        <p:nvSpPr>
          <p:cNvPr id="6" name="Text 4"/>
          <p:cNvSpPr/>
          <p:nvPr/>
        </p:nvSpPr>
        <p:spPr>
          <a:xfrm>
            <a:off x="566928" y="1874520"/>
            <a:ext cx="772316" cy="566928"/>
          </a:xfrm>
          <a:prstGeom prst="rect">
            <a:avLst/>
          </a:prstGeom>
          <a:noFill/>
          <a:ln/>
        </p:spPr>
        <p:txBody>
          <a:bodyPr wrap="square" lIns="0" tIns="0" rIns="0" bIns="0" rtlCol="0" anchor="ctr"/>
          <a:lstStyle/>
          <a:p>
            <a:pPr algn="ctr" indent="0" marL="0">
              <a:buNone/>
            </a:pPr>
            <a:r>
              <a:rPr lang="en-US" sz="850" b="1" dirty="0">
                <a:solidFill>
                  <a:srgbClr val="1F7A4D"/>
                </a:solidFill>
                <a:latin typeface="Calibri" pitchFamily="34" charset="0"/>
                <a:ea typeface="Calibri" pitchFamily="34" charset="-122"/>
                <a:cs typeface="Calibri" pitchFamily="34" charset="-120"/>
              </a:rPr>
              <a:t>0 foundation ✓</a:t>
            </a:r>
            <a:endParaRPr lang="en-US" sz="850" dirty="0"/>
          </a:p>
        </p:txBody>
      </p:sp>
      <p:sp>
        <p:nvSpPr>
          <p:cNvPr id="7" name="Shape 5"/>
          <p:cNvSpPr/>
          <p:nvPr/>
        </p:nvSpPr>
        <p:spPr>
          <a:xfrm>
            <a:off x="1403252" y="1874520"/>
            <a:ext cx="808892" cy="566928"/>
          </a:xfrm>
          <a:prstGeom prst="roundRect">
            <a:avLst>
              <a:gd name="adj" fmla="val 8065"/>
            </a:avLst>
          </a:prstGeom>
          <a:solidFill>
            <a:srgbClr val="E0EFE6"/>
          </a:solidFill>
          <a:ln w="15875">
            <a:solidFill>
              <a:srgbClr val="1F7A4D"/>
            </a:solidFill>
            <a:prstDash val="solid"/>
          </a:ln>
        </p:spPr>
      </p:sp>
      <p:sp>
        <p:nvSpPr>
          <p:cNvPr id="8" name="Text 6"/>
          <p:cNvSpPr/>
          <p:nvPr/>
        </p:nvSpPr>
        <p:spPr>
          <a:xfrm>
            <a:off x="1421540" y="1874520"/>
            <a:ext cx="772316" cy="566928"/>
          </a:xfrm>
          <a:prstGeom prst="rect">
            <a:avLst/>
          </a:prstGeom>
          <a:noFill/>
          <a:ln/>
        </p:spPr>
        <p:txBody>
          <a:bodyPr wrap="square" lIns="0" tIns="0" rIns="0" bIns="0" rtlCol="0" anchor="ctr"/>
          <a:lstStyle/>
          <a:p>
            <a:pPr algn="ctr" indent="0" marL="0">
              <a:buNone/>
            </a:pPr>
            <a:r>
              <a:rPr lang="en-US" sz="850" b="1" dirty="0">
                <a:solidFill>
                  <a:srgbClr val="1F7A4D"/>
                </a:solidFill>
                <a:latin typeface="Calibri" pitchFamily="34" charset="0"/>
                <a:ea typeface="Calibri" pitchFamily="34" charset="-122"/>
                <a:cs typeface="Calibri" pitchFamily="34" charset="-120"/>
              </a:rPr>
              <a:t>1 catalog ✓</a:t>
            </a:r>
            <a:endParaRPr lang="en-US" sz="850" dirty="0"/>
          </a:p>
        </p:txBody>
      </p:sp>
      <p:sp>
        <p:nvSpPr>
          <p:cNvPr id="9" name="Shape 7"/>
          <p:cNvSpPr/>
          <p:nvPr/>
        </p:nvSpPr>
        <p:spPr>
          <a:xfrm>
            <a:off x="2257865" y="1874520"/>
            <a:ext cx="808892" cy="566928"/>
          </a:xfrm>
          <a:prstGeom prst="roundRect">
            <a:avLst>
              <a:gd name="adj" fmla="val 8065"/>
            </a:avLst>
          </a:prstGeom>
          <a:solidFill>
            <a:srgbClr val="E0EFE6"/>
          </a:solidFill>
          <a:ln w="15875">
            <a:solidFill>
              <a:srgbClr val="1F7A4D"/>
            </a:solidFill>
            <a:prstDash val="solid"/>
          </a:ln>
        </p:spPr>
      </p:sp>
      <p:sp>
        <p:nvSpPr>
          <p:cNvPr id="10" name="Text 8"/>
          <p:cNvSpPr/>
          <p:nvPr/>
        </p:nvSpPr>
        <p:spPr>
          <a:xfrm>
            <a:off x="2276153" y="1874520"/>
            <a:ext cx="772316" cy="566928"/>
          </a:xfrm>
          <a:prstGeom prst="rect">
            <a:avLst/>
          </a:prstGeom>
          <a:noFill/>
          <a:ln/>
        </p:spPr>
        <p:txBody>
          <a:bodyPr wrap="square" lIns="0" tIns="0" rIns="0" bIns="0" rtlCol="0" anchor="ctr"/>
          <a:lstStyle/>
          <a:p>
            <a:pPr algn="ctr" indent="0" marL="0">
              <a:buNone/>
            </a:pPr>
            <a:r>
              <a:rPr lang="en-US" sz="850" b="1" dirty="0">
                <a:solidFill>
                  <a:srgbClr val="1F7A4D"/>
                </a:solidFill>
                <a:latin typeface="Calibri" pitchFamily="34" charset="0"/>
                <a:ea typeface="Calibri" pitchFamily="34" charset="-122"/>
                <a:cs typeface="Calibri" pitchFamily="34" charset="-120"/>
              </a:rPr>
              <a:t>2 ordering ✓</a:t>
            </a:r>
            <a:endParaRPr lang="en-US" sz="850" dirty="0"/>
          </a:p>
        </p:txBody>
      </p:sp>
      <p:sp>
        <p:nvSpPr>
          <p:cNvPr id="11" name="Shape 9"/>
          <p:cNvSpPr/>
          <p:nvPr/>
        </p:nvSpPr>
        <p:spPr>
          <a:xfrm>
            <a:off x="3112477" y="1874520"/>
            <a:ext cx="808892" cy="566928"/>
          </a:xfrm>
          <a:prstGeom prst="roundRect">
            <a:avLst>
              <a:gd name="adj" fmla="val 8065"/>
            </a:avLst>
          </a:prstGeom>
          <a:solidFill>
            <a:srgbClr val="E0EFE6"/>
          </a:solidFill>
          <a:ln w="15875">
            <a:solidFill>
              <a:srgbClr val="1F7A4D"/>
            </a:solidFill>
            <a:prstDash val="solid"/>
          </a:ln>
        </p:spPr>
      </p:sp>
      <p:sp>
        <p:nvSpPr>
          <p:cNvPr id="12" name="Text 10"/>
          <p:cNvSpPr/>
          <p:nvPr/>
        </p:nvSpPr>
        <p:spPr>
          <a:xfrm>
            <a:off x="3130765" y="1874520"/>
            <a:ext cx="772316" cy="566928"/>
          </a:xfrm>
          <a:prstGeom prst="rect">
            <a:avLst/>
          </a:prstGeom>
          <a:noFill/>
          <a:ln/>
        </p:spPr>
        <p:txBody>
          <a:bodyPr wrap="square" lIns="0" tIns="0" rIns="0" bIns="0" rtlCol="0" anchor="ctr"/>
          <a:lstStyle/>
          <a:p>
            <a:pPr algn="ctr" indent="0" marL="0">
              <a:buNone/>
            </a:pPr>
            <a:r>
              <a:rPr lang="en-US" sz="850" b="1" dirty="0">
                <a:solidFill>
                  <a:srgbClr val="1F7A4D"/>
                </a:solidFill>
                <a:latin typeface="Calibri" pitchFamily="34" charset="0"/>
                <a:ea typeface="Calibri" pitchFamily="34" charset="-122"/>
                <a:cs typeface="Calibri" pitchFamily="34" charset="-120"/>
              </a:rPr>
              <a:t>3 payments ✓</a:t>
            </a:r>
            <a:endParaRPr lang="en-US" sz="850" dirty="0"/>
          </a:p>
        </p:txBody>
      </p:sp>
      <p:sp>
        <p:nvSpPr>
          <p:cNvPr id="13" name="Shape 11"/>
          <p:cNvSpPr/>
          <p:nvPr/>
        </p:nvSpPr>
        <p:spPr>
          <a:xfrm>
            <a:off x="3967089" y="1874520"/>
            <a:ext cx="808892" cy="566928"/>
          </a:xfrm>
          <a:prstGeom prst="roundRect">
            <a:avLst>
              <a:gd name="adj" fmla="val 8065"/>
            </a:avLst>
          </a:prstGeom>
          <a:solidFill>
            <a:srgbClr val="E0EFE6"/>
          </a:solidFill>
          <a:ln w="15875">
            <a:solidFill>
              <a:srgbClr val="1F7A4D"/>
            </a:solidFill>
            <a:prstDash val="solid"/>
          </a:ln>
        </p:spPr>
      </p:sp>
      <p:sp>
        <p:nvSpPr>
          <p:cNvPr id="14" name="Text 12"/>
          <p:cNvSpPr/>
          <p:nvPr/>
        </p:nvSpPr>
        <p:spPr>
          <a:xfrm>
            <a:off x="3985377" y="1874520"/>
            <a:ext cx="772316" cy="566928"/>
          </a:xfrm>
          <a:prstGeom prst="rect">
            <a:avLst/>
          </a:prstGeom>
          <a:noFill/>
          <a:ln/>
        </p:spPr>
        <p:txBody>
          <a:bodyPr wrap="square" lIns="0" tIns="0" rIns="0" bIns="0" rtlCol="0" anchor="ctr"/>
          <a:lstStyle/>
          <a:p>
            <a:pPr algn="ctr" indent="0" marL="0">
              <a:buNone/>
            </a:pPr>
            <a:r>
              <a:rPr lang="en-US" sz="850" b="1" dirty="0">
                <a:solidFill>
                  <a:srgbClr val="1F7A4D"/>
                </a:solidFill>
                <a:latin typeface="Calibri" pitchFamily="34" charset="0"/>
                <a:ea typeface="Calibri" pitchFamily="34" charset="-122"/>
                <a:cs typeface="Calibri" pitchFamily="34" charset="-120"/>
              </a:rPr>
              <a:t>4 grocery ✓</a:t>
            </a:r>
            <a:endParaRPr lang="en-US" sz="850" dirty="0"/>
          </a:p>
        </p:txBody>
      </p:sp>
      <p:sp>
        <p:nvSpPr>
          <p:cNvPr id="15" name="Shape 13"/>
          <p:cNvSpPr/>
          <p:nvPr/>
        </p:nvSpPr>
        <p:spPr>
          <a:xfrm>
            <a:off x="4821702" y="1874520"/>
            <a:ext cx="808892" cy="566928"/>
          </a:xfrm>
          <a:prstGeom prst="roundRect">
            <a:avLst>
              <a:gd name="adj" fmla="val 8065"/>
            </a:avLst>
          </a:prstGeom>
          <a:solidFill>
            <a:srgbClr val="F6EAD8"/>
          </a:solidFill>
          <a:ln w="15875">
            <a:solidFill>
              <a:srgbClr val="9E5E10"/>
            </a:solidFill>
            <a:prstDash val="solid"/>
          </a:ln>
        </p:spPr>
      </p:sp>
      <p:sp>
        <p:nvSpPr>
          <p:cNvPr id="16" name="Text 14"/>
          <p:cNvSpPr/>
          <p:nvPr/>
        </p:nvSpPr>
        <p:spPr>
          <a:xfrm>
            <a:off x="4839990" y="1874520"/>
            <a:ext cx="772316" cy="566928"/>
          </a:xfrm>
          <a:prstGeom prst="rect">
            <a:avLst/>
          </a:prstGeom>
          <a:noFill/>
          <a:ln/>
        </p:spPr>
        <p:txBody>
          <a:bodyPr wrap="square" lIns="0" tIns="0" rIns="0" bIns="0" rtlCol="0" anchor="ctr"/>
          <a:lstStyle/>
          <a:p>
            <a:pPr algn="ctr" indent="0" marL="0">
              <a:buNone/>
            </a:pPr>
            <a:r>
              <a:rPr lang="en-US" sz="850" b="1" dirty="0">
                <a:solidFill>
                  <a:srgbClr val="9E5E10"/>
                </a:solidFill>
                <a:latin typeface="Calibri" pitchFamily="34" charset="0"/>
                <a:ea typeface="Calibri" pitchFamily="34" charset="-122"/>
                <a:cs typeface="Calibri" pitchFamily="34" charset="-120"/>
              </a:rPr>
              <a:t>5 recut</a:t>
            </a:r>
            <a:endParaRPr lang="en-US" sz="850" dirty="0"/>
          </a:p>
        </p:txBody>
      </p:sp>
      <p:sp>
        <p:nvSpPr>
          <p:cNvPr id="17" name="Shape 15"/>
          <p:cNvSpPr/>
          <p:nvPr/>
        </p:nvSpPr>
        <p:spPr>
          <a:xfrm>
            <a:off x="5676314" y="1874520"/>
            <a:ext cx="808892" cy="566928"/>
          </a:xfrm>
          <a:prstGeom prst="roundRect">
            <a:avLst>
              <a:gd name="adj" fmla="val 8065"/>
            </a:avLst>
          </a:prstGeom>
          <a:solidFill>
            <a:srgbClr val="FFFFFF"/>
          </a:solidFill>
          <a:ln w="12700">
            <a:solidFill>
              <a:srgbClr val="D6D5CB"/>
            </a:solidFill>
            <a:prstDash val="solid"/>
          </a:ln>
        </p:spPr>
      </p:sp>
      <p:sp>
        <p:nvSpPr>
          <p:cNvPr id="18" name="Text 16"/>
          <p:cNvSpPr/>
          <p:nvPr/>
        </p:nvSpPr>
        <p:spPr>
          <a:xfrm>
            <a:off x="5694602"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6 cost</a:t>
            </a:r>
            <a:endParaRPr lang="en-US" sz="850" dirty="0"/>
          </a:p>
        </p:txBody>
      </p:sp>
      <p:sp>
        <p:nvSpPr>
          <p:cNvPr id="19" name="Shape 17"/>
          <p:cNvSpPr/>
          <p:nvPr/>
        </p:nvSpPr>
        <p:spPr>
          <a:xfrm>
            <a:off x="6530926" y="1874520"/>
            <a:ext cx="808892" cy="566928"/>
          </a:xfrm>
          <a:prstGeom prst="roundRect">
            <a:avLst>
              <a:gd name="adj" fmla="val 8065"/>
            </a:avLst>
          </a:prstGeom>
          <a:solidFill>
            <a:srgbClr val="FFFFFF"/>
          </a:solidFill>
          <a:ln w="12700">
            <a:solidFill>
              <a:srgbClr val="D6D5CB"/>
            </a:solidFill>
            <a:prstDash val="solid"/>
          </a:ln>
        </p:spPr>
      </p:sp>
      <p:sp>
        <p:nvSpPr>
          <p:cNvPr id="20" name="Text 18"/>
          <p:cNvSpPr/>
          <p:nvPr/>
        </p:nvSpPr>
        <p:spPr>
          <a:xfrm>
            <a:off x="6549214"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7 stock</a:t>
            </a:r>
            <a:endParaRPr lang="en-US" sz="850" dirty="0"/>
          </a:p>
        </p:txBody>
      </p:sp>
      <p:sp>
        <p:nvSpPr>
          <p:cNvPr id="21" name="Shape 19"/>
          <p:cNvSpPr/>
          <p:nvPr/>
        </p:nvSpPr>
        <p:spPr>
          <a:xfrm>
            <a:off x="7385538" y="1874520"/>
            <a:ext cx="808892" cy="566928"/>
          </a:xfrm>
          <a:prstGeom prst="roundRect">
            <a:avLst>
              <a:gd name="adj" fmla="val 8065"/>
            </a:avLst>
          </a:prstGeom>
          <a:solidFill>
            <a:srgbClr val="FFFFFF"/>
          </a:solidFill>
          <a:ln w="12700">
            <a:solidFill>
              <a:srgbClr val="D6D5CB"/>
            </a:solidFill>
            <a:prstDash val="solid"/>
          </a:ln>
        </p:spPr>
      </p:sp>
      <p:sp>
        <p:nvSpPr>
          <p:cNvPr id="22" name="Text 20"/>
          <p:cNvSpPr/>
          <p:nvPr/>
        </p:nvSpPr>
        <p:spPr>
          <a:xfrm>
            <a:off x="7403826"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8 orders</a:t>
            </a:r>
            <a:endParaRPr lang="en-US" sz="850" dirty="0"/>
          </a:p>
        </p:txBody>
      </p:sp>
      <p:sp>
        <p:nvSpPr>
          <p:cNvPr id="23" name="Shape 21"/>
          <p:cNvSpPr/>
          <p:nvPr/>
        </p:nvSpPr>
        <p:spPr>
          <a:xfrm>
            <a:off x="8240151" y="1874520"/>
            <a:ext cx="808892" cy="566928"/>
          </a:xfrm>
          <a:prstGeom prst="roundRect">
            <a:avLst>
              <a:gd name="adj" fmla="val 8065"/>
            </a:avLst>
          </a:prstGeom>
          <a:solidFill>
            <a:srgbClr val="FFFFFF"/>
          </a:solidFill>
          <a:ln w="12700">
            <a:solidFill>
              <a:srgbClr val="D6D5CB"/>
            </a:solidFill>
            <a:prstDash val="solid"/>
          </a:ln>
        </p:spPr>
      </p:sp>
      <p:sp>
        <p:nvSpPr>
          <p:cNvPr id="24" name="Text 22"/>
          <p:cNvSpPr/>
          <p:nvPr/>
        </p:nvSpPr>
        <p:spPr>
          <a:xfrm>
            <a:off x="8258439"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9 credit</a:t>
            </a:r>
            <a:endParaRPr lang="en-US" sz="850" dirty="0"/>
          </a:p>
        </p:txBody>
      </p:sp>
      <p:sp>
        <p:nvSpPr>
          <p:cNvPr id="25" name="Shape 23"/>
          <p:cNvSpPr/>
          <p:nvPr/>
        </p:nvSpPr>
        <p:spPr>
          <a:xfrm>
            <a:off x="9094763" y="1874520"/>
            <a:ext cx="808892" cy="566928"/>
          </a:xfrm>
          <a:prstGeom prst="roundRect">
            <a:avLst>
              <a:gd name="adj" fmla="val 8065"/>
            </a:avLst>
          </a:prstGeom>
          <a:solidFill>
            <a:srgbClr val="FFFFFF"/>
          </a:solidFill>
          <a:ln w="12700">
            <a:solidFill>
              <a:srgbClr val="D6D5CB"/>
            </a:solidFill>
            <a:prstDash val="solid"/>
          </a:ln>
        </p:spPr>
      </p:sp>
      <p:sp>
        <p:nvSpPr>
          <p:cNvPr id="26" name="Text 24"/>
          <p:cNvSpPr/>
          <p:nvPr/>
        </p:nvSpPr>
        <p:spPr>
          <a:xfrm>
            <a:off x="9113051"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10 routes</a:t>
            </a:r>
            <a:endParaRPr lang="en-US" sz="850" dirty="0"/>
          </a:p>
        </p:txBody>
      </p:sp>
      <p:sp>
        <p:nvSpPr>
          <p:cNvPr id="27" name="Shape 25"/>
          <p:cNvSpPr/>
          <p:nvPr/>
        </p:nvSpPr>
        <p:spPr>
          <a:xfrm>
            <a:off x="9949375" y="1874520"/>
            <a:ext cx="808892" cy="566928"/>
          </a:xfrm>
          <a:prstGeom prst="roundRect">
            <a:avLst>
              <a:gd name="adj" fmla="val 8065"/>
            </a:avLst>
          </a:prstGeom>
          <a:solidFill>
            <a:srgbClr val="FFFFFF"/>
          </a:solidFill>
          <a:ln w="12700">
            <a:solidFill>
              <a:srgbClr val="D6D5CB"/>
            </a:solidFill>
            <a:prstDash val="solid"/>
          </a:ln>
        </p:spPr>
      </p:sp>
      <p:sp>
        <p:nvSpPr>
          <p:cNvPr id="28" name="Text 26"/>
          <p:cNvSpPr/>
          <p:nvPr/>
        </p:nvSpPr>
        <p:spPr>
          <a:xfrm>
            <a:off x="9967663"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11 tower</a:t>
            </a:r>
            <a:endParaRPr lang="en-US" sz="850" dirty="0"/>
          </a:p>
        </p:txBody>
      </p:sp>
      <p:sp>
        <p:nvSpPr>
          <p:cNvPr id="29" name="Shape 27"/>
          <p:cNvSpPr/>
          <p:nvPr/>
        </p:nvSpPr>
        <p:spPr>
          <a:xfrm>
            <a:off x="10803988" y="1874520"/>
            <a:ext cx="808892" cy="566928"/>
          </a:xfrm>
          <a:prstGeom prst="roundRect">
            <a:avLst>
              <a:gd name="adj" fmla="val 8065"/>
            </a:avLst>
          </a:prstGeom>
          <a:solidFill>
            <a:srgbClr val="FFFFFF"/>
          </a:solidFill>
          <a:ln w="12700">
            <a:solidFill>
              <a:srgbClr val="D6D5CB"/>
            </a:solidFill>
            <a:prstDash val="solid"/>
          </a:ln>
        </p:spPr>
      </p:sp>
      <p:sp>
        <p:nvSpPr>
          <p:cNvPr id="30" name="Text 28"/>
          <p:cNvSpPr/>
          <p:nvPr/>
        </p:nvSpPr>
        <p:spPr>
          <a:xfrm>
            <a:off x="10822276" y="1874520"/>
            <a:ext cx="772316" cy="566928"/>
          </a:xfrm>
          <a:prstGeom prst="rect">
            <a:avLst/>
          </a:prstGeom>
          <a:noFill/>
          <a:ln/>
        </p:spPr>
        <p:txBody>
          <a:bodyPr wrap="square" lIns="0" tIns="0" rIns="0" bIns="0" rtlCol="0" anchor="ctr"/>
          <a:lstStyle/>
          <a:p>
            <a:pPr algn="ctr" indent="0" marL="0">
              <a:buNone/>
            </a:pPr>
            <a:r>
              <a:rPr lang="en-US" sz="850" dirty="0">
                <a:solidFill>
                  <a:srgbClr val="67736C"/>
                </a:solidFill>
                <a:latin typeface="Calibri" pitchFamily="34" charset="0"/>
                <a:ea typeface="Calibri" pitchFamily="34" charset="-122"/>
                <a:cs typeface="Calibri" pitchFamily="34" charset="-120"/>
              </a:rPr>
              <a:t>12 launch</a:t>
            </a:r>
            <a:endParaRPr lang="en-US" sz="850" dirty="0"/>
          </a:p>
        </p:txBody>
      </p:sp>
      <p:sp>
        <p:nvSpPr>
          <p:cNvPr id="31" name="Text 29"/>
          <p:cNvSpPr/>
          <p:nvPr/>
        </p:nvSpPr>
        <p:spPr>
          <a:xfrm>
            <a:off x="548640" y="2523744"/>
            <a:ext cx="11064240" cy="256032"/>
          </a:xfrm>
          <a:prstGeom prst="rect">
            <a:avLst/>
          </a:prstGeom>
          <a:noFill/>
          <a:ln/>
        </p:spPr>
        <p:txBody>
          <a:bodyPr wrap="square" lIns="0" tIns="0" rIns="0" bIns="0" rtlCol="0" anchor="ctr"/>
          <a:lstStyle/>
          <a:p>
            <a:pPr indent="0" marL="0">
              <a:buNone/>
            </a:pPr>
            <a:r>
              <a:rPr lang="en-US" sz="1050" i="1" dirty="0">
                <a:solidFill>
                  <a:srgbClr val="67736C"/>
                </a:solidFill>
                <a:latin typeface="Calibri" pitchFamily="34" charset="0"/>
                <a:ea typeface="Calibri" pitchFamily="34" charset="-122"/>
                <a:cs typeface="Calibri" pitchFamily="34" charset="-120"/>
              </a:rPr>
              <a:t>Green is built, tested and live on cloud today.  Amber is next.  Everything from phase 5 onward is this plan.</a:t>
            </a:r>
            <a:endParaRPr lang="en-US" sz="1050" dirty="0"/>
          </a:p>
        </p:txBody>
      </p:sp>
      <p:sp>
        <p:nvSpPr>
          <p:cNvPr id="32" name="Shape 30"/>
          <p:cNvSpPr/>
          <p:nvPr/>
        </p:nvSpPr>
        <p:spPr>
          <a:xfrm>
            <a:off x="548640" y="2889504"/>
            <a:ext cx="5440680" cy="804672"/>
          </a:xfrm>
          <a:prstGeom prst="roundRect">
            <a:avLst>
              <a:gd name="adj" fmla="val 5682"/>
            </a:avLst>
          </a:prstGeom>
          <a:solidFill>
            <a:srgbClr val="F1F0EA"/>
          </a:solidFill>
          <a:ln w="12700">
            <a:solidFill>
              <a:srgbClr val="D6D5CB"/>
            </a:solidFill>
            <a:prstDash val="solid"/>
          </a:ln>
        </p:spPr>
      </p:sp>
      <p:sp>
        <p:nvSpPr>
          <p:cNvPr id="33" name="Shape 31"/>
          <p:cNvSpPr/>
          <p:nvPr/>
        </p:nvSpPr>
        <p:spPr>
          <a:xfrm>
            <a:off x="694944" y="3072384"/>
            <a:ext cx="438912" cy="438912"/>
          </a:xfrm>
          <a:prstGeom prst="ellipse">
            <a:avLst/>
          </a:prstGeom>
          <a:solidFill>
            <a:srgbClr val="9E5E10"/>
          </a:solidFill>
          <a:ln w="12700">
            <a:solidFill>
              <a:srgbClr val="9E5E10"/>
            </a:solidFill>
            <a:prstDash val="solid"/>
          </a:ln>
        </p:spPr>
      </p:sp>
      <p:sp>
        <p:nvSpPr>
          <p:cNvPr id="34" name="Text 32"/>
          <p:cNvSpPr/>
          <p:nvPr/>
        </p:nvSpPr>
        <p:spPr>
          <a:xfrm>
            <a:off x="694944" y="307238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5" name="Text 33"/>
          <p:cNvSpPr/>
          <p:nvPr/>
        </p:nvSpPr>
        <p:spPr>
          <a:xfrm>
            <a:off x="1243584" y="293522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The recut</a:t>
            </a:r>
            <a:endParaRPr lang="en-US" sz="1300" dirty="0"/>
          </a:p>
        </p:txBody>
      </p:sp>
      <p:sp>
        <p:nvSpPr>
          <p:cNvPr id="36" name="Text 34"/>
          <p:cNvSpPr/>
          <p:nvPr/>
        </p:nvSpPr>
        <p:spPr>
          <a:xfrm>
            <a:off x="1243584" y="318211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Ledger re-charted · vendor becomes branch · price splits from stock</a:t>
            </a:r>
            <a:endParaRPr lang="en-US" sz="900" dirty="0"/>
          </a:p>
        </p:txBody>
      </p:sp>
      <p:sp>
        <p:nvSpPr>
          <p:cNvPr id="37" name="Text 35"/>
          <p:cNvSpPr/>
          <p:nvPr/>
        </p:nvSpPr>
        <p:spPr>
          <a:xfrm>
            <a:off x="1243584" y="341985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An order prices from a customer's list, allocates stock, and posts a balanced entry</a:t>
            </a:r>
            <a:endParaRPr lang="en-US" sz="850" dirty="0"/>
          </a:p>
        </p:txBody>
      </p:sp>
      <p:sp>
        <p:nvSpPr>
          <p:cNvPr id="38" name="Shape 36"/>
          <p:cNvSpPr/>
          <p:nvPr/>
        </p:nvSpPr>
        <p:spPr>
          <a:xfrm>
            <a:off x="6172200" y="2889504"/>
            <a:ext cx="5440680" cy="804672"/>
          </a:xfrm>
          <a:prstGeom prst="roundRect">
            <a:avLst>
              <a:gd name="adj" fmla="val 5682"/>
            </a:avLst>
          </a:prstGeom>
          <a:solidFill>
            <a:srgbClr val="F1F0EA"/>
          </a:solidFill>
          <a:ln w="12700">
            <a:solidFill>
              <a:srgbClr val="D6D5CB"/>
            </a:solidFill>
            <a:prstDash val="solid"/>
          </a:ln>
        </p:spPr>
      </p:sp>
      <p:sp>
        <p:nvSpPr>
          <p:cNvPr id="39" name="Shape 37"/>
          <p:cNvSpPr/>
          <p:nvPr/>
        </p:nvSpPr>
        <p:spPr>
          <a:xfrm>
            <a:off x="6318504" y="3072384"/>
            <a:ext cx="438912" cy="438912"/>
          </a:xfrm>
          <a:prstGeom prst="ellipse">
            <a:avLst/>
          </a:prstGeom>
          <a:solidFill>
            <a:srgbClr val="1F7A4D"/>
          </a:solidFill>
          <a:ln w="12700">
            <a:solidFill>
              <a:srgbClr val="1F7A4D"/>
            </a:solidFill>
            <a:prstDash val="solid"/>
          </a:ln>
        </p:spPr>
      </p:sp>
      <p:sp>
        <p:nvSpPr>
          <p:cNvPr id="40" name="Text 38"/>
          <p:cNvSpPr/>
          <p:nvPr/>
        </p:nvSpPr>
        <p:spPr>
          <a:xfrm>
            <a:off x="6318504" y="307238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41" name="Text 39"/>
          <p:cNvSpPr/>
          <p:nvPr/>
        </p:nvSpPr>
        <p:spPr>
          <a:xfrm>
            <a:off x="6867144" y="293522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Procurement &amp; landed cost</a:t>
            </a:r>
            <a:endParaRPr lang="en-US" sz="1300" dirty="0"/>
          </a:p>
        </p:txBody>
      </p:sp>
      <p:sp>
        <p:nvSpPr>
          <p:cNvPr id="42" name="Text 40"/>
          <p:cNvSpPr/>
          <p:nvPr/>
        </p:nvSpPr>
        <p:spPr>
          <a:xfrm>
            <a:off x="6867144" y="318211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Suppliers, purchase orders, goods receipt, weighted-average valuation</a:t>
            </a:r>
            <a:endParaRPr lang="en-US" sz="900" dirty="0"/>
          </a:p>
        </p:txBody>
      </p:sp>
      <p:sp>
        <p:nvSpPr>
          <p:cNvPr id="43" name="Text 41"/>
          <p:cNvSpPr/>
          <p:nvPr/>
        </p:nvSpPr>
        <p:spPr>
          <a:xfrm>
            <a:off x="6867144" y="341985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Gross margin on a delivered order ties to a manual calculation, to the paisa</a:t>
            </a:r>
            <a:endParaRPr lang="en-US" sz="850" dirty="0"/>
          </a:p>
        </p:txBody>
      </p:sp>
      <p:sp>
        <p:nvSpPr>
          <p:cNvPr id="44" name="Shape 42"/>
          <p:cNvSpPr/>
          <p:nvPr/>
        </p:nvSpPr>
        <p:spPr>
          <a:xfrm>
            <a:off x="548640" y="3758184"/>
            <a:ext cx="5440680" cy="804672"/>
          </a:xfrm>
          <a:prstGeom prst="roundRect">
            <a:avLst>
              <a:gd name="adj" fmla="val 5682"/>
            </a:avLst>
          </a:prstGeom>
          <a:solidFill>
            <a:srgbClr val="FFFFFF"/>
          </a:solidFill>
          <a:ln w="12700">
            <a:solidFill>
              <a:srgbClr val="D6D5CB"/>
            </a:solidFill>
            <a:prstDash val="solid"/>
          </a:ln>
        </p:spPr>
      </p:sp>
      <p:sp>
        <p:nvSpPr>
          <p:cNvPr id="45" name="Shape 43"/>
          <p:cNvSpPr/>
          <p:nvPr/>
        </p:nvSpPr>
        <p:spPr>
          <a:xfrm>
            <a:off x="694944" y="3941064"/>
            <a:ext cx="438912" cy="438912"/>
          </a:xfrm>
          <a:prstGeom prst="ellipse">
            <a:avLst/>
          </a:prstGeom>
          <a:solidFill>
            <a:srgbClr val="1F7A4D"/>
          </a:solidFill>
          <a:ln w="12700">
            <a:solidFill>
              <a:srgbClr val="1F7A4D"/>
            </a:solidFill>
            <a:prstDash val="solid"/>
          </a:ln>
        </p:spPr>
      </p:sp>
      <p:sp>
        <p:nvSpPr>
          <p:cNvPr id="46" name="Text 44"/>
          <p:cNvSpPr/>
          <p:nvPr/>
        </p:nvSpPr>
        <p:spPr>
          <a:xfrm>
            <a:off x="694944" y="394106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7</a:t>
            </a:r>
            <a:endParaRPr lang="en-US" sz="1500" dirty="0"/>
          </a:p>
        </p:txBody>
      </p:sp>
      <p:sp>
        <p:nvSpPr>
          <p:cNvPr id="47" name="Text 45"/>
          <p:cNvSpPr/>
          <p:nvPr/>
        </p:nvSpPr>
        <p:spPr>
          <a:xfrm>
            <a:off x="1243584" y="380390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Stock across locations</a:t>
            </a:r>
            <a:endParaRPr lang="en-US" sz="1300" dirty="0"/>
          </a:p>
        </p:txBody>
      </p:sp>
      <p:sp>
        <p:nvSpPr>
          <p:cNvPr id="48" name="Text 46"/>
          <p:cNvSpPr/>
          <p:nvPr/>
        </p:nvSpPr>
        <p:spPr>
          <a:xfrm>
            <a:off x="1243584" y="405079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Branch stock truth, transfers, computed replenishment, daily wastage</a:t>
            </a:r>
            <a:endParaRPr lang="en-US" sz="900" dirty="0"/>
          </a:p>
        </p:txBody>
      </p:sp>
      <p:sp>
        <p:nvSpPr>
          <p:cNvPr id="49" name="Text 47"/>
          <p:cNvSpPr/>
          <p:nvPr/>
        </p:nvSpPr>
        <p:spPr>
          <a:xfrm>
            <a:off x="1243584" y="428853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Stock matches a physical count within 2% on a day that included counter sales</a:t>
            </a:r>
            <a:endParaRPr lang="en-US" sz="850" dirty="0"/>
          </a:p>
        </p:txBody>
      </p:sp>
      <p:sp>
        <p:nvSpPr>
          <p:cNvPr id="50" name="Shape 48"/>
          <p:cNvSpPr/>
          <p:nvPr/>
        </p:nvSpPr>
        <p:spPr>
          <a:xfrm>
            <a:off x="6172200" y="3758184"/>
            <a:ext cx="5440680" cy="804672"/>
          </a:xfrm>
          <a:prstGeom prst="roundRect">
            <a:avLst>
              <a:gd name="adj" fmla="val 5682"/>
            </a:avLst>
          </a:prstGeom>
          <a:solidFill>
            <a:srgbClr val="FFFFFF"/>
          </a:solidFill>
          <a:ln w="12700">
            <a:solidFill>
              <a:srgbClr val="D6D5CB"/>
            </a:solidFill>
            <a:prstDash val="solid"/>
          </a:ln>
        </p:spPr>
      </p:sp>
      <p:sp>
        <p:nvSpPr>
          <p:cNvPr id="51" name="Shape 49"/>
          <p:cNvSpPr/>
          <p:nvPr/>
        </p:nvSpPr>
        <p:spPr>
          <a:xfrm>
            <a:off x="6318504" y="3941064"/>
            <a:ext cx="438912" cy="438912"/>
          </a:xfrm>
          <a:prstGeom prst="ellipse">
            <a:avLst/>
          </a:prstGeom>
          <a:solidFill>
            <a:srgbClr val="1F7A4D"/>
          </a:solidFill>
          <a:ln w="12700">
            <a:solidFill>
              <a:srgbClr val="1F7A4D"/>
            </a:solidFill>
            <a:prstDash val="solid"/>
          </a:ln>
        </p:spPr>
      </p:sp>
      <p:sp>
        <p:nvSpPr>
          <p:cNvPr id="52" name="Text 50"/>
          <p:cNvSpPr/>
          <p:nvPr/>
        </p:nvSpPr>
        <p:spPr>
          <a:xfrm>
            <a:off x="6318504" y="394106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8</a:t>
            </a:r>
            <a:endParaRPr lang="en-US" sz="1500" dirty="0"/>
          </a:p>
        </p:txBody>
      </p:sp>
      <p:sp>
        <p:nvSpPr>
          <p:cNvPr id="53" name="Text 51"/>
          <p:cNvSpPr/>
          <p:nvPr/>
        </p:nvSpPr>
        <p:spPr>
          <a:xfrm>
            <a:off x="6867144" y="380390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B2B order to invoice</a:t>
            </a:r>
            <a:endParaRPr lang="en-US" sz="1300" dirty="0"/>
          </a:p>
        </p:txBody>
      </p:sp>
      <p:sp>
        <p:nvSpPr>
          <p:cNvPr id="54" name="Text 52"/>
          <p:cNvSpPr/>
          <p:nvPr/>
        </p:nvSpPr>
        <p:spPr>
          <a:xfrm>
            <a:off x="6867144" y="405079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Order pad, credit gate, firm allocation, telesales, GST-correct invoice</a:t>
            </a:r>
            <a:endParaRPr lang="en-US" sz="900" dirty="0"/>
          </a:p>
        </p:txBody>
      </p:sp>
      <p:sp>
        <p:nvSpPr>
          <p:cNvPr id="55" name="Text 53"/>
          <p:cNvSpPr/>
          <p:nvPr/>
        </p:nvSpPr>
        <p:spPr>
          <a:xfrm>
            <a:off x="6867144" y="428853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A shop orders from the pad, is credit-checked, picked, weighed and invoiced</a:t>
            </a:r>
            <a:endParaRPr lang="en-US" sz="850" dirty="0"/>
          </a:p>
        </p:txBody>
      </p:sp>
      <p:sp>
        <p:nvSpPr>
          <p:cNvPr id="56" name="Shape 54"/>
          <p:cNvSpPr/>
          <p:nvPr/>
        </p:nvSpPr>
        <p:spPr>
          <a:xfrm>
            <a:off x="548640" y="4626864"/>
            <a:ext cx="5440680" cy="804672"/>
          </a:xfrm>
          <a:prstGeom prst="roundRect">
            <a:avLst>
              <a:gd name="adj" fmla="val 5682"/>
            </a:avLst>
          </a:prstGeom>
          <a:solidFill>
            <a:srgbClr val="F1F0EA"/>
          </a:solidFill>
          <a:ln w="12700">
            <a:solidFill>
              <a:srgbClr val="D6D5CB"/>
            </a:solidFill>
            <a:prstDash val="solid"/>
          </a:ln>
        </p:spPr>
      </p:sp>
      <p:sp>
        <p:nvSpPr>
          <p:cNvPr id="57" name="Shape 55"/>
          <p:cNvSpPr/>
          <p:nvPr/>
        </p:nvSpPr>
        <p:spPr>
          <a:xfrm>
            <a:off x="694944" y="4809744"/>
            <a:ext cx="438912" cy="438912"/>
          </a:xfrm>
          <a:prstGeom prst="ellipse">
            <a:avLst/>
          </a:prstGeom>
          <a:solidFill>
            <a:srgbClr val="1F7A4D"/>
          </a:solidFill>
          <a:ln w="12700">
            <a:solidFill>
              <a:srgbClr val="1F7A4D"/>
            </a:solidFill>
            <a:prstDash val="solid"/>
          </a:ln>
        </p:spPr>
      </p:sp>
      <p:sp>
        <p:nvSpPr>
          <p:cNvPr id="58" name="Text 56"/>
          <p:cNvSpPr/>
          <p:nvPr/>
        </p:nvSpPr>
        <p:spPr>
          <a:xfrm>
            <a:off x="694944" y="4809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9</a:t>
            </a:r>
            <a:endParaRPr lang="en-US" sz="1500" dirty="0"/>
          </a:p>
        </p:txBody>
      </p:sp>
      <p:sp>
        <p:nvSpPr>
          <p:cNvPr id="59" name="Text 57"/>
          <p:cNvSpPr/>
          <p:nvPr/>
        </p:nvSpPr>
        <p:spPr>
          <a:xfrm>
            <a:off x="1243584" y="467258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Credit &amp; collections</a:t>
            </a:r>
            <a:endParaRPr lang="en-US" sz="1300" dirty="0"/>
          </a:p>
        </p:txBody>
      </p:sp>
      <p:sp>
        <p:nvSpPr>
          <p:cNvPr id="60" name="Text 58"/>
          <p:cNvSpPr/>
          <p:nvPr/>
        </p:nvSpPr>
        <p:spPr>
          <a:xfrm>
            <a:off x="1243584" y="491947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Credit profiles, live ageing, receipts against invoices, escalation ladder</a:t>
            </a:r>
            <a:endParaRPr lang="en-US" sz="900" dirty="0"/>
          </a:p>
        </p:txBody>
      </p:sp>
      <p:sp>
        <p:nvSpPr>
          <p:cNvPr id="61" name="Text 59"/>
          <p:cNvSpPr/>
          <p:nvPr/>
        </p:nvSpPr>
        <p:spPr>
          <a:xfrm>
            <a:off x="1243584" y="515721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Collection days compute live from the ledger; a statement ties to the paisa</a:t>
            </a:r>
            <a:endParaRPr lang="en-US" sz="850" dirty="0"/>
          </a:p>
        </p:txBody>
      </p:sp>
      <p:sp>
        <p:nvSpPr>
          <p:cNvPr id="62" name="Shape 60"/>
          <p:cNvSpPr/>
          <p:nvPr/>
        </p:nvSpPr>
        <p:spPr>
          <a:xfrm>
            <a:off x="6172200" y="4626864"/>
            <a:ext cx="5440680" cy="804672"/>
          </a:xfrm>
          <a:prstGeom prst="roundRect">
            <a:avLst>
              <a:gd name="adj" fmla="val 5682"/>
            </a:avLst>
          </a:prstGeom>
          <a:solidFill>
            <a:srgbClr val="F1F0EA"/>
          </a:solidFill>
          <a:ln w="12700">
            <a:solidFill>
              <a:srgbClr val="D6D5CB"/>
            </a:solidFill>
            <a:prstDash val="solid"/>
          </a:ln>
        </p:spPr>
      </p:sp>
      <p:sp>
        <p:nvSpPr>
          <p:cNvPr id="63" name="Shape 61"/>
          <p:cNvSpPr/>
          <p:nvPr/>
        </p:nvSpPr>
        <p:spPr>
          <a:xfrm>
            <a:off x="6318504" y="4809744"/>
            <a:ext cx="438912" cy="438912"/>
          </a:xfrm>
          <a:prstGeom prst="ellipse">
            <a:avLst/>
          </a:prstGeom>
          <a:solidFill>
            <a:srgbClr val="1F7A4D"/>
          </a:solidFill>
          <a:ln w="12700">
            <a:solidFill>
              <a:srgbClr val="1F7A4D"/>
            </a:solidFill>
            <a:prstDash val="solid"/>
          </a:ln>
        </p:spPr>
      </p:sp>
      <p:sp>
        <p:nvSpPr>
          <p:cNvPr id="64" name="Text 62"/>
          <p:cNvSpPr/>
          <p:nvPr/>
        </p:nvSpPr>
        <p:spPr>
          <a:xfrm>
            <a:off x="6318504" y="4809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10</a:t>
            </a:r>
            <a:endParaRPr lang="en-US" sz="1500" dirty="0"/>
          </a:p>
        </p:txBody>
      </p:sp>
      <p:sp>
        <p:nvSpPr>
          <p:cNvPr id="65" name="Text 63"/>
          <p:cNvSpPr/>
          <p:nvPr/>
        </p:nvSpPr>
        <p:spPr>
          <a:xfrm>
            <a:off x="6867144" y="467258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Distribution &amp; routes</a:t>
            </a:r>
            <a:endParaRPr lang="en-US" sz="1300" dirty="0"/>
          </a:p>
        </p:txBody>
      </p:sp>
      <p:sp>
        <p:nvSpPr>
          <p:cNvPr id="66" name="Text 64"/>
          <p:cNvSpPr/>
          <p:nvPr/>
        </p:nvSpPr>
        <p:spPr>
          <a:xfrm>
            <a:off x="6867144" y="491947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Delivery days and beats, route planning, own and hired vehicles, proof of delivery</a:t>
            </a:r>
            <a:endParaRPr lang="en-US" sz="900" dirty="0"/>
          </a:p>
        </p:txBody>
      </p:sp>
      <p:sp>
        <p:nvSpPr>
          <p:cNvPr id="67" name="Text 65"/>
          <p:cNvSpPr/>
          <p:nvPr/>
        </p:nvSpPr>
        <p:spPr>
          <a:xfrm>
            <a:off x="6867144" y="515721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A day's orders route, load, deliver, collect and reconcile to the ledger</a:t>
            </a:r>
            <a:endParaRPr lang="en-US" sz="850" dirty="0"/>
          </a:p>
        </p:txBody>
      </p:sp>
      <p:sp>
        <p:nvSpPr>
          <p:cNvPr id="68" name="Shape 66"/>
          <p:cNvSpPr/>
          <p:nvPr/>
        </p:nvSpPr>
        <p:spPr>
          <a:xfrm>
            <a:off x="548640" y="5495544"/>
            <a:ext cx="5440680" cy="804672"/>
          </a:xfrm>
          <a:prstGeom prst="roundRect">
            <a:avLst>
              <a:gd name="adj" fmla="val 5682"/>
            </a:avLst>
          </a:prstGeom>
          <a:solidFill>
            <a:srgbClr val="FFFFFF"/>
          </a:solidFill>
          <a:ln w="12700">
            <a:solidFill>
              <a:srgbClr val="D6D5CB"/>
            </a:solidFill>
            <a:prstDash val="solid"/>
          </a:ln>
        </p:spPr>
      </p:sp>
      <p:sp>
        <p:nvSpPr>
          <p:cNvPr id="69" name="Shape 67"/>
          <p:cNvSpPr/>
          <p:nvPr/>
        </p:nvSpPr>
        <p:spPr>
          <a:xfrm>
            <a:off x="694944" y="5678424"/>
            <a:ext cx="438912" cy="438912"/>
          </a:xfrm>
          <a:prstGeom prst="ellipse">
            <a:avLst/>
          </a:prstGeom>
          <a:solidFill>
            <a:srgbClr val="1F7A4D"/>
          </a:solidFill>
          <a:ln w="12700">
            <a:solidFill>
              <a:srgbClr val="1F7A4D"/>
            </a:solidFill>
            <a:prstDash val="solid"/>
          </a:ln>
        </p:spPr>
      </p:sp>
      <p:sp>
        <p:nvSpPr>
          <p:cNvPr id="70" name="Text 68"/>
          <p:cNvSpPr/>
          <p:nvPr/>
        </p:nvSpPr>
        <p:spPr>
          <a:xfrm>
            <a:off x="694944" y="56784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11</a:t>
            </a:r>
            <a:endParaRPr lang="en-US" sz="1500" dirty="0"/>
          </a:p>
        </p:txBody>
      </p:sp>
      <p:sp>
        <p:nvSpPr>
          <p:cNvPr id="71" name="Text 69"/>
          <p:cNvSpPr/>
          <p:nvPr/>
        </p:nvSpPr>
        <p:spPr>
          <a:xfrm>
            <a:off x="1243584" y="554126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Control tower</a:t>
            </a:r>
            <a:endParaRPr lang="en-US" sz="1300" dirty="0"/>
          </a:p>
        </p:txBody>
      </p:sp>
      <p:sp>
        <p:nvSpPr>
          <p:cNvPr id="72" name="Text 70"/>
          <p:cNvSpPr/>
          <p:nvPr/>
        </p:nvSpPr>
        <p:spPr>
          <a:xfrm>
            <a:off x="1243584" y="578815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The whole network on one screen — stock, orders, receivables, margin, cash cycle</a:t>
            </a:r>
            <a:endParaRPr lang="en-US" sz="900" dirty="0"/>
          </a:p>
        </p:txBody>
      </p:sp>
      <p:sp>
        <p:nvSpPr>
          <p:cNvPr id="73" name="Text 71"/>
          <p:cNvSpPr/>
          <p:nvPr/>
        </p:nvSpPr>
        <p:spPr>
          <a:xfrm>
            <a:off x="1243584" y="602589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The founder runs a full day from one screen without calling a branch</a:t>
            </a:r>
            <a:endParaRPr lang="en-US" sz="850" dirty="0"/>
          </a:p>
        </p:txBody>
      </p:sp>
      <p:sp>
        <p:nvSpPr>
          <p:cNvPr id="74" name="Shape 72"/>
          <p:cNvSpPr/>
          <p:nvPr/>
        </p:nvSpPr>
        <p:spPr>
          <a:xfrm>
            <a:off x="6172200" y="5495544"/>
            <a:ext cx="5440680" cy="804672"/>
          </a:xfrm>
          <a:prstGeom prst="roundRect">
            <a:avLst>
              <a:gd name="adj" fmla="val 5682"/>
            </a:avLst>
          </a:prstGeom>
          <a:solidFill>
            <a:srgbClr val="FFFFFF"/>
          </a:solidFill>
          <a:ln w="12700">
            <a:solidFill>
              <a:srgbClr val="D6D5CB"/>
            </a:solidFill>
            <a:prstDash val="solid"/>
          </a:ln>
        </p:spPr>
      </p:sp>
      <p:sp>
        <p:nvSpPr>
          <p:cNvPr id="75" name="Shape 73"/>
          <p:cNvSpPr/>
          <p:nvPr/>
        </p:nvSpPr>
        <p:spPr>
          <a:xfrm>
            <a:off x="6318504" y="5678424"/>
            <a:ext cx="438912" cy="438912"/>
          </a:xfrm>
          <a:prstGeom prst="ellipse">
            <a:avLst/>
          </a:prstGeom>
          <a:solidFill>
            <a:srgbClr val="1F7A4D"/>
          </a:solidFill>
          <a:ln w="12700">
            <a:solidFill>
              <a:srgbClr val="1F7A4D"/>
            </a:solidFill>
            <a:prstDash val="solid"/>
          </a:ln>
        </p:spPr>
      </p:sp>
      <p:sp>
        <p:nvSpPr>
          <p:cNvPr id="76" name="Text 74"/>
          <p:cNvSpPr/>
          <p:nvPr/>
        </p:nvSpPr>
        <p:spPr>
          <a:xfrm>
            <a:off x="6318504" y="56784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12</a:t>
            </a:r>
            <a:endParaRPr lang="en-US" sz="1500" dirty="0"/>
          </a:p>
        </p:txBody>
      </p:sp>
      <p:sp>
        <p:nvSpPr>
          <p:cNvPr id="77" name="Text 75"/>
          <p:cNvSpPr/>
          <p:nvPr/>
        </p:nvSpPr>
        <p:spPr>
          <a:xfrm>
            <a:off x="6867144" y="5541264"/>
            <a:ext cx="4572000" cy="246888"/>
          </a:xfrm>
          <a:prstGeom prst="rect">
            <a:avLst/>
          </a:prstGeom>
          <a:noFill/>
          <a:ln/>
        </p:spPr>
        <p:txBody>
          <a:bodyPr wrap="square" lIns="0" tIns="0" rIns="0" bIns="0" rtlCol="0" anchor="ctr"/>
          <a:lstStyle/>
          <a:p>
            <a:pPr indent="0" marL="0">
              <a:buNone/>
            </a:pPr>
            <a:r>
              <a:rPr lang="en-US" sz="1300" b="1" dirty="0">
                <a:solidFill>
                  <a:srgbClr val="14201A"/>
                </a:solidFill>
                <a:latin typeface="Cambria" pitchFamily="34" charset="0"/>
                <a:ea typeface="Cambria" pitchFamily="34" charset="-122"/>
                <a:cs typeface="Cambria" pitchFamily="34" charset="-120"/>
              </a:rPr>
              <a:t>Compliance &amp; launch</a:t>
            </a:r>
            <a:endParaRPr lang="en-US" sz="1300" dirty="0"/>
          </a:p>
        </p:txBody>
      </p:sp>
      <p:sp>
        <p:nvSpPr>
          <p:cNvPr id="78" name="Text 76"/>
          <p:cNvSpPr/>
          <p:nvPr/>
        </p:nvSpPr>
        <p:spPr>
          <a:xfrm>
            <a:off x="6867144" y="5788152"/>
            <a:ext cx="4617720" cy="237744"/>
          </a:xfrm>
          <a:prstGeom prst="rect">
            <a:avLst/>
          </a:prstGeom>
          <a:noFill/>
          <a:ln/>
        </p:spPr>
        <p:txBody>
          <a:bodyPr wrap="square" lIns="0" tIns="0" rIns="0" bIns="0" rtlCol="0" anchor="ctr"/>
          <a:lstStyle/>
          <a:p>
            <a:pPr indent="0" marL="0">
              <a:buNone/>
            </a:pPr>
            <a:r>
              <a:rPr lang="en-US" sz="900" dirty="0">
                <a:solidFill>
                  <a:srgbClr val="3D4A43"/>
                </a:solidFill>
                <a:latin typeface="Calibri" pitchFamily="34" charset="0"/>
                <a:ea typeface="Calibri" pitchFamily="34" charset="-122"/>
                <a:cs typeface="Calibri" pitchFamily="34" charset="-120"/>
              </a:rPr>
              <a:t>Real tax config replaces demo values · GST returns · auth hardening · load testing</a:t>
            </a:r>
            <a:endParaRPr lang="en-US" sz="900" dirty="0"/>
          </a:p>
        </p:txBody>
      </p:sp>
      <p:sp>
        <p:nvSpPr>
          <p:cNvPr id="79" name="Text 77"/>
          <p:cNvSpPr/>
          <p:nvPr/>
        </p:nvSpPr>
        <p:spPr>
          <a:xfrm>
            <a:off x="6867144" y="6025896"/>
            <a:ext cx="4617720" cy="237744"/>
          </a:xfrm>
          <a:prstGeom prst="rect">
            <a:avLst/>
          </a:prstGeom>
          <a:noFill/>
          <a:ln/>
        </p:spPr>
        <p:txBody>
          <a:bodyPr wrap="square" lIns="0" tIns="0" rIns="0" bIns="0" rtlCol="0" anchor="ctr"/>
          <a:lstStyle/>
          <a:p>
            <a:pPr indent="0" marL="0">
              <a:buNone/>
            </a:pPr>
            <a:r>
              <a:rPr lang="en-US" sz="850" i="1" dirty="0">
                <a:solidFill>
                  <a:srgbClr val="1F7A4D"/>
                </a:solidFill>
                <a:latin typeface="Calibri" pitchFamily="34" charset="0"/>
                <a:ea typeface="Calibri" pitchFamily="34" charset="-122"/>
                <a:cs typeface="Calibri" pitchFamily="34" charset="-120"/>
              </a:rPr>
              <a:t>GATE  Launch readiness passes with no demo value able to reach production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ROLLOUT</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Proven at each ring before the next</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The software is not the risk — data discipline is. Each ring must hold before the next one opens, because a second branch multiplies a data problem rather than diluting it.</a:t>
            </a:r>
            <a:endParaRPr lang="en-US" sz="1400" dirty="0"/>
          </a:p>
        </p:txBody>
      </p:sp>
      <p:sp>
        <p:nvSpPr>
          <p:cNvPr id="5" name="Shape 3"/>
          <p:cNvSpPr/>
          <p:nvPr/>
        </p:nvSpPr>
        <p:spPr>
          <a:xfrm>
            <a:off x="548640" y="1874520"/>
            <a:ext cx="11064240" cy="960120"/>
          </a:xfrm>
          <a:prstGeom prst="roundRect">
            <a:avLst>
              <a:gd name="adj" fmla="val 5714"/>
            </a:avLst>
          </a:prstGeom>
          <a:solidFill>
            <a:srgbClr val="F1F0EA"/>
          </a:solidFill>
          <a:ln w="12700">
            <a:solidFill>
              <a:srgbClr val="D6D5CB"/>
            </a:solidFill>
            <a:prstDash val="solid"/>
          </a:ln>
          <a:effectLst>
            <a:outerShdw sx="100000" sy="100000" kx="0" ky="0" algn="bl" rotWithShape="0" blurRad="76200" dist="12700" dir="5400000">
              <a:srgbClr val="14201A">
                <a:alpha val="6000"/>
              </a:srgbClr>
            </a:outerShdw>
          </a:effectLst>
        </p:spPr>
      </p:sp>
      <p:sp>
        <p:nvSpPr>
          <p:cNvPr id="6" name="Shape 4"/>
          <p:cNvSpPr/>
          <p:nvPr/>
        </p:nvSpPr>
        <p:spPr>
          <a:xfrm>
            <a:off x="786384" y="2112264"/>
            <a:ext cx="493776" cy="493776"/>
          </a:xfrm>
          <a:prstGeom prst="ellipse">
            <a:avLst/>
          </a:prstGeom>
          <a:solidFill>
            <a:srgbClr val="1F7A4D"/>
          </a:solidFill>
          <a:ln w="12700">
            <a:solidFill>
              <a:srgbClr val="1F7A4D"/>
            </a:solidFill>
            <a:prstDash val="solid"/>
          </a:ln>
        </p:spPr>
      </p:sp>
      <p:sp>
        <p:nvSpPr>
          <p:cNvPr id="7" name="Text 5"/>
          <p:cNvSpPr/>
          <p:nvPr/>
        </p:nvSpPr>
        <p:spPr>
          <a:xfrm>
            <a:off x="786384" y="2112264"/>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B0</a:t>
            </a:r>
            <a:endParaRPr lang="en-US" sz="1500" dirty="0"/>
          </a:p>
        </p:txBody>
      </p:sp>
      <p:sp>
        <p:nvSpPr>
          <p:cNvPr id="8" name="Text 6"/>
          <p:cNvSpPr/>
          <p:nvPr/>
        </p:nvSpPr>
        <p:spPr>
          <a:xfrm>
            <a:off x="1463040" y="2020824"/>
            <a:ext cx="265176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Hub only</a:t>
            </a:r>
            <a:endParaRPr lang="en-US" sz="1600" dirty="0"/>
          </a:p>
        </p:txBody>
      </p:sp>
      <p:sp>
        <p:nvSpPr>
          <p:cNvPr id="9" name="Text 7"/>
          <p:cNvSpPr/>
          <p:nvPr/>
        </p:nvSpPr>
        <p:spPr>
          <a:xfrm>
            <a:off x="1463040" y="2331720"/>
            <a:ext cx="2651760" cy="274320"/>
          </a:xfrm>
          <a:prstGeom prst="rect">
            <a:avLst/>
          </a:prstGeom>
          <a:noFill/>
          <a:ln/>
        </p:spPr>
        <p:txBody>
          <a:bodyPr wrap="square" lIns="0" tIns="0" rIns="0" bIns="0" rtlCol="0" anchor="ctr"/>
          <a:lstStyle/>
          <a:p>
            <a:pPr indent="0" marL="0">
              <a:buNone/>
            </a:pPr>
            <a:r>
              <a:rPr lang="en-US" sz="1050" dirty="0">
                <a:solidFill>
                  <a:srgbClr val="67736C"/>
                </a:solidFill>
                <a:latin typeface="Calibri" pitchFamily="34" charset="0"/>
                <a:ea typeface="Calibri" pitchFamily="34" charset="-122"/>
                <a:cs typeface="Calibri" pitchFamily="34" charset="-120"/>
              </a:rPr>
              <a:t>10–15 friendly customers</a:t>
            </a:r>
            <a:endParaRPr lang="en-US" sz="1050" dirty="0"/>
          </a:p>
        </p:txBody>
      </p:sp>
      <p:sp>
        <p:nvSpPr>
          <p:cNvPr id="10" name="Text 8"/>
          <p:cNvSpPr/>
          <p:nvPr/>
        </p:nvSpPr>
        <p:spPr>
          <a:xfrm>
            <a:off x="4297680" y="2002536"/>
            <a:ext cx="1463040" cy="219456"/>
          </a:xfrm>
          <a:prstGeom prst="rect">
            <a:avLst/>
          </a:prstGeom>
          <a:noFill/>
          <a:ln/>
        </p:spPr>
        <p:txBody>
          <a:bodyPr wrap="square" lIns="0" tIns="0" rIns="0" bIns="0" rtlCol="0" anchor="ctr"/>
          <a:lstStyle/>
          <a:p>
            <a:pPr indent="0" marL="0">
              <a:buNone/>
            </a:pPr>
            <a:r>
              <a:rPr lang="en-US" sz="850" b="1" spc="100" kern="0" dirty="0">
                <a:solidFill>
                  <a:srgbClr val="1F7A4D"/>
                </a:solidFill>
                <a:latin typeface="Calibri" pitchFamily="34" charset="0"/>
                <a:ea typeface="Calibri" pitchFamily="34" charset="-122"/>
                <a:cs typeface="Calibri" pitchFamily="34" charset="-120"/>
              </a:rPr>
              <a:t>GO / NO-GO</a:t>
            </a:r>
            <a:endParaRPr lang="en-US" sz="850" dirty="0"/>
          </a:p>
        </p:txBody>
      </p:sp>
      <p:sp>
        <p:nvSpPr>
          <p:cNvPr id="11" name="Text 9"/>
          <p:cNvSpPr/>
          <p:nvPr/>
        </p:nvSpPr>
        <p:spPr>
          <a:xfrm>
            <a:off x="4297680" y="2221992"/>
            <a:ext cx="6949440" cy="530352"/>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Order → pick → invoice → deliver → collect works end to end</a:t>
            </a:r>
            <a:endParaRPr lang="en-US" sz="1050" dirty="0"/>
          </a:p>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Landed cost and gross margin tie to a hand calculation</a:t>
            </a:r>
            <a:endParaRPr lang="en-US" sz="1050" dirty="0"/>
          </a:p>
        </p:txBody>
      </p:sp>
      <p:sp>
        <p:nvSpPr>
          <p:cNvPr id="12" name="Shape 10"/>
          <p:cNvSpPr/>
          <p:nvPr/>
        </p:nvSpPr>
        <p:spPr>
          <a:xfrm>
            <a:off x="548640" y="2935224"/>
            <a:ext cx="11064240" cy="960120"/>
          </a:xfrm>
          <a:prstGeom prst="roundRect">
            <a:avLst>
              <a:gd name="adj" fmla="val 5714"/>
            </a:avLst>
          </a:prstGeom>
          <a:solidFill>
            <a:srgbClr val="FFFFFF"/>
          </a:solidFill>
          <a:ln w="12700">
            <a:solidFill>
              <a:srgbClr val="D6D5CB"/>
            </a:solidFill>
            <a:prstDash val="solid"/>
          </a:ln>
          <a:effectLst>
            <a:outerShdw sx="100000" sy="100000" kx="0" ky="0" algn="bl" rotWithShape="0" blurRad="76200" dist="12700" dir="5400000">
              <a:srgbClr val="14201A">
                <a:alpha val="6000"/>
              </a:srgbClr>
            </a:outerShdw>
          </a:effectLst>
        </p:spPr>
      </p:sp>
      <p:sp>
        <p:nvSpPr>
          <p:cNvPr id="13" name="Shape 11"/>
          <p:cNvSpPr/>
          <p:nvPr/>
        </p:nvSpPr>
        <p:spPr>
          <a:xfrm>
            <a:off x="786384" y="3172968"/>
            <a:ext cx="493776" cy="493776"/>
          </a:xfrm>
          <a:prstGeom prst="ellipse">
            <a:avLst/>
          </a:prstGeom>
          <a:solidFill>
            <a:srgbClr val="1F7A4D"/>
          </a:solidFill>
          <a:ln w="12700">
            <a:solidFill>
              <a:srgbClr val="1F7A4D"/>
            </a:solidFill>
            <a:prstDash val="solid"/>
          </a:ln>
        </p:spPr>
      </p:sp>
      <p:sp>
        <p:nvSpPr>
          <p:cNvPr id="14" name="Text 12"/>
          <p:cNvSpPr/>
          <p:nvPr/>
        </p:nvSpPr>
        <p:spPr>
          <a:xfrm>
            <a:off x="786384" y="3172968"/>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B1</a:t>
            </a:r>
            <a:endParaRPr lang="en-US" sz="1500" dirty="0"/>
          </a:p>
        </p:txBody>
      </p:sp>
      <p:sp>
        <p:nvSpPr>
          <p:cNvPr id="15" name="Text 13"/>
          <p:cNvSpPr/>
          <p:nvPr/>
        </p:nvSpPr>
        <p:spPr>
          <a:xfrm>
            <a:off x="1463040" y="3081528"/>
            <a:ext cx="265176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Hub + one branch</a:t>
            </a:r>
            <a:endParaRPr lang="en-US" sz="1600" dirty="0"/>
          </a:p>
        </p:txBody>
      </p:sp>
      <p:sp>
        <p:nvSpPr>
          <p:cNvPr id="16" name="Text 14"/>
          <p:cNvSpPr/>
          <p:nvPr/>
        </p:nvSpPr>
        <p:spPr>
          <a:xfrm>
            <a:off x="1463040" y="3392424"/>
            <a:ext cx="2651760" cy="274320"/>
          </a:xfrm>
          <a:prstGeom prst="rect">
            <a:avLst/>
          </a:prstGeom>
          <a:noFill/>
          <a:ln/>
        </p:spPr>
        <p:txBody>
          <a:bodyPr wrap="square" lIns="0" tIns="0" rIns="0" bIns="0" rtlCol="0" anchor="ctr"/>
          <a:lstStyle/>
          <a:p>
            <a:pPr indent="0" marL="0">
              <a:buNone/>
            </a:pPr>
            <a:r>
              <a:rPr lang="en-US" sz="1050" dirty="0">
                <a:solidFill>
                  <a:srgbClr val="67736C"/>
                </a:solidFill>
                <a:latin typeface="Calibri" pitchFamily="34" charset="0"/>
                <a:ea typeface="Calibri" pitchFamily="34" charset="-122"/>
                <a:cs typeface="Calibri" pitchFamily="34" charset="-120"/>
              </a:rPr>
              <a:t>around 30 customers</a:t>
            </a:r>
            <a:endParaRPr lang="en-US" sz="1050" dirty="0"/>
          </a:p>
        </p:txBody>
      </p:sp>
      <p:sp>
        <p:nvSpPr>
          <p:cNvPr id="17" name="Text 15"/>
          <p:cNvSpPr/>
          <p:nvPr/>
        </p:nvSpPr>
        <p:spPr>
          <a:xfrm>
            <a:off x="4297680" y="3063240"/>
            <a:ext cx="1463040" cy="219456"/>
          </a:xfrm>
          <a:prstGeom prst="rect">
            <a:avLst/>
          </a:prstGeom>
          <a:noFill/>
          <a:ln/>
        </p:spPr>
        <p:txBody>
          <a:bodyPr wrap="square" lIns="0" tIns="0" rIns="0" bIns="0" rtlCol="0" anchor="ctr"/>
          <a:lstStyle/>
          <a:p>
            <a:pPr indent="0" marL="0">
              <a:buNone/>
            </a:pPr>
            <a:r>
              <a:rPr lang="en-US" sz="850" b="1" spc="100" kern="0" dirty="0">
                <a:solidFill>
                  <a:srgbClr val="1F7A4D"/>
                </a:solidFill>
                <a:latin typeface="Calibri" pitchFamily="34" charset="0"/>
                <a:ea typeface="Calibri" pitchFamily="34" charset="-122"/>
                <a:cs typeface="Calibri" pitchFamily="34" charset="-120"/>
              </a:rPr>
              <a:t>GO / NO-GO</a:t>
            </a:r>
            <a:endParaRPr lang="en-US" sz="850" dirty="0"/>
          </a:p>
        </p:txBody>
      </p:sp>
      <p:sp>
        <p:nvSpPr>
          <p:cNvPr id="18" name="Text 16"/>
          <p:cNvSpPr/>
          <p:nvPr/>
        </p:nvSpPr>
        <p:spPr>
          <a:xfrm>
            <a:off x="4297680" y="3282696"/>
            <a:ext cx="6949440" cy="530352"/>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Stock transfers work · branch stock accurate within 2%</a:t>
            </a:r>
            <a:endParaRPr lang="en-US" sz="1050" dirty="0"/>
          </a:p>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Collection days measured and under 30 · fill rate 93% or better</a:t>
            </a:r>
            <a:endParaRPr lang="en-US" sz="1050" dirty="0"/>
          </a:p>
        </p:txBody>
      </p:sp>
      <p:sp>
        <p:nvSpPr>
          <p:cNvPr id="19" name="Shape 17"/>
          <p:cNvSpPr/>
          <p:nvPr/>
        </p:nvSpPr>
        <p:spPr>
          <a:xfrm>
            <a:off x="548640" y="3995928"/>
            <a:ext cx="11064240" cy="960120"/>
          </a:xfrm>
          <a:prstGeom prst="roundRect">
            <a:avLst>
              <a:gd name="adj" fmla="val 5714"/>
            </a:avLst>
          </a:prstGeom>
          <a:solidFill>
            <a:srgbClr val="F1F0EA"/>
          </a:solidFill>
          <a:ln w="12700">
            <a:solidFill>
              <a:srgbClr val="D6D5CB"/>
            </a:solidFill>
            <a:prstDash val="solid"/>
          </a:ln>
          <a:effectLst>
            <a:outerShdw sx="100000" sy="100000" kx="0" ky="0" algn="bl" rotWithShape="0" blurRad="76200" dist="12700" dir="5400000">
              <a:srgbClr val="14201A">
                <a:alpha val="6000"/>
              </a:srgbClr>
            </a:outerShdw>
          </a:effectLst>
        </p:spPr>
      </p:sp>
      <p:sp>
        <p:nvSpPr>
          <p:cNvPr id="20" name="Shape 18"/>
          <p:cNvSpPr/>
          <p:nvPr/>
        </p:nvSpPr>
        <p:spPr>
          <a:xfrm>
            <a:off x="786384" y="4233672"/>
            <a:ext cx="493776" cy="493776"/>
          </a:xfrm>
          <a:prstGeom prst="ellipse">
            <a:avLst/>
          </a:prstGeom>
          <a:solidFill>
            <a:srgbClr val="9E5E10"/>
          </a:solidFill>
          <a:ln w="12700">
            <a:solidFill>
              <a:srgbClr val="9E5E10"/>
            </a:solidFill>
            <a:prstDash val="solid"/>
          </a:ln>
        </p:spPr>
      </p:sp>
      <p:sp>
        <p:nvSpPr>
          <p:cNvPr id="21" name="Text 19"/>
          <p:cNvSpPr/>
          <p:nvPr/>
        </p:nvSpPr>
        <p:spPr>
          <a:xfrm>
            <a:off x="786384" y="423367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B2</a:t>
            </a:r>
            <a:endParaRPr lang="en-US" sz="1500" dirty="0"/>
          </a:p>
        </p:txBody>
      </p:sp>
      <p:sp>
        <p:nvSpPr>
          <p:cNvPr id="22" name="Text 20"/>
          <p:cNvSpPr/>
          <p:nvPr/>
        </p:nvSpPr>
        <p:spPr>
          <a:xfrm>
            <a:off x="1463040" y="4142232"/>
            <a:ext cx="265176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The full network</a:t>
            </a:r>
            <a:endParaRPr lang="en-US" sz="1600" dirty="0"/>
          </a:p>
        </p:txBody>
      </p:sp>
      <p:sp>
        <p:nvSpPr>
          <p:cNvPr id="23" name="Text 21"/>
          <p:cNvSpPr/>
          <p:nvPr/>
        </p:nvSpPr>
        <p:spPr>
          <a:xfrm>
            <a:off x="1463040" y="4453128"/>
            <a:ext cx="2651760" cy="274320"/>
          </a:xfrm>
          <a:prstGeom prst="rect">
            <a:avLst/>
          </a:prstGeom>
          <a:noFill/>
          <a:ln/>
        </p:spPr>
        <p:txBody>
          <a:bodyPr wrap="square" lIns="0" tIns="0" rIns="0" bIns="0" rtlCol="0" anchor="ctr"/>
          <a:lstStyle/>
          <a:p>
            <a:pPr indent="0" marL="0">
              <a:buNone/>
            </a:pPr>
            <a:r>
              <a:rPr lang="en-US" sz="1050" dirty="0">
                <a:solidFill>
                  <a:srgbClr val="67736C"/>
                </a:solidFill>
                <a:latin typeface="Calibri" pitchFamily="34" charset="0"/>
                <a:ea typeface="Calibri" pitchFamily="34" charset="-122"/>
                <a:cs typeface="Calibri" pitchFamily="34" charset="-120"/>
              </a:rPr>
              <a:t>all branches, full customer base</a:t>
            </a:r>
            <a:endParaRPr lang="en-US" sz="1050" dirty="0"/>
          </a:p>
        </p:txBody>
      </p:sp>
      <p:sp>
        <p:nvSpPr>
          <p:cNvPr id="24" name="Text 22"/>
          <p:cNvSpPr/>
          <p:nvPr/>
        </p:nvSpPr>
        <p:spPr>
          <a:xfrm>
            <a:off x="4297680" y="4123944"/>
            <a:ext cx="1463040" cy="219456"/>
          </a:xfrm>
          <a:prstGeom prst="rect">
            <a:avLst/>
          </a:prstGeom>
          <a:noFill/>
          <a:ln/>
        </p:spPr>
        <p:txBody>
          <a:bodyPr wrap="square" lIns="0" tIns="0" rIns="0" bIns="0" rtlCol="0" anchor="ctr"/>
          <a:lstStyle/>
          <a:p>
            <a:pPr indent="0" marL="0">
              <a:buNone/>
            </a:pPr>
            <a:r>
              <a:rPr lang="en-US" sz="850" b="1" spc="100" kern="0" dirty="0">
                <a:solidFill>
                  <a:srgbClr val="9E5E10"/>
                </a:solidFill>
                <a:latin typeface="Calibri" pitchFamily="34" charset="0"/>
                <a:ea typeface="Calibri" pitchFamily="34" charset="-122"/>
                <a:cs typeface="Calibri" pitchFamily="34" charset="-120"/>
              </a:rPr>
              <a:t>GO / NO-GO</a:t>
            </a:r>
            <a:endParaRPr lang="en-US" sz="850" dirty="0"/>
          </a:p>
        </p:txBody>
      </p:sp>
      <p:sp>
        <p:nvSpPr>
          <p:cNvPr id="25" name="Text 23"/>
          <p:cNvSpPr/>
          <p:nvPr/>
        </p:nvSpPr>
        <p:spPr>
          <a:xfrm>
            <a:off x="4297680" y="4343400"/>
            <a:ext cx="6949440" cy="530352"/>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Every B1 gate holds everywhere · cash cycle 35 days or less</a:t>
            </a:r>
            <a:endParaRPr lang="en-US" sz="1050" dirty="0"/>
          </a:p>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Wastage on target by category · zero missed event dates</a:t>
            </a:r>
            <a:endParaRPr lang="en-US" sz="1050" dirty="0"/>
          </a:p>
        </p:txBody>
      </p:sp>
      <p:sp>
        <p:nvSpPr>
          <p:cNvPr id="26" name="Shape 24"/>
          <p:cNvSpPr/>
          <p:nvPr/>
        </p:nvSpPr>
        <p:spPr>
          <a:xfrm>
            <a:off x="548640" y="5056632"/>
            <a:ext cx="11064240" cy="960120"/>
          </a:xfrm>
          <a:prstGeom prst="roundRect">
            <a:avLst>
              <a:gd name="adj" fmla="val 5714"/>
            </a:avLst>
          </a:prstGeom>
          <a:solidFill>
            <a:srgbClr val="FFFFFF"/>
          </a:solidFill>
          <a:ln w="12700">
            <a:solidFill>
              <a:srgbClr val="D6D5CB"/>
            </a:solidFill>
            <a:prstDash val="solid"/>
          </a:ln>
          <a:effectLst>
            <a:outerShdw sx="100000" sy="100000" kx="0" ky="0" algn="bl" rotWithShape="0" blurRad="76200" dist="12700" dir="5400000">
              <a:srgbClr val="14201A">
                <a:alpha val="6000"/>
              </a:srgbClr>
            </a:outerShdw>
          </a:effectLst>
        </p:spPr>
      </p:sp>
      <p:sp>
        <p:nvSpPr>
          <p:cNvPr id="27" name="Shape 25"/>
          <p:cNvSpPr/>
          <p:nvPr/>
        </p:nvSpPr>
        <p:spPr>
          <a:xfrm>
            <a:off x="786384" y="5294376"/>
            <a:ext cx="493776" cy="493776"/>
          </a:xfrm>
          <a:prstGeom prst="ellipse">
            <a:avLst/>
          </a:prstGeom>
          <a:solidFill>
            <a:srgbClr val="67736C"/>
          </a:solidFill>
          <a:ln w="12700">
            <a:solidFill>
              <a:srgbClr val="67736C"/>
            </a:solidFill>
            <a:prstDash val="solid"/>
          </a:ln>
        </p:spPr>
      </p:sp>
      <p:sp>
        <p:nvSpPr>
          <p:cNvPr id="28" name="Text 26"/>
          <p:cNvSpPr/>
          <p:nvPr/>
        </p:nvSpPr>
        <p:spPr>
          <a:xfrm>
            <a:off x="786384" y="5294376"/>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B3</a:t>
            </a:r>
            <a:endParaRPr lang="en-US" sz="1500" dirty="0"/>
          </a:p>
        </p:txBody>
      </p:sp>
      <p:sp>
        <p:nvSpPr>
          <p:cNvPr id="29" name="Text 27"/>
          <p:cNvSpPr/>
          <p:nvPr/>
        </p:nvSpPr>
        <p:spPr>
          <a:xfrm>
            <a:off x="1463040" y="5202936"/>
            <a:ext cx="2651760" cy="292608"/>
          </a:xfrm>
          <a:prstGeom prst="rect">
            <a:avLst/>
          </a:prstGeom>
          <a:noFill/>
          <a:ln/>
        </p:spPr>
        <p:txBody>
          <a:bodyPr wrap="square" lIns="0" tIns="0" rIns="0" bIns="0" rtlCol="0" anchor="ctr"/>
          <a:lstStyle/>
          <a:p>
            <a:pPr indent="0" marL="0">
              <a:buNone/>
            </a:pPr>
            <a:r>
              <a:rPr lang="en-US" sz="1600" b="1" dirty="0">
                <a:solidFill>
                  <a:srgbClr val="14201A"/>
                </a:solidFill>
                <a:latin typeface="Cambria" pitchFamily="34" charset="0"/>
                <a:ea typeface="Cambria" pitchFamily="34" charset="-122"/>
                <a:cs typeface="Cambria" pitchFamily="34" charset="-120"/>
              </a:rPr>
              <a:t>Growth</a:t>
            </a:r>
            <a:endParaRPr lang="en-US" sz="1600" dirty="0"/>
          </a:p>
        </p:txBody>
      </p:sp>
      <p:sp>
        <p:nvSpPr>
          <p:cNvPr id="30" name="Text 28"/>
          <p:cNvSpPr/>
          <p:nvPr/>
        </p:nvSpPr>
        <p:spPr>
          <a:xfrm>
            <a:off x="1463040" y="5513832"/>
            <a:ext cx="2651760" cy="274320"/>
          </a:xfrm>
          <a:prstGeom prst="rect">
            <a:avLst/>
          </a:prstGeom>
          <a:noFill/>
          <a:ln/>
        </p:spPr>
        <p:txBody>
          <a:bodyPr wrap="square" lIns="0" tIns="0" rIns="0" bIns="0" rtlCol="0" anchor="ctr"/>
          <a:lstStyle/>
          <a:p>
            <a:pPr indent="0" marL="0">
              <a:buNone/>
            </a:pPr>
            <a:r>
              <a:rPr lang="en-US" sz="1050" dirty="0">
                <a:solidFill>
                  <a:srgbClr val="67736C"/>
                </a:solidFill>
                <a:latin typeface="Calibri" pitchFamily="34" charset="0"/>
                <a:ea typeface="Calibri" pitchFamily="34" charset="-122"/>
                <a:cs typeface="Calibri" pitchFamily="34" charset="-120"/>
              </a:rPr>
              <a:t>new customers, new territory, possibly B2C</a:t>
            </a:r>
            <a:endParaRPr lang="en-US" sz="1050" dirty="0"/>
          </a:p>
        </p:txBody>
      </p:sp>
      <p:sp>
        <p:nvSpPr>
          <p:cNvPr id="31" name="Text 29"/>
          <p:cNvSpPr/>
          <p:nvPr/>
        </p:nvSpPr>
        <p:spPr>
          <a:xfrm>
            <a:off x="4297680" y="5184648"/>
            <a:ext cx="1463040" cy="219456"/>
          </a:xfrm>
          <a:prstGeom prst="rect">
            <a:avLst/>
          </a:prstGeom>
          <a:noFill/>
          <a:ln/>
        </p:spPr>
        <p:txBody>
          <a:bodyPr wrap="square" lIns="0" tIns="0" rIns="0" bIns="0" rtlCol="0" anchor="ctr"/>
          <a:lstStyle/>
          <a:p>
            <a:pPr indent="0" marL="0">
              <a:buNone/>
            </a:pPr>
            <a:r>
              <a:rPr lang="en-US" sz="850" b="1" spc="100" kern="0" dirty="0">
                <a:solidFill>
                  <a:srgbClr val="67736C"/>
                </a:solidFill>
                <a:latin typeface="Calibri" pitchFamily="34" charset="0"/>
                <a:ea typeface="Calibri" pitchFamily="34" charset="-122"/>
                <a:cs typeface="Calibri" pitchFamily="34" charset="-120"/>
              </a:rPr>
              <a:t>GO / NO-GO</a:t>
            </a:r>
            <a:endParaRPr lang="en-US" sz="850" dirty="0"/>
          </a:p>
        </p:txBody>
      </p:sp>
      <p:sp>
        <p:nvSpPr>
          <p:cNvPr id="32" name="Text 30"/>
          <p:cNvSpPr/>
          <p:nvPr/>
        </p:nvSpPr>
        <p:spPr>
          <a:xfrm>
            <a:off x="4297680" y="5404104"/>
            <a:ext cx="6949440" cy="530352"/>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Unit economics positive and working capital funded</a:t>
            </a:r>
            <a:endParaRPr lang="en-US" sz="1050" dirty="0"/>
          </a:p>
          <a:p>
            <a:pPr marL="342900" indent="-342900">
              <a:spcAft>
                <a:spcPts val="200"/>
              </a:spcAft>
              <a:buSzPct val="100000"/>
              <a:buChar char="•"/>
            </a:pPr>
            <a:r>
              <a:rPr lang="en-US" sz="1050" dirty="0">
                <a:solidFill>
                  <a:srgbClr val="3D4A43"/>
                </a:solidFill>
                <a:latin typeface="Calibri" pitchFamily="34" charset="0"/>
                <a:ea typeface="Calibri" pitchFamily="34" charset="-122"/>
                <a:cs typeface="Calibri" pitchFamily="34" charset="-120"/>
              </a:rPr>
              <a:t>The playbook runs without the founder in the room</a:t>
            </a:r>
            <a:endParaRPr lang="en-US" sz="1050" dirty="0"/>
          </a:p>
        </p:txBody>
      </p:sp>
      <p:sp>
        <p:nvSpPr>
          <p:cNvPr id="33" name="Text 31"/>
          <p:cNvSpPr/>
          <p:nvPr/>
        </p:nvSpPr>
        <p:spPr>
          <a:xfrm>
            <a:off x="548640" y="6272784"/>
            <a:ext cx="11064240" cy="292608"/>
          </a:xfrm>
          <a:prstGeom prst="rect">
            <a:avLst/>
          </a:prstGeom>
          <a:noFill/>
          <a:ln/>
        </p:spPr>
        <p:txBody>
          <a:bodyPr wrap="square" lIns="0" tIns="0" rIns="0" bIns="0" rtlCol="0" anchor="ctr"/>
          <a:lstStyle/>
          <a:p>
            <a:pPr indent="0" marL="0">
              <a:buNone/>
            </a:pPr>
            <a:r>
              <a:rPr lang="en-US" sz="1000" i="1" dirty="0">
                <a:solidFill>
                  <a:srgbClr val="67736C"/>
                </a:solidFill>
                <a:latin typeface="Calibri" pitchFamily="34" charset="0"/>
                <a:ea typeface="Calibri" pitchFamily="34" charset="-122"/>
                <a:cs typeface="Calibri" pitchFamily="34" charset="-120"/>
              </a:rPr>
              <a:t>If a B1 gate fails, the likely cause is data discipline rather than software — and the rule is to fix the discipline before adding branches.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THE SCOREBOARD</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How we will know it is working</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Four families of numbers, each protecting a different way the business can fail. All computed live from the ledger — none assembled by hand.</a:t>
            </a:r>
            <a:endParaRPr lang="en-US" sz="1400" dirty="0"/>
          </a:p>
        </p:txBody>
      </p:sp>
      <p:sp>
        <p:nvSpPr>
          <p:cNvPr id="5" name="Shape 3"/>
          <p:cNvSpPr/>
          <p:nvPr/>
        </p:nvSpPr>
        <p:spPr>
          <a:xfrm>
            <a:off x="548640" y="1874520"/>
            <a:ext cx="2560320" cy="3246120"/>
          </a:xfrm>
          <a:prstGeom prst="roundRect">
            <a:avLst>
              <a:gd name="adj" fmla="val 2143"/>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6" name="Shape 4"/>
          <p:cNvSpPr/>
          <p:nvPr/>
        </p:nvSpPr>
        <p:spPr>
          <a:xfrm>
            <a:off x="768096" y="2048256"/>
            <a:ext cx="201168" cy="201168"/>
          </a:xfrm>
          <a:prstGeom prst="ellipse">
            <a:avLst/>
          </a:prstGeom>
          <a:solidFill>
            <a:srgbClr val="1F7A4D"/>
          </a:solidFill>
          <a:ln w="12700">
            <a:solidFill>
              <a:srgbClr val="333333"/>
            </a:solidFill>
            <a:prstDash val="solid"/>
          </a:ln>
        </p:spPr>
      </p:sp>
      <p:sp>
        <p:nvSpPr>
          <p:cNvPr id="7" name="Text 5"/>
          <p:cNvSpPr/>
          <p:nvPr/>
        </p:nvSpPr>
        <p:spPr>
          <a:xfrm>
            <a:off x="1060704" y="2002536"/>
            <a:ext cx="1920240" cy="274320"/>
          </a:xfrm>
          <a:prstGeom prst="rect">
            <a:avLst/>
          </a:prstGeom>
          <a:noFill/>
          <a:ln/>
        </p:spPr>
        <p:txBody>
          <a:bodyPr wrap="square" lIns="0" tIns="0" rIns="0" bIns="0" rtlCol="0" anchor="ctr"/>
          <a:lstStyle/>
          <a:p>
            <a:pPr indent="0" marL="0">
              <a:buNone/>
            </a:pPr>
            <a:r>
              <a:rPr lang="en-US" sz="1100" b="1" spc="120" kern="0" dirty="0">
                <a:solidFill>
                  <a:srgbClr val="1F7A4D"/>
                </a:solidFill>
                <a:latin typeface="Calibri" pitchFamily="34" charset="0"/>
                <a:ea typeface="Calibri" pitchFamily="34" charset="-122"/>
                <a:cs typeface="Calibri" pitchFamily="34" charset="-120"/>
              </a:rPr>
              <a:t>SERVICE</a:t>
            </a:r>
            <a:endParaRPr lang="en-US" sz="1100" dirty="0"/>
          </a:p>
        </p:txBody>
      </p:sp>
      <p:sp>
        <p:nvSpPr>
          <p:cNvPr id="8" name="Text 6"/>
          <p:cNvSpPr/>
          <p:nvPr/>
        </p:nvSpPr>
        <p:spPr>
          <a:xfrm>
            <a:off x="768096" y="2450592"/>
            <a:ext cx="2148840" cy="347472"/>
          </a:xfrm>
          <a:prstGeom prst="rect">
            <a:avLst/>
          </a:prstGeom>
          <a:noFill/>
          <a:ln/>
        </p:spPr>
        <p:txBody>
          <a:bodyPr wrap="square" lIns="0" tIns="0" rIns="0" bIns="0" rtlCol="0" anchor="ctr"/>
          <a:lstStyle/>
          <a:p>
            <a:pPr indent="0" marL="0">
              <a:buNone/>
            </a:pPr>
            <a:r>
              <a:rPr lang="en-US" sz="2000" b="1" dirty="0">
                <a:solidFill>
                  <a:srgbClr val="1F7A4D"/>
                </a:solidFill>
                <a:latin typeface="Cambria" pitchFamily="34" charset="0"/>
                <a:ea typeface="Cambria" pitchFamily="34" charset="-122"/>
                <a:cs typeface="Cambria" pitchFamily="34" charset="-120"/>
              </a:rPr>
              <a:t>≥ 95%</a:t>
            </a:r>
            <a:endParaRPr lang="en-US" sz="2000" dirty="0"/>
          </a:p>
        </p:txBody>
      </p:sp>
      <p:sp>
        <p:nvSpPr>
          <p:cNvPr id="9" name="Text 7"/>
          <p:cNvSpPr/>
          <p:nvPr/>
        </p:nvSpPr>
        <p:spPr>
          <a:xfrm>
            <a:off x="768096" y="2798064"/>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fill rate — the single most important B2B number</a:t>
            </a:r>
            <a:endParaRPr lang="en-US" sz="950" dirty="0"/>
          </a:p>
        </p:txBody>
      </p:sp>
      <p:sp>
        <p:nvSpPr>
          <p:cNvPr id="10" name="Text 8"/>
          <p:cNvSpPr/>
          <p:nvPr/>
        </p:nvSpPr>
        <p:spPr>
          <a:xfrm>
            <a:off x="768096" y="3310128"/>
            <a:ext cx="2148840" cy="347472"/>
          </a:xfrm>
          <a:prstGeom prst="rect">
            <a:avLst/>
          </a:prstGeom>
          <a:noFill/>
          <a:ln/>
        </p:spPr>
        <p:txBody>
          <a:bodyPr wrap="square" lIns="0" tIns="0" rIns="0" bIns="0" rtlCol="0" anchor="ctr"/>
          <a:lstStyle/>
          <a:p>
            <a:pPr indent="0" marL="0">
              <a:buNone/>
            </a:pPr>
            <a:r>
              <a:rPr lang="en-US" sz="2000" b="1" dirty="0">
                <a:solidFill>
                  <a:srgbClr val="1F7A4D"/>
                </a:solidFill>
                <a:latin typeface="Cambria" pitchFamily="34" charset="0"/>
                <a:ea typeface="Cambria" pitchFamily="34" charset="-122"/>
                <a:cs typeface="Cambria" pitchFamily="34" charset="-120"/>
              </a:rPr>
              <a:t>≥ 98%</a:t>
            </a:r>
            <a:endParaRPr lang="en-US" sz="2000" dirty="0"/>
          </a:p>
        </p:txBody>
      </p:sp>
      <p:sp>
        <p:nvSpPr>
          <p:cNvPr id="11" name="Text 9"/>
          <p:cNvSpPr/>
          <p:nvPr/>
        </p:nvSpPr>
        <p:spPr>
          <a:xfrm>
            <a:off x="768096" y="3657600"/>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order accuracy — right item, right weight</a:t>
            </a:r>
            <a:endParaRPr lang="en-US" sz="950" dirty="0"/>
          </a:p>
        </p:txBody>
      </p:sp>
      <p:sp>
        <p:nvSpPr>
          <p:cNvPr id="12" name="Text 10"/>
          <p:cNvSpPr/>
          <p:nvPr/>
        </p:nvSpPr>
        <p:spPr>
          <a:xfrm>
            <a:off x="768096" y="4169664"/>
            <a:ext cx="2148840" cy="347472"/>
          </a:xfrm>
          <a:prstGeom prst="rect">
            <a:avLst/>
          </a:prstGeom>
          <a:noFill/>
          <a:ln/>
        </p:spPr>
        <p:txBody>
          <a:bodyPr wrap="square" lIns="0" tIns="0" rIns="0" bIns="0" rtlCol="0" anchor="ctr"/>
          <a:lstStyle/>
          <a:p>
            <a:pPr indent="0" marL="0">
              <a:buNone/>
            </a:pPr>
            <a:r>
              <a:rPr lang="en-US" sz="2000" b="1" dirty="0">
                <a:solidFill>
                  <a:srgbClr val="1F7A4D"/>
                </a:solidFill>
                <a:latin typeface="Cambria" pitchFamily="34" charset="0"/>
                <a:ea typeface="Cambria" pitchFamily="34" charset="-122"/>
                <a:cs typeface="Cambria" pitchFamily="34" charset="-120"/>
              </a:rPr>
              <a:t>0</a:t>
            </a:r>
            <a:endParaRPr lang="en-US" sz="2000" dirty="0"/>
          </a:p>
        </p:txBody>
      </p:sp>
      <p:sp>
        <p:nvSpPr>
          <p:cNvPr id="13" name="Text 11"/>
          <p:cNvSpPr/>
          <p:nvPr/>
        </p:nvSpPr>
        <p:spPr>
          <a:xfrm>
            <a:off x="768096" y="4517136"/>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missed event dates — a binary, not a percentage</a:t>
            </a:r>
            <a:endParaRPr lang="en-US" sz="950" dirty="0"/>
          </a:p>
        </p:txBody>
      </p:sp>
      <p:sp>
        <p:nvSpPr>
          <p:cNvPr id="14" name="Shape 12"/>
          <p:cNvSpPr/>
          <p:nvPr/>
        </p:nvSpPr>
        <p:spPr>
          <a:xfrm>
            <a:off x="3360420" y="1874520"/>
            <a:ext cx="2560320" cy="3246120"/>
          </a:xfrm>
          <a:prstGeom prst="roundRect">
            <a:avLst>
              <a:gd name="adj" fmla="val 2143"/>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15" name="Shape 13"/>
          <p:cNvSpPr/>
          <p:nvPr/>
        </p:nvSpPr>
        <p:spPr>
          <a:xfrm>
            <a:off x="3579876" y="2048256"/>
            <a:ext cx="201168" cy="201168"/>
          </a:xfrm>
          <a:prstGeom prst="ellipse">
            <a:avLst/>
          </a:prstGeom>
          <a:solidFill>
            <a:srgbClr val="9E5E10"/>
          </a:solidFill>
          <a:ln w="12700">
            <a:solidFill>
              <a:srgbClr val="333333"/>
            </a:solidFill>
            <a:prstDash val="solid"/>
          </a:ln>
        </p:spPr>
      </p:sp>
      <p:sp>
        <p:nvSpPr>
          <p:cNvPr id="16" name="Text 14"/>
          <p:cNvSpPr/>
          <p:nvPr/>
        </p:nvSpPr>
        <p:spPr>
          <a:xfrm>
            <a:off x="3872484" y="2002536"/>
            <a:ext cx="1920240" cy="274320"/>
          </a:xfrm>
          <a:prstGeom prst="rect">
            <a:avLst/>
          </a:prstGeom>
          <a:noFill/>
          <a:ln/>
        </p:spPr>
        <p:txBody>
          <a:bodyPr wrap="square" lIns="0" tIns="0" rIns="0" bIns="0" rtlCol="0" anchor="ctr"/>
          <a:lstStyle/>
          <a:p>
            <a:pPr indent="0" marL="0">
              <a:buNone/>
            </a:pPr>
            <a:r>
              <a:rPr lang="en-US" sz="1100" b="1" spc="120" kern="0" dirty="0">
                <a:solidFill>
                  <a:srgbClr val="9E5E10"/>
                </a:solidFill>
                <a:latin typeface="Calibri" pitchFamily="34" charset="0"/>
                <a:ea typeface="Calibri" pitchFamily="34" charset="-122"/>
                <a:cs typeface="Calibri" pitchFamily="34" charset="-120"/>
              </a:rPr>
              <a:t>COMMERCIAL</a:t>
            </a:r>
            <a:endParaRPr lang="en-US" sz="1100" dirty="0"/>
          </a:p>
        </p:txBody>
      </p:sp>
      <p:sp>
        <p:nvSpPr>
          <p:cNvPr id="17" name="Text 15"/>
          <p:cNvSpPr/>
          <p:nvPr/>
        </p:nvSpPr>
        <p:spPr>
          <a:xfrm>
            <a:off x="3579876" y="2450592"/>
            <a:ext cx="2148840" cy="347472"/>
          </a:xfrm>
          <a:prstGeom prst="rect">
            <a:avLst/>
          </a:prstGeom>
          <a:noFill/>
          <a:ln/>
        </p:spPr>
        <p:txBody>
          <a:bodyPr wrap="square" lIns="0" tIns="0" rIns="0" bIns="0" rtlCol="0" anchor="ctr"/>
          <a:lstStyle/>
          <a:p>
            <a:pPr indent="0" marL="0">
              <a:buNone/>
            </a:pPr>
            <a:r>
              <a:rPr lang="en-US" sz="2000" b="1" dirty="0">
                <a:solidFill>
                  <a:srgbClr val="9E5E10"/>
                </a:solidFill>
                <a:latin typeface="Cambria" pitchFamily="34" charset="0"/>
                <a:ea typeface="Cambria" pitchFamily="34" charset="-122"/>
                <a:cs typeface="Cambria" pitchFamily="34" charset="-120"/>
              </a:rPr>
              <a:t>≥ 80%</a:t>
            </a:r>
            <a:endParaRPr lang="en-US" sz="2000" dirty="0"/>
          </a:p>
        </p:txBody>
      </p:sp>
      <p:sp>
        <p:nvSpPr>
          <p:cNvPr id="18" name="Text 16"/>
          <p:cNvSpPr/>
          <p:nvPr/>
        </p:nvSpPr>
        <p:spPr>
          <a:xfrm>
            <a:off x="3579876" y="2798064"/>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outlet reorder rate within 30 days</a:t>
            </a:r>
            <a:endParaRPr lang="en-US" sz="950" dirty="0"/>
          </a:p>
        </p:txBody>
      </p:sp>
      <p:sp>
        <p:nvSpPr>
          <p:cNvPr id="19" name="Text 17"/>
          <p:cNvSpPr/>
          <p:nvPr/>
        </p:nvSpPr>
        <p:spPr>
          <a:xfrm>
            <a:off x="3579876" y="3310128"/>
            <a:ext cx="2148840" cy="347472"/>
          </a:xfrm>
          <a:prstGeom prst="rect">
            <a:avLst/>
          </a:prstGeom>
          <a:noFill/>
          <a:ln/>
        </p:spPr>
        <p:txBody>
          <a:bodyPr wrap="square" lIns="0" tIns="0" rIns="0" bIns="0" rtlCol="0" anchor="ctr"/>
          <a:lstStyle/>
          <a:p>
            <a:pPr indent="0" marL="0">
              <a:buNone/>
            </a:pPr>
            <a:r>
              <a:rPr lang="en-US" sz="2000" b="1" dirty="0">
                <a:solidFill>
                  <a:srgbClr val="9E5E10"/>
                </a:solidFill>
                <a:latin typeface="Cambria" pitchFamily="34" charset="0"/>
                <a:ea typeface="Cambria" pitchFamily="34" charset="-122"/>
                <a:cs typeface="Cambria" pitchFamily="34" charset="-120"/>
              </a:rPr>
              <a:t>↑</a:t>
            </a:r>
            <a:endParaRPr lang="en-US" sz="2000" dirty="0"/>
          </a:p>
        </p:txBody>
      </p:sp>
      <p:sp>
        <p:nvSpPr>
          <p:cNvPr id="20" name="Text 18"/>
          <p:cNvSpPr/>
          <p:nvPr/>
        </p:nvSpPr>
        <p:spPr>
          <a:xfrm>
            <a:off x="3579876" y="3657600"/>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average drop size, trending up</a:t>
            </a:r>
            <a:endParaRPr lang="en-US" sz="950" dirty="0"/>
          </a:p>
        </p:txBody>
      </p:sp>
      <p:sp>
        <p:nvSpPr>
          <p:cNvPr id="21" name="Text 19"/>
          <p:cNvSpPr/>
          <p:nvPr/>
        </p:nvSpPr>
        <p:spPr>
          <a:xfrm>
            <a:off x="3579876" y="4169664"/>
            <a:ext cx="2148840" cy="347472"/>
          </a:xfrm>
          <a:prstGeom prst="rect">
            <a:avLst/>
          </a:prstGeom>
          <a:noFill/>
          <a:ln/>
        </p:spPr>
        <p:txBody>
          <a:bodyPr wrap="square" lIns="0" tIns="0" rIns="0" bIns="0" rtlCol="0" anchor="ctr"/>
          <a:lstStyle/>
          <a:p>
            <a:pPr indent="0" marL="0">
              <a:buNone/>
            </a:pPr>
            <a:r>
              <a:rPr lang="en-US" sz="2000" b="1" dirty="0">
                <a:solidFill>
                  <a:srgbClr val="9E5E10"/>
                </a:solidFill>
                <a:latin typeface="Cambria" pitchFamily="34" charset="0"/>
                <a:ea typeface="Cambria" pitchFamily="34" charset="-122"/>
                <a:cs typeface="Cambria" pitchFamily="34" charset="-120"/>
              </a:rPr>
              <a:t>≥ 60%</a:t>
            </a:r>
            <a:endParaRPr lang="en-US" sz="2000" dirty="0"/>
          </a:p>
        </p:txBody>
      </p:sp>
      <p:sp>
        <p:nvSpPr>
          <p:cNvPr id="22" name="Text 20"/>
          <p:cNvSpPr/>
          <p:nvPr/>
        </p:nvSpPr>
        <p:spPr>
          <a:xfrm>
            <a:off x="3579876" y="4517136"/>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orders placed on the order pad by month 6</a:t>
            </a:r>
            <a:endParaRPr lang="en-US" sz="950" dirty="0"/>
          </a:p>
        </p:txBody>
      </p:sp>
      <p:sp>
        <p:nvSpPr>
          <p:cNvPr id="23" name="Shape 21"/>
          <p:cNvSpPr/>
          <p:nvPr/>
        </p:nvSpPr>
        <p:spPr>
          <a:xfrm>
            <a:off x="6172200" y="1874520"/>
            <a:ext cx="2560320" cy="3246120"/>
          </a:xfrm>
          <a:prstGeom prst="roundRect">
            <a:avLst>
              <a:gd name="adj" fmla="val 2143"/>
            </a:avLst>
          </a:prstGeom>
          <a:solidFill>
            <a:srgbClr val="F1F0EA"/>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24" name="Shape 22"/>
          <p:cNvSpPr/>
          <p:nvPr/>
        </p:nvSpPr>
        <p:spPr>
          <a:xfrm>
            <a:off x="6391656" y="2048256"/>
            <a:ext cx="201168" cy="201168"/>
          </a:xfrm>
          <a:prstGeom prst="ellipse">
            <a:avLst/>
          </a:prstGeom>
          <a:solidFill>
            <a:srgbClr val="A33228"/>
          </a:solidFill>
          <a:ln w="12700">
            <a:solidFill>
              <a:srgbClr val="333333"/>
            </a:solidFill>
            <a:prstDash val="solid"/>
          </a:ln>
        </p:spPr>
      </p:sp>
      <p:sp>
        <p:nvSpPr>
          <p:cNvPr id="25" name="Text 23"/>
          <p:cNvSpPr/>
          <p:nvPr/>
        </p:nvSpPr>
        <p:spPr>
          <a:xfrm>
            <a:off x="6684264" y="2002536"/>
            <a:ext cx="1920240" cy="274320"/>
          </a:xfrm>
          <a:prstGeom prst="rect">
            <a:avLst/>
          </a:prstGeom>
          <a:noFill/>
          <a:ln/>
        </p:spPr>
        <p:txBody>
          <a:bodyPr wrap="square" lIns="0" tIns="0" rIns="0" bIns="0" rtlCol="0" anchor="ctr"/>
          <a:lstStyle/>
          <a:p>
            <a:pPr indent="0" marL="0">
              <a:buNone/>
            </a:pPr>
            <a:r>
              <a:rPr lang="en-US" sz="1100" b="1" spc="120" kern="0" dirty="0">
                <a:solidFill>
                  <a:srgbClr val="A33228"/>
                </a:solidFill>
                <a:latin typeface="Calibri" pitchFamily="34" charset="0"/>
                <a:ea typeface="Calibri" pitchFamily="34" charset="-122"/>
                <a:cs typeface="Calibri" pitchFamily="34" charset="-120"/>
              </a:rPr>
              <a:t>MONEY</a:t>
            </a:r>
            <a:endParaRPr lang="en-US" sz="1100" dirty="0"/>
          </a:p>
        </p:txBody>
      </p:sp>
      <p:sp>
        <p:nvSpPr>
          <p:cNvPr id="26" name="Text 24"/>
          <p:cNvSpPr/>
          <p:nvPr/>
        </p:nvSpPr>
        <p:spPr>
          <a:xfrm>
            <a:off x="6391656" y="2450592"/>
            <a:ext cx="2148840" cy="347472"/>
          </a:xfrm>
          <a:prstGeom prst="rect">
            <a:avLst/>
          </a:prstGeom>
          <a:noFill/>
          <a:ln/>
        </p:spPr>
        <p:txBody>
          <a:bodyPr wrap="square" lIns="0" tIns="0" rIns="0" bIns="0" rtlCol="0" anchor="ctr"/>
          <a:lstStyle/>
          <a:p>
            <a:pPr indent="0" marL="0">
              <a:buNone/>
            </a:pPr>
            <a:r>
              <a:rPr lang="en-US" sz="2000" b="1" dirty="0">
                <a:solidFill>
                  <a:srgbClr val="A33228"/>
                </a:solidFill>
                <a:latin typeface="Cambria" pitchFamily="34" charset="0"/>
                <a:ea typeface="Cambria" pitchFamily="34" charset="-122"/>
                <a:cs typeface="Cambria" pitchFamily="34" charset="-120"/>
              </a:rPr>
              <a:t>≤ 25 days</a:t>
            </a:r>
            <a:endParaRPr lang="en-US" sz="2000" dirty="0"/>
          </a:p>
        </p:txBody>
      </p:sp>
      <p:sp>
        <p:nvSpPr>
          <p:cNvPr id="27" name="Text 25"/>
          <p:cNvSpPr/>
          <p:nvPr/>
        </p:nvSpPr>
        <p:spPr>
          <a:xfrm>
            <a:off x="6391656" y="2798064"/>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collection time on invoices</a:t>
            </a:r>
            <a:endParaRPr lang="en-US" sz="950" dirty="0"/>
          </a:p>
        </p:txBody>
      </p:sp>
      <p:sp>
        <p:nvSpPr>
          <p:cNvPr id="28" name="Text 26"/>
          <p:cNvSpPr/>
          <p:nvPr/>
        </p:nvSpPr>
        <p:spPr>
          <a:xfrm>
            <a:off x="6391656" y="3310128"/>
            <a:ext cx="2148840" cy="347472"/>
          </a:xfrm>
          <a:prstGeom prst="rect">
            <a:avLst/>
          </a:prstGeom>
          <a:noFill/>
          <a:ln/>
        </p:spPr>
        <p:txBody>
          <a:bodyPr wrap="square" lIns="0" tIns="0" rIns="0" bIns="0" rtlCol="0" anchor="ctr"/>
          <a:lstStyle/>
          <a:p>
            <a:pPr indent="0" marL="0">
              <a:buNone/>
            </a:pPr>
            <a:r>
              <a:rPr lang="en-US" sz="2000" b="1" dirty="0">
                <a:solidFill>
                  <a:srgbClr val="A33228"/>
                </a:solidFill>
                <a:latin typeface="Cambria" pitchFamily="34" charset="0"/>
                <a:ea typeface="Cambria" pitchFamily="34" charset="-122"/>
                <a:cs typeface="Cambria" pitchFamily="34" charset="-120"/>
              </a:rPr>
              <a:t>&lt; 5%</a:t>
            </a:r>
            <a:endParaRPr lang="en-US" sz="2000" dirty="0"/>
          </a:p>
        </p:txBody>
      </p:sp>
      <p:sp>
        <p:nvSpPr>
          <p:cNvPr id="29" name="Text 27"/>
          <p:cNvSpPr/>
          <p:nvPr/>
        </p:nvSpPr>
        <p:spPr>
          <a:xfrm>
            <a:off x="6391656" y="3657600"/>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receivables older than 60 days</a:t>
            </a:r>
            <a:endParaRPr lang="en-US" sz="950" dirty="0"/>
          </a:p>
        </p:txBody>
      </p:sp>
      <p:sp>
        <p:nvSpPr>
          <p:cNvPr id="30" name="Text 28"/>
          <p:cNvSpPr/>
          <p:nvPr/>
        </p:nvSpPr>
        <p:spPr>
          <a:xfrm>
            <a:off x="6391656" y="4169664"/>
            <a:ext cx="2148840" cy="347472"/>
          </a:xfrm>
          <a:prstGeom prst="rect">
            <a:avLst/>
          </a:prstGeom>
          <a:noFill/>
          <a:ln/>
        </p:spPr>
        <p:txBody>
          <a:bodyPr wrap="square" lIns="0" tIns="0" rIns="0" bIns="0" rtlCol="0" anchor="ctr"/>
          <a:lstStyle/>
          <a:p>
            <a:pPr indent="0" marL="0">
              <a:buNone/>
            </a:pPr>
            <a:r>
              <a:rPr lang="en-US" sz="2000" b="1" dirty="0">
                <a:solidFill>
                  <a:srgbClr val="A33228"/>
                </a:solidFill>
                <a:latin typeface="Cambria" pitchFamily="34" charset="0"/>
                <a:ea typeface="Cambria" pitchFamily="34" charset="-122"/>
                <a:cs typeface="Cambria" pitchFamily="34" charset="-120"/>
              </a:rPr>
              <a:t>≤ 35 days</a:t>
            </a:r>
            <a:endParaRPr lang="en-US" sz="2000" dirty="0"/>
          </a:p>
        </p:txBody>
      </p:sp>
      <p:sp>
        <p:nvSpPr>
          <p:cNvPr id="31" name="Text 29"/>
          <p:cNvSpPr/>
          <p:nvPr/>
        </p:nvSpPr>
        <p:spPr>
          <a:xfrm>
            <a:off x="6391656" y="4517136"/>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cash conversion cycle</a:t>
            </a:r>
            <a:endParaRPr lang="en-US" sz="950" dirty="0"/>
          </a:p>
        </p:txBody>
      </p:sp>
      <p:sp>
        <p:nvSpPr>
          <p:cNvPr id="32" name="Shape 30"/>
          <p:cNvSpPr/>
          <p:nvPr/>
        </p:nvSpPr>
        <p:spPr>
          <a:xfrm>
            <a:off x="8983980" y="1874520"/>
            <a:ext cx="2560320" cy="3246120"/>
          </a:xfrm>
          <a:prstGeom prst="roundRect">
            <a:avLst>
              <a:gd name="adj" fmla="val 2143"/>
            </a:avLst>
          </a:prstGeom>
          <a:solidFill>
            <a:srgbClr val="FFFFFF"/>
          </a:solidFill>
          <a:ln w="12700">
            <a:solidFill>
              <a:srgbClr val="D6D5CB"/>
            </a:solidFill>
            <a:prstDash val="solid"/>
          </a:ln>
          <a:effectLst>
            <a:outerShdw sx="100000" sy="100000" kx="0" ky="0" algn="bl" rotWithShape="0" blurRad="127000" dist="12700" dir="5400000">
              <a:srgbClr val="14201A">
                <a:alpha val="9000"/>
              </a:srgbClr>
            </a:outerShdw>
          </a:effectLst>
        </p:spPr>
      </p:sp>
      <p:sp>
        <p:nvSpPr>
          <p:cNvPr id="33" name="Shape 31"/>
          <p:cNvSpPr/>
          <p:nvPr/>
        </p:nvSpPr>
        <p:spPr>
          <a:xfrm>
            <a:off x="9203436" y="2048256"/>
            <a:ext cx="201168" cy="201168"/>
          </a:xfrm>
          <a:prstGeom prst="ellipse">
            <a:avLst/>
          </a:prstGeom>
          <a:solidFill>
            <a:srgbClr val="14201A"/>
          </a:solidFill>
          <a:ln w="12700">
            <a:solidFill>
              <a:srgbClr val="333333"/>
            </a:solidFill>
            <a:prstDash val="solid"/>
          </a:ln>
        </p:spPr>
      </p:sp>
      <p:sp>
        <p:nvSpPr>
          <p:cNvPr id="34" name="Text 32"/>
          <p:cNvSpPr/>
          <p:nvPr/>
        </p:nvSpPr>
        <p:spPr>
          <a:xfrm>
            <a:off x="9496044" y="2002536"/>
            <a:ext cx="1920240" cy="274320"/>
          </a:xfrm>
          <a:prstGeom prst="rect">
            <a:avLst/>
          </a:prstGeom>
          <a:noFill/>
          <a:ln/>
        </p:spPr>
        <p:txBody>
          <a:bodyPr wrap="square" lIns="0" tIns="0" rIns="0" bIns="0" rtlCol="0" anchor="ctr"/>
          <a:lstStyle/>
          <a:p>
            <a:pPr indent="0" marL="0">
              <a:buNone/>
            </a:pPr>
            <a:r>
              <a:rPr lang="en-US" sz="1100" b="1" spc="120" kern="0" dirty="0">
                <a:solidFill>
                  <a:srgbClr val="14201A"/>
                </a:solidFill>
                <a:latin typeface="Calibri" pitchFamily="34" charset="0"/>
                <a:ea typeface="Calibri" pitchFamily="34" charset="-122"/>
                <a:cs typeface="Calibri" pitchFamily="34" charset="-120"/>
              </a:rPr>
              <a:t>INVENTORY</a:t>
            </a:r>
            <a:endParaRPr lang="en-US" sz="1100" dirty="0"/>
          </a:p>
        </p:txBody>
      </p:sp>
      <p:sp>
        <p:nvSpPr>
          <p:cNvPr id="35" name="Text 33"/>
          <p:cNvSpPr/>
          <p:nvPr/>
        </p:nvSpPr>
        <p:spPr>
          <a:xfrm>
            <a:off x="9203436" y="2450592"/>
            <a:ext cx="2148840" cy="347472"/>
          </a:xfrm>
          <a:prstGeom prst="rect">
            <a:avLst/>
          </a:prstGeom>
          <a:noFill/>
          <a:ln/>
        </p:spPr>
        <p:txBody>
          <a:bodyPr wrap="square" lIns="0" tIns="0" rIns="0" bIns="0" rtlCol="0" anchor="ctr"/>
          <a:lstStyle/>
          <a:p>
            <a:pPr indent="0" marL="0">
              <a:buNone/>
            </a:pPr>
            <a:r>
              <a:rPr lang="en-US" sz="2000" b="1" dirty="0">
                <a:solidFill>
                  <a:srgbClr val="14201A"/>
                </a:solidFill>
                <a:latin typeface="Cambria" pitchFamily="34" charset="0"/>
                <a:ea typeface="Cambria" pitchFamily="34" charset="-122"/>
                <a:cs typeface="Cambria" pitchFamily="34" charset="-120"/>
              </a:rPr>
              <a:t>&lt; 8%</a:t>
            </a:r>
            <a:endParaRPr lang="en-US" sz="2000" dirty="0"/>
          </a:p>
        </p:txBody>
      </p:sp>
      <p:sp>
        <p:nvSpPr>
          <p:cNvPr id="36" name="Text 34"/>
          <p:cNvSpPr/>
          <p:nvPr/>
        </p:nvSpPr>
        <p:spPr>
          <a:xfrm>
            <a:off x="9203436" y="2798064"/>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fresh produce wastage, measured daily</a:t>
            </a:r>
            <a:endParaRPr lang="en-US" sz="950" dirty="0"/>
          </a:p>
        </p:txBody>
      </p:sp>
      <p:sp>
        <p:nvSpPr>
          <p:cNvPr id="37" name="Text 35"/>
          <p:cNvSpPr/>
          <p:nvPr/>
        </p:nvSpPr>
        <p:spPr>
          <a:xfrm>
            <a:off x="9203436" y="3310128"/>
            <a:ext cx="2148840" cy="347472"/>
          </a:xfrm>
          <a:prstGeom prst="rect">
            <a:avLst/>
          </a:prstGeom>
          <a:noFill/>
          <a:ln/>
        </p:spPr>
        <p:txBody>
          <a:bodyPr wrap="square" lIns="0" tIns="0" rIns="0" bIns="0" rtlCol="0" anchor="ctr"/>
          <a:lstStyle/>
          <a:p>
            <a:pPr indent="0" marL="0">
              <a:buNone/>
            </a:pPr>
            <a:r>
              <a:rPr lang="en-US" sz="2000" b="1" dirty="0">
                <a:solidFill>
                  <a:srgbClr val="14201A"/>
                </a:solidFill>
                <a:latin typeface="Cambria" pitchFamily="34" charset="0"/>
                <a:ea typeface="Cambria" pitchFamily="34" charset="-122"/>
                <a:cs typeface="Cambria" pitchFamily="34" charset="-120"/>
              </a:rPr>
              <a:t>≥ 98%</a:t>
            </a:r>
            <a:endParaRPr lang="en-US" sz="2000" dirty="0"/>
          </a:p>
        </p:txBody>
      </p:sp>
      <p:sp>
        <p:nvSpPr>
          <p:cNvPr id="38" name="Text 36"/>
          <p:cNvSpPr/>
          <p:nvPr/>
        </p:nvSpPr>
        <p:spPr>
          <a:xfrm>
            <a:off x="9203436" y="3657600"/>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stock accuracy against physical count</a:t>
            </a:r>
            <a:endParaRPr lang="en-US" sz="950" dirty="0"/>
          </a:p>
        </p:txBody>
      </p:sp>
      <p:sp>
        <p:nvSpPr>
          <p:cNvPr id="39" name="Text 37"/>
          <p:cNvSpPr/>
          <p:nvPr/>
        </p:nvSpPr>
        <p:spPr>
          <a:xfrm>
            <a:off x="9203436" y="4169664"/>
            <a:ext cx="2148840" cy="347472"/>
          </a:xfrm>
          <a:prstGeom prst="rect">
            <a:avLst/>
          </a:prstGeom>
          <a:noFill/>
          <a:ln/>
        </p:spPr>
        <p:txBody>
          <a:bodyPr wrap="square" lIns="0" tIns="0" rIns="0" bIns="0" rtlCol="0" anchor="ctr"/>
          <a:lstStyle/>
          <a:p>
            <a:pPr indent="0" marL="0">
              <a:buNone/>
            </a:pPr>
            <a:r>
              <a:rPr lang="en-US" sz="2000" b="1" dirty="0">
                <a:solidFill>
                  <a:srgbClr val="14201A"/>
                </a:solidFill>
                <a:latin typeface="Cambria" pitchFamily="34" charset="0"/>
                <a:ea typeface="Cambria" pitchFamily="34" charset="-122"/>
                <a:cs typeface="Cambria" pitchFamily="34" charset="-120"/>
              </a:rPr>
              <a:t>&lt; 3%</a:t>
            </a:r>
            <a:endParaRPr lang="en-US" sz="2000" dirty="0"/>
          </a:p>
        </p:txBody>
      </p:sp>
      <p:sp>
        <p:nvSpPr>
          <p:cNvPr id="40" name="Text 38"/>
          <p:cNvSpPr/>
          <p:nvPr/>
        </p:nvSpPr>
        <p:spPr>
          <a:xfrm>
            <a:off x="9203436" y="4517136"/>
            <a:ext cx="2148840" cy="457200"/>
          </a:xfrm>
          <a:prstGeom prst="rect">
            <a:avLst/>
          </a:prstGeom>
          <a:noFill/>
          <a:ln/>
        </p:spPr>
        <p:txBody>
          <a:bodyPr wrap="square" lIns="0" tIns="0" rIns="0" bIns="0" rtlCol="0" anchor="ctr"/>
          <a:lstStyle/>
          <a:p>
            <a:pPr indent="0" marL="0">
              <a:lnSpc>
                <a:spcPct val="110000"/>
              </a:lnSpc>
              <a:buNone/>
            </a:pPr>
            <a:r>
              <a:rPr lang="en-US" sz="950" dirty="0">
                <a:solidFill>
                  <a:srgbClr val="3D4A43"/>
                </a:solidFill>
                <a:latin typeface="Calibri" pitchFamily="34" charset="0"/>
                <a:ea typeface="Calibri" pitchFamily="34" charset="-122"/>
                <a:cs typeface="Calibri" pitchFamily="34" charset="-120"/>
              </a:rPr>
              <a:t>dead stock, unmoved 60 days</a:t>
            </a:r>
            <a:endParaRPr lang="en-US" sz="950" dirty="0"/>
          </a:p>
        </p:txBody>
      </p:sp>
      <p:sp>
        <p:nvSpPr>
          <p:cNvPr id="41" name="Text 39"/>
          <p:cNvSpPr/>
          <p:nvPr/>
        </p:nvSpPr>
        <p:spPr>
          <a:xfrm>
            <a:off x="548640" y="5248656"/>
            <a:ext cx="5486400" cy="237744"/>
          </a:xfrm>
          <a:prstGeom prst="rect">
            <a:avLst/>
          </a:prstGeom>
          <a:noFill/>
          <a:ln/>
        </p:spPr>
        <p:txBody>
          <a:bodyPr wrap="square" lIns="0" tIns="0" rIns="0" bIns="0" rtlCol="0" anchor="ctr"/>
          <a:lstStyle/>
          <a:p>
            <a:pPr indent="0" marL="0">
              <a:buNone/>
            </a:pPr>
            <a:r>
              <a:rPr lang="en-US" sz="950" b="1" spc="120" kern="0" dirty="0">
                <a:solidFill>
                  <a:srgbClr val="67736C"/>
                </a:solidFill>
                <a:latin typeface="Calibri" pitchFamily="34" charset="0"/>
                <a:ea typeface="Calibri" pitchFamily="34" charset="-122"/>
                <a:cs typeface="Calibri" pitchFamily="34" charset="-120"/>
              </a:rPr>
              <a:t>AND THE RISKS WE NAME OUT LOUD</a:t>
            </a:r>
            <a:endParaRPr lang="en-US" sz="950" dirty="0"/>
          </a:p>
        </p:txBody>
      </p:sp>
      <p:sp>
        <p:nvSpPr>
          <p:cNvPr id="42" name="Text 40"/>
          <p:cNvSpPr/>
          <p:nvPr/>
        </p:nvSpPr>
        <p:spPr>
          <a:xfrm>
            <a:off x="548640" y="5522976"/>
            <a:ext cx="3063240" cy="365760"/>
          </a:xfrm>
          <a:prstGeom prst="rect">
            <a:avLst/>
          </a:prstGeom>
          <a:noFill/>
          <a:ln/>
        </p:spPr>
        <p:txBody>
          <a:bodyPr wrap="square" lIns="0" tIns="0" rIns="0" bIns="0" rtlCol="0" anchor="ctr"/>
          <a:lstStyle/>
          <a:p>
            <a:pPr indent="0" marL="0">
              <a:buNone/>
            </a:pPr>
            <a:r>
              <a:rPr lang="en-US" sz="900" b="1" dirty="0">
                <a:solidFill>
                  <a:srgbClr val="A33228"/>
                </a:solidFill>
                <a:latin typeface="Calibri" pitchFamily="34" charset="0"/>
                <a:ea typeface="Calibri" pitchFamily="34" charset="-122"/>
                <a:cs typeface="Calibri" pitchFamily="34" charset="-120"/>
              </a:rPr>
              <a:t>Working capital runs out while growing</a:t>
            </a:r>
            <a:endParaRPr lang="en-US" sz="900" dirty="0"/>
          </a:p>
        </p:txBody>
      </p:sp>
      <p:sp>
        <p:nvSpPr>
          <p:cNvPr id="43" name="Text 41"/>
          <p:cNvSpPr/>
          <p:nvPr/>
        </p:nvSpPr>
        <p:spPr>
          <a:xfrm>
            <a:off x="3657600" y="5522976"/>
            <a:ext cx="2331720" cy="365760"/>
          </a:xfrm>
          <a:prstGeom prst="rect">
            <a:avLst/>
          </a:prstGeom>
          <a:noFill/>
          <a:ln/>
        </p:spPr>
        <p:txBody>
          <a:bodyPr wrap="square" lIns="0" tIns="0" rIns="0" bIns="0" rtlCol="0" anchor="ctr"/>
          <a:lstStyle/>
          <a:p>
            <a:pPr indent="0" marL="0">
              <a:buNone/>
            </a:pPr>
            <a:r>
              <a:rPr lang="en-US" sz="850" dirty="0">
                <a:solidFill>
                  <a:srgbClr val="67736C"/>
                </a:solidFill>
                <a:latin typeface="Calibri" pitchFamily="34" charset="0"/>
                <a:ea typeface="Calibri" pitchFamily="34" charset="-122"/>
                <a:cs typeface="Calibri" pitchFamily="34" charset="-120"/>
              </a:rPr>
              <a:t>Cash cycle on the daily dashboard · growth approvals must state the cash they consume</a:t>
            </a:r>
            <a:endParaRPr lang="en-US" sz="850" dirty="0"/>
          </a:p>
        </p:txBody>
      </p:sp>
      <p:sp>
        <p:nvSpPr>
          <p:cNvPr id="44" name="Text 42"/>
          <p:cNvSpPr/>
          <p:nvPr/>
        </p:nvSpPr>
        <p:spPr>
          <a:xfrm>
            <a:off x="6172200" y="5522976"/>
            <a:ext cx="3063240" cy="365760"/>
          </a:xfrm>
          <a:prstGeom prst="rect">
            <a:avLst/>
          </a:prstGeom>
          <a:noFill/>
          <a:ln/>
        </p:spPr>
        <p:txBody>
          <a:bodyPr wrap="square" lIns="0" tIns="0" rIns="0" bIns="0" rtlCol="0" anchor="ctr"/>
          <a:lstStyle/>
          <a:p>
            <a:pPr indent="0" marL="0">
              <a:buNone/>
            </a:pPr>
            <a:r>
              <a:rPr lang="en-US" sz="900" b="1" dirty="0">
                <a:solidFill>
                  <a:srgbClr val="A33228"/>
                </a:solidFill>
                <a:latin typeface="Calibri" pitchFamily="34" charset="0"/>
                <a:ea typeface="Calibri" pitchFamily="34" charset="-122"/>
                <a:cs typeface="Calibri" pitchFamily="34" charset="-120"/>
              </a:rPr>
              <a:t>Receivables rot — everyone keeps supplying a customer who stopped paying</a:t>
            </a:r>
            <a:endParaRPr lang="en-US" sz="900" dirty="0"/>
          </a:p>
        </p:txBody>
      </p:sp>
      <p:sp>
        <p:nvSpPr>
          <p:cNvPr id="45" name="Text 43"/>
          <p:cNvSpPr/>
          <p:nvPr/>
        </p:nvSpPr>
        <p:spPr>
          <a:xfrm>
            <a:off x="9281160" y="5522976"/>
            <a:ext cx="2331720" cy="365760"/>
          </a:xfrm>
          <a:prstGeom prst="rect">
            <a:avLst/>
          </a:prstGeom>
          <a:noFill/>
          <a:ln/>
        </p:spPr>
        <p:txBody>
          <a:bodyPr wrap="square" lIns="0" tIns="0" rIns="0" bIns="0" rtlCol="0" anchor="ctr"/>
          <a:lstStyle/>
          <a:p>
            <a:pPr indent="0" marL="0">
              <a:buNone/>
            </a:pPr>
            <a:r>
              <a:rPr lang="en-US" sz="850" dirty="0">
                <a:solidFill>
                  <a:srgbClr val="67736C"/>
                </a:solidFill>
                <a:latin typeface="Calibri" pitchFamily="34" charset="0"/>
                <a:ea typeface="Calibri" pitchFamily="34" charset="-122"/>
                <a:cs typeface="Calibri" pitchFamily="34" charset="-120"/>
              </a:rPr>
              <a:t>Hard credit gate at order time · supply stop at 31 days · every override logged</a:t>
            </a:r>
            <a:endParaRPr lang="en-US" sz="850" dirty="0"/>
          </a:p>
        </p:txBody>
      </p:sp>
      <p:sp>
        <p:nvSpPr>
          <p:cNvPr id="46" name="Text 44"/>
          <p:cNvSpPr/>
          <p:nvPr/>
        </p:nvSpPr>
        <p:spPr>
          <a:xfrm>
            <a:off x="548640" y="5925312"/>
            <a:ext cx="3063240" cy="365760"/>
          </a:xfrm>
          <a:prstGeom prst="rect">
            <a:avLst/>
          </a:prstGeom>
          <a:noFill/>
          <a:ln/>
        </p:spPr>
        <p:txBody>
          <a:bodyPr wrap="square" lIns="0" tIns="0" rIns="0" bIns="0" rtlCol="0" anchor="ctr"/>
          <a:lstStyle/>
          <a:p>
            <a:pPr indent="0" marL="0">
              <a:buNone/>
            </a:pPr>
            <a:r>
              <a:rPr lang="en-US" sz="900" b="1" dirty="0">
                <a:solidFill>
                  <a:srgbClr val="A33228"/>
                </a:solidFill>
                <a:latin typeface="Calibri" pitchFamily="34" charset="0"/>
                <a:ea typeface="Calibri" pitchFamily="34" charset="-122"/>
                <a:cs typeface="Calibri" pitchFamily="34" charset="-120"/>
              </a:rPr>
              <a:t>Landed cost is wrong, so every margin number is fiction</a:t>
            </a:r>
            <a:endParaRPr lang="en-US" sz="900" dirty="0"/>
          </a:p>
        </p:txBody>
      </p:sp>
      <p:sp>
        <p:nvSpPr>
          <p:cNvPr id="47" name="Text 45"/>
          <p:cNvSpPr/>
          <p:nvPr/>
        </p:nvSpPr>
        <p:spPr>
          <a:xfrm>
            <a:off x="3657600" y="5925312"/>
            <a:ext cx="2331720" cy="365760"/>
          </a:xfrm>
          <a:prstGeom prst="rect">
            <a:avLst/>
          </a:prstGeom>
          <a:noFill/>
          <a:ln/>
        </p:spPr>
        <p:txBody>
          <a:bodyPr wrap="square" lIns="0" tIns="0" rIns="0" bIns="0" rtlCol="0" anchor="ctr"/>
          <a:lstStyle/>
          <a:p>
            <a:pPr indent="0" marL="0">
              <a:buNone/>
            </a:pPr>
            <a:r>
              <a:rPr lang="en-US" sz="850" dirty="0">
                <a:solidFill>
                  <a:srgbClr val="67736C"/>
                </a:solidFill>
                <a:latin typeface="Calibri" pitchFamily="34" charset="0"/>
                <a:ea typeface="Calibri" pitchFamily="34" charset="-122"/>
                <a:cs typeface="Calibri" pitchFamily="34" charset="-120"/>
              </a:rPr>
              <a:t>Goods receipt built first · phase 6 gate ties margin to a hand calculation</a:t>
            </a:r>
            <a:endParaRPr lang="en-US" sz="850" dirty="0"/>
          </a:p>
        </p:txBody>
      </p:sp>
      <p:sp>
        <p:nvSpPr>
          <p:cNvPr id="48" name="Text 46"/>
          <p:cNvSpPr/>
          <p:nvPr/>
        </p:nvSpPr>
        <p:spPr>
          <a:xfrm>
            <a:off x="6172200" y="5925312"/>
            <a:ext cx="3063240" cy="365760"/>
          </a:xfrm>
          <a:prstGeom prst="rect">
            <a:avLst/>
          </a:prstGeom>
          <a:noFill/>
          <a:ln/>
        </p:spPr>
        <p:txBody>
          <a:bodyPr wrap="square" lIns="0" tIns="0" rIns="0" bIns="0" rtlCol="0" anchor="ctr"/>
          <a:lstStyle/>
          <a:p>
            <a:pPr indent="0" marL="0">
              <a:buNone/>
            </a:pPr>
            <a:r>
              <a:rPr lang="en-US" sz="900" b="1" dirty="0">
                <a:solidFill>
                  <a:srgbClr val="A33228"/>
                </a:solidFill>
                <a:latin typeface="Calibri" pitchFamily="34" charset="0"/>
                <a:ea typeface="Calibri" pitchFamily="34" charset="-122"/>
                <a:cs typeface="Calibri" pitchFamily="34" charset="-120"/>
              </a:rPr>
              <a:t>The system gets bypassed and the data never materialises</a:t>
            </a:r>
            <a:endParaRPr lang="en-US" sz="900" dirty="0"/>
          </a:p>
        </p:txBody>
      </p:sp>
      <p:sp>
        <p:nvSpPr>
          <p:cNvPr id="49" name="Text 47"/>
          <p:cNvSpPr/>
          <p:nvPr/>
        </p:nvSpPr>
        <p:spPr>
          <a:xfrm>
            <a:off x="9281160" y="5925312"/>
            <a:ext cx="2331720" cy="365760"/>
          </a:xfrm>
          <a:prstGeom prst="rect">
            <a:avLst/>
          </a:prstGeom>
          <a:noFill/>
          <a:ln/>
        </p:spPr>
        <p:txBody>
          <a:bodyPr wrap="square" lIns="0" tIns="0" rIns="0" bIns="0" rtlCol="0" anchor="ctr"/>
          <a:lstStyle/>
          <a:p>
            <a:pPr indent="0" marL="0">
              <a:buNone/>
            </a:pPr>
            <a:r>
              <a:rPr lang="en-US" sz="850" dirty="0">
                <a:solidFill>
                  <a:srgbClr val="67736C"/>
                </a:solidFill>
                <a:latin typeface="Calibri" pitchFamily="34" charset="0"/>
                <a:ea typeface="Calibri" pitchFamily="34" charset="-122"/>
                <a:cs typeface="Calibri" pitchFamily="34" charset="-120"/>
              </a:rPr>
              <a:t>Every channel is a first-class flow into one order — telesales and the counter included</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237744"/>
          </a:xfrm>
          <a:prstGeom prst="rect">
            <a:avLst/>
          </a:prstGeom>
          <a:noFill/>
          <a:ln/>
        </p:spPr>
        <p:txBody>
          <a:bodyPr wrap="square" lIns="0" tIns="0" rIns="0" bIns="0" rtlCol="0" anchor="ctr"/>
          <a:lstStyle/>
          <a:p>
            <a:pPr indent="0" marL="0">
              <a:buNone/>
            </a:pPr>
            <a:r>
              <a:rPr lang="en-US" sz="1100" b="1" spc="160" kern="0" dirty="0">
                <a:solidFill>
                  <a:srgbClr val="1F7A4D"/>
                </a:solidFill>
                <a:latin typeface="Calibri" pitchFamily="34" charset="0"/>
                <a:ea typeface="Calibri" pitchFamily="34" charset="-122"/>
                <a:cs typeface="Calibri" pitchFamily="34" charset="-120"/>
              </a:rPr>
              <a:t>WHERE THIS STANDS</a:t>
            </a:r>
            <a:endParaRPr lang="en-US" sz="1100" dirty="0"/>
          </a:p>
        </p:txBody>
      </p:sp>
      <p:sp>
        <p:nvSpPr>
          <p:cNvPr id="3" name="Text 1"/>
          <p:cNvSpPr/>
          <p:nvPr/>
        </p:nvSpPr>
        <p:spPr>
          <a:xfrm>
            <a:off x="548640" y="621792"/>
            <a:ext cx="11064240" cy="658368"/>
          </a:xfrm>
          <a:prstGeom prst="rect">
            <a:avLst/>
          </a:prstGeom>
          <a:noFill/>
          <a:ln/>
        </p:spPr>
        <p:txBody>
          <a:bodyPr wrap="square" lIns="0" tIns="0" rIns="0" bIns="0" rtlCol="0" anchor="ctr"/>
          <a:lstStyle/>
          <a:p>
            <a:pPr indent="0" marL="0">
              <a:buNone/>
            </a:pPr>
            <a:r>
              <a:rPr lang="en-US" sz="3200" b="1" dirty="0">
                <a:solidFill>
                  <a:srgbClr val="14201A"/>
                </a:solidFill>
                <a:latin typeface="Cambria" pitchFamily="34" charset="0"/>
                <a:ea typeface="Cambria" pitchFamily="34" charset="-122"/>
                <a:cs typeface="Cambria" pitchFamily="34" charset="-120"/>
              </a:rPr>
              <a:t>Every structural question is closed</a:t>
            </a:r>
            <a:endParaRPr lang="en-US" sz="3200" dirty="0"/>
          </a:p>
        </p:txBody>
      </p:sp>
      <p:sp>
        <p:nvSpPr>
          <p:cNvPr id="4" name="Text 2"/>
          <p:cNvSpPr/>
          <p:nvPr/>
        </p:nvSpPr>
        <p:spPr>
          <a:xfrm>
            <a:off x="548640" y="1335024"/>
            <a:ext cx="9692640" cy="457200"/>
          </a:xfrm>
          <a:prstGeom prst="rect">
            <a:avLst/>
          </a:prstGeom>
          <a:noFill/>
          <a:ln/>
        </p:spPr>
        <p:txBody>
          <a:bodyPr wrap="square" lIns="0" tIns="0" rIns="0" bIns="0" rtlCol="0" anchor="ctr"/>
          <a:lstStyle/>
          <a:p>
            <a:pPr indent="0" marL="0">
              <a:lnSpc>
                <a:spcPct val="115000"/>
              </a:lnSpc>
              <a:buNone/>
            </a:pPr>
            <a:r>
              <a:rPr lang="en-US" sz="1400" dirty="0">
                <a:solidFill>
                  <a:srgbClr val="3D4A43"/>
                </a:solidFill>
                <a:latin typeface="Calibri" pitchFamily="34" charset="0"/>
                <a:ea typeface="Calibri" pitchFamily="34" charset="-122"/>
                <a:cs typeface="Calibri" pitchFamily="34" charset="-120"/>
              </a:rPr>
              <a:t>The founder decisions below are taken and recorded. Nothing in the build is now waiting on an answer.</a:t>
            </a:r>
            <a:endParaRPr lang="en-US" sz="1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64240" cy="914400"/>
        </p:xfrm>
        <a:graphic>
          <a:graphicData uri="http://schemas.openxmlformats.org/drawingml/2006/table">
            <a:tbl>
              <a:tblPr/>
              <a:tblGrid>
                <a:gridCol w="2377440"/>
                <a:gridCol w="3383280"/>
                <a:gridCol w="5303520"/>
              </a:tblGrid>
              <a:tr h="475488">
                <a:tc>
                  <a:txBody>
                    <a:bodyPr/>
                    <a:lstStyle/>
                    <a:p>
                      <a:pPr indent="0" marL="0">
                        <a:buNone/>
                      </a:pPr>
                      <a:r>
                        <a:rPr lang="en-US" sz="950" b="1" spc="100" kern="0" dirty="0">
                          <a:solidFill>
                            <a:srgbClr val="67736C"/>
                          </a:solidFill>
                          <a:latin typeface="Calibri" pitchFamily="34" charset="0"/>
                          <a:ea typeface="Calibri" pitchFamily="34" charset="-122"/>
                          <a:cs typeface="Calibri" pitchFamily="34" charset="-120"/>
                        </a:rPr>
                        <a:t>DECISION</a:t>
                      </a:r>
                      <a:endParaRPr lang="en-US" sz="95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950" b="1" spc="100" kern="0" dirty="0">
                          <a:solidFill>
                            <a:srgbClr val="1F7A4D"/>
                          </a:solidFill>
                          <a:latin typeface="Calibri" pitchFamily="34" charset="0"/>
                          <a:ea typeface="Calibri" pitchFamily="34" charset="-122"/>
                          <a:cs typeface="Calibri" pitchFamily="34" charset="-120"/>
                        </a:rPr>
                        <a:t>WHAT WAS DECIDED</a:t>
                      </a:r>
                      <a:endParaRPr lang="en-US" sz="95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950" b="1" spc="100" kern="0" dirty="0">
                          <a:solidFill>
                            <a:srgbClr val="67736C"/>
                          </a:solidFill>
                          <a:latin typeface="Calibri" pitchFamily="34" charset="0"/>
                          <a:ea typeface="Calibri" pitchFamily="34" charset="-122"/>
                          <a:cs typeface="Calibri" pitchFamily="34" charset="-120"/>
                        </a:rPr>
                        <a:t>WHAT IT MEANS FOR THE BUILD</a:t>
                      </a:r>
                      <a:endParaRPr lang="en-US" sz="95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Branch geography</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All branches in the same state as the hub</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One GST registration. Transfers are delivery challans with no tax leg — a large simplification</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Economic numbers</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Demo placeholders for now</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Every figure lives in configuration. Real numbers replace them without a code change</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Counter retail</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Yes — branches sell over the counter</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Counter sales are recorded from day one because they move stock. Full point-of-sale comes later</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Tax and invoicing</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Simple invoice, demo GST number, replace later</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E-invoice and e-way bill stay as open seams. Demo config is fenced so it cannot reach production</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Customer types</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Retail shops, caterers, event managers</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Three segments, three flows, one order object</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Fleet</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Both own vehicles and hired</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One vehicle model, cost attributed per trip either way, so delivery cost per drop stays true</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FFFFF"/>
                    </a:solidFill>
                  </a:tcPr>
                </a:tc>
              </a:tr>
              <a:tr h="475488">
                <a:tc>
                  <a:txBody>
                    <a:bodyPr/>
                    <a:lstStyle/>
                    <a:p>
                      <a:pPr indent="0" marL="0">
                        <a:buNone/>
                      </a:pPr>
                      <a:r>
                        <a:rPr lang="en-US" sz="1100" b="1" dirty="0">
                          <a:solidFill>
                            <a:srgbClr val="14201A"/>
                          </a:solidFill>
                          <a:latin typeface="Calibri" pitchFamily="34" charset="0"/>
                          <a:ea typeface="Calibri" pitchFamily="34" charset="-122"/>
                          <a:cs typeface="Calibri" pitchFamily="34" charset="-120"/>
                        </a:rPr>
                        <a:t>Consumer business</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c>
                  <a:txBody>
                    <a:bodyPr/>
                    <a:lstStyle/>
                    <a:p>
                      <a:pPr indent="0" marL="0">
                        <a:buNone/>
                      </a:pPr>
                      <a:r>
                        <a:rPr lang="en-US" sz="1100" b="1" dirty="0">
                          <a:solidFill>
                            <a:srgbClr val="1F7A4D"/>
                          </a:solidFill>
                          <a:latin typeface="Calibri" pitchFamily="34" charset="0"/>
                          <a:ea typeface="Calibri" pitchFamily="34" charset="-122"/>
                          <a:cs typeface="Calibri" pitchFamily="34" charset="-120"/>
                        </a:rPr>
                        <a:t>Deferred, seam kept open</a:t>
                      </a:r>
                      <a:endParaRPr lang="en-US" sz="11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E0EFE6"/>
                    </a:solidFill>
                  </a:tcPr>
                </a:tc>
                <a:tc>
                  <a:txBody>
                    <a:bodyPr/>
                    <a:lstStyle/>
                    <a:p>
                      <a:pPr indent="0" marL="0">
                        <a:buNone/>
                      </a:pPr>
                      <a:r>
                        <a:rPr lang="en-US" sz="1000" dirty="0">
                          <a:solidFill>
                            <a:srgbClr val="3D4A43"/>
                          </a:solidFill>
                          <a:latin typeface="Calibri" pitchFamily="34" charset="0"/>
                          <a:ea typeface="Calibri" pitchFamily="34" charset="-122"/>
                          <a:cs typeface="Calibri" pitchFamily="34" charset="-120"/>
                        </a:rPr>
                        <a:t>Customer type is modelled from day one, so B2C later is configuration and not a rewrite</a:t>
                      </a:r>
                      <a:endParaRPr lang="en-US" sz="1000" dirty="0">
                        <a:latin typeface="Calibri" charset="0"/>
                        <a:ea typeface="Calibri" charset="0"/>
                        <a:cs typeface="Calibri" charset="0"/>
                      </a:endParaRPr>
                    </a:p>
                  </a:txBody>
                  <a:tcPr marL="91440" marR="91440" marT="91440" marB="91440" anchor="ctr">
                    <a:lnL w="12700" cap="flat" cmpd="sng" algn="ctr">
                      <a:solidFill>
                        <a:srgbClr val="D6D5CB"/>
                      </a:solidFill>
                      <a:prstDash val="solid"/>
                      <a:round/>
                      <a:headEnd type="none" w="med" len="med"/>
                      <a:tailEnd type="none" w="med" len="med"/>
                    </a:lnL>
                    <a:lnR w="12700" cap="flat" cmpd="sng" algn="ctr">
                      <a:solidFill>
                        <a:srgbClr val="D6D5CB"/>
                      </a:solidFill>
                      <a:prstDash val="solid"/>
                      <a:round/>
                      <a:headEnd type="none" w="med" len="med"/>
                      <a:tailEnd type="none" w="med" len="med"/>
                    </a:lnR>
                    <a:lnT w="12700" cap="flat" cmpd="sng" algn="ctr">
                      <a:solidFill>
                        <a:srgbClr val="D6D5CB"/>
                      </a:solidFill>
                      <a:prstDash val="solid"/>
                      <a:round/>
                      <a:headEnd type="none" w="med" len="med"/>
                      <a:tailEnd type="none" w="med" len="med"/>
                    </a:lnT>
                    <a:lnB w="12700" cap="flat" cmpd="sng" algn="ctr">
                      <a:solidFill>
                        <a:srgbClr val="D6D5CB"/>
                      </a:solidFill>
                      <a:prstDash val="solid"/>
                      <a:round/>
                      <a:headEnd type="none" w="med" len="med"/>
                      <a:tailEnd type="none" w="med" len="med"/>
                    </a:lnB>
                    <a:solidFill>
                      <a:srgbClr val="F1F0EA"/>
                    </a:solidFill>
                  </a:tcPr>
                </a:tc>
              </a:tr>
            </a:tbl>
          </a:graphicData>
        </a:graphic>
      </p:graphicFrame>
      <p:sp>
        <p:nvSpPr>
          <p:cNvPr id="6" name="Shape 3"/>
          <p:cNvSpPr/>
          <p:nvPr/>
        </p:nvSpPr>
        <p:spPr>
          <a:xfrm>
            <a:off x="548640" y="5504688"/>
            <a:ext cx="11064240" cy="658368"/>
          </a:xfrm>
          <a:prstGeom prst="roundRect">
            <a:avLst>
              <a:gd name="adj" fmla="val 8333"/>
            </a:avLst>
          </a:prstGeom>
          <a:solidFill>
            <a:srgbClr val="F6EAD8"/>
          </a:solidFill>
          <a:ln w="12700">
            <a:solidFill>
              <a:srgbClr val="9E5E10"/>
            </a:solidFill>
            <a:prstDash val="solid"/>
          </a:ln>
          <a:effectLst>
            <a:outerShdw sx="100000" sy="100000" kx="0" ky="0" algn="bl" rotWithShape="0" blurRad="127000" dist="12700" dir="5400000">
              <a:srgbClr val="14201A">
                <a:alpha val="9000"/>
              </a:srgbClr>
            </a:outerShdw>
          </a:effectLst>
        </p:spPr>
      </p:sp>
      <p:sp>
        <p:nvSpPr>
          <p:cNvPr id="7" name="Text 4"/>
          <p:cNvSpPr/>
          <p:nvPr/>
        </p:nvSpPr>
        <p:spPr>
          <a:xfrm>
            <a:off x="822960" y="5596128"/>
            <a:ext cx="5120640" cy="256032"/>
          </a:xfrm>
          <a:prstGeom prst="rect">
            <a:avLst/>
          </a:prstGeom>
          <a:noFill/>
          <a:ln/>
        </p:spPr>
        <p:txBody>
          <a:bodyPr wrap="square" lIns="0" tIns="0" rIns="0" bIns="0" rtlCol="0" anchor="ctr"/>
          <a:lstStyle/>
          <a:p>
            <a:pPr indent="0" marL="0">
              <a:buNone/>
            </a:pPr>
            <a:r>
              <a:rPr lang="en-US" sz="1100" b="1" dirty="0">
                <a:solidFill>
                  <a:srgbClr val="9E5E10"/>
                </a:solidFill>
                <a:latin typeface="Calibri" pitchFamily="34" charset="0"/>
                <a:ea typeface="Calibri" pitchFamily="34" charset="-122"/>
                <a:cs typeface="Calibri" pitchFamily="34" charset="-120"/>
              </a:rPr>
              <a:t>Still open, running on demo values — and none of it blocks the build:</a:t>
            </a:r>
            <a:endParaRPr lang="en-US" sz="1100" dirty="0"/>
          </a:p>
        </p:txBody>
      </p:sp>
      <p:sp>
        <p:nvSpPr>
          <p:cNvPr id="8" name="Text 5"/>
          <p:cNvSpPr/>
          <p:nvPr/>
        </p:nvSpPr>
        <p:spPr>
          <a:xfrm>
            <a:off x="822960" y="5852160"/>
            <a:ext cx="10424160" cy="256032"/>
          </a:xfrm>
          <a:prstGeom prst="rect">
            <a:avLst/>
          </a:prstGeom>
          <a:noFill/>
          <a:ln/>
        </p:spPr>
        <p:txBody>
          <a:bodyPr wrap="square" lIns="0" tIns="0" rIns="0" bIns="0" rtlCol="0" anchor="ctr"/>
          <a:lstStyle/>
          <a:p>
            <a:pPr indent="0" marL="0">
              <a:buNone/>
            </a:pPr>
            <a:r>
              <a:rPr lang="en-US" sz="1100" dirty="0">
                <a:solidFill>
                  <a:srgbClr val="3D4A43"/>
                </a:solidFill>
                <a:latin typeface="Calibri" pitchFamily="34" charset="0"/>
                <a:ea typeface="Calibri" pitchFamily="34" charset="-122"/>
                <a:cs typeface="Calibri" pitchFamily="34" charset="-120"/>
              </a:rPr>
              <a:t>real margins and volumes  ·  beauty range specifics  ·  the credit policy actually run today  ·  stock value held</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01A16"/>
        </a:solidFill>
      </p:bgPr>
    </p:bg>
    <p:spTree>
      <p:nvGrpSpPr>
        <p:cNvPr id="1" name=""/>
        <p:cNvGrpSpPr/>
        <p:nvPr/>
      </p:nvGrpSpPr>
      <p:grpSpPr>
        <a:xfrm>
          <a:off x="0" y="0"/>
          <a:ext cx="0" cy="0"/>
          <a:chOff x="0" y="0"/>
          <a:chExt cx="0" cy="0"/>
        </a:xfrm>
      </p:grpSpPr>
      <p:sp>
        <p:nvSpPr>
          <p:cNvPr id="2" name="Text 0"/>
          <p:cNvSpPr/>
          <p:nvPr/>
        </p:nvSpPr>
        <p:spPr>
          <a:xfrm>
            <a:off x="548640" y="1234440"/>
            <a:ext cx="11064240" cy="274320"/>
          </a:xfrm>
          <a:prstGeom prst="rect">
            <a:avLst/>
          </a:prstGeom>
          <a:noFill/>
          <a:ln/>
        </p:spPr>
        <p:txBody>
          <a:bodyPr wrap="square" lIns="0" tIns="0" rIns="0" bIns="0" rtlCol="0" anchor="ctr"/>
          <a:lstStyle/>
          <a:p>
            <a:pPr indent="0" marL="0">
              <a:buNone/>
            </a:pPr>
            <a:r>
              <a:rPr lang="en-US" sz="1100" b="1" spc="240" kern="0" dirty="0">
                <a:solidFill>
                  <a:srgbClr val="6EC79A"/>
                </a:solidFill>
                <a:latin typeface="Calibri" pitchFamily="34" charset="0"/>
                <a:ea typeface="Calibri" pitchFamily="34" charset="-122"/>
                <a:cs typeface="Calibri" pitchFamily="34" charset="-120"/>
              </a:rPr>
              <a:t>WHAT HAPPENS NEXT</a:t>
            </a:r>
            <a:endParaRPr lang="en-US" sz="1100" dirty="0"/>
          </a:p>
        </p:txBody>
      </p:sp>
      <p:sp>
        <p:nvSpPr>
          <p:cNvPr id="3" name="Text 1"/>
          <p:cNvSpPr/>
          <p:nvPr/>
        </p:nvSpPr>
        <p:spPr>
          <a:xfrm>
            <a:off x="548640" y="1627632"/>
            <a:ext cx="10058400" cy="1554480"/>
          </a:xfrm>
          <a:prstGeom prst="rect">
            <a:avLst/>
          </a:prstGeom>
          <a:noFill/>
          <a:ln/>
        </p:spPr>
        <p:txBody>
          <a:bodyPr wrap="square" lIns="0" tIns="0" rIns="0" bIns="0" rtlCol="0" anchor="ctr"/>
          <a:lstStyle/>
          <a:p>
            <a:pPr indent="0" marL="0">
              <a:lnSpc>
                <a:spcPct val="108000"/>
              </a:lnSpc>
              <a:buNone/>
            </a:pPr>
            <a:r>
              <a:rPr lang="en-US" sz="3800" b="1" dirty="0">
                <a:solidFill>
                  <a:srgbClr val="E9ECE7"/>
                </a:solidFill>
                <a:latin typeface="Cambria" pitchFamily="34" charset="0"/>
                <a:ea typeface="Cambria" pitchFamily="34" charset="-122"/>
                <a:cs typeface="Cambria" pitchFamily="34" charset="-120"/>
              </a:rPr>
              <a:t>A business that already works,</a:t>
            </a:r>
            <a:endParaRPr lang="en-US" sz="3800" dirty="0"/>
          </a:p>
          <a:p>
            <a:pPr indent="0" marL="0">
              <a:lnSpc>
                <a:spcPct val="108000"/>
              </a:lnSpc>
              <a:buNone/>
            </a:pPr>
            <a:r>
              <a:rPr lang="en-US" sz="3800" b="1" dirty="0">
                <a:solidFill>
                  <a:srgbClr val="E9ECE7"/>
                </a:solidFill>
                <a:latin typeface="Cambria" pitchFamily="34" charset="0"/>
                <a:ea typeface="Cambria" pitchFamily="34" charset="-122"/>
                <a:cs typeface="Cambria" pitchFamily="34" charset="-120"/>
              </a:rPr>
              <a:t>given a system that can hold it.</a:t>
            </a:r>
            <a:endParaRPr lang="en-US" sz="3800" dirty="0"/>
          </a:p>
        </p:txBody>
      </p:sp>
      <p:sp>
        <p:nvSpPr>
          <p:cNvPr id="4" name="Shape 2"/>
          <p:cNvSpPr/>
          <p:nvPr/>
        </p:nvSpPr>
        <p:spPr>
          <a:xfrm>
            <a:off x="548640" y="3419856"/>
            <a:ext cx="182880" cy="182880"/>
          </a:xfrm>
          <a:prstGeom prst="ellipse">
            <a:avLst/>
          </a:prstGeom>
          <a:solidFill>
            <a:srgbClr val="E0A85C"/>
          </a:solidFill>
          <a:ln w="12700">
            <a:solidFill>
              <a:srgbClr val="333333"/>
            </a:solidFill>
            <a:prstDash val="solid"/>
          </a:ln>
        </p:spPr>
      </p:sp>
      <p:sp>
        <p:nvSpPr>
          <p:cNvPr id="5" name="Text 3"/>
          <p:cNvSpPr/>
          <p:nvPr/>
        </p:nvSpPr>
        <p:spPr>
          <a:xfrm>
            <a:off x="877824" y="3346704"/>
            <a:ext cx="1737360" cy="274320"/>
          </a:xfrm>
          <a:prstGeom prst="rect">
            <a:avLst/>
          </a:prstGeom>
          <a:noFill/>
          <a:ln/>
        </p:spPr>
        <p:txBody>
          <a:bodyPr wrap="square" lIns="0" tIns="0" rIns="0" bIns="0" rtlCol="0" anchor="ctr"/>
          <a:lstStyle/>
          <a:p>
            <a:pPr indent="0" marL="0">
              <a:buNone/>
            </a:pPr>
            <a:r>
              <a:rPr lang="en-US" sz="1200" b="1" dirty="0">
                <a:solidFill>
                  <a:srgbClr val="E0A85C"/>
                </a:solidFill>
                <a:latin typeface="Calibri" pitchFamily="34" charset="0"/>
                <a:ea typeface="Calibri" pitchFamily="34" charset="-122"/>
                <a:cs typeface="Calibri" pitchFamily="34" charset="-120"/>
              </a:rPr>
              <a:t>Immediately</a:t>
            </a:r>
            <a:endParaRPr lang="en-US" sz="1200" dirty="0"/>
          </a:p>
        </p:txBody>
      </p:sp>
      <p:sp>
        <p:nvSpPr>
          <p:cNvPr id="6" name="Text 4"/>
          <p:cNvSpPr/>
          <p:nvPr/>
        </p:nvSpPr>
        <p:spPr>
          <a:xfrm>
            <a:off x="2743200" y="3328416"/>
            <a:ext cx="8869680" cy="566928"/>
          </a:xfrm>
          <a:prstGeom prst="rect">
            <a:avLst/>
          </a:prstGeom>
          <a:noFill/>
          <a:ln/>
        </p:spPr>
        <p:txBody>
          <a:bodyPr wrap="square" lIns="0" tIns="0" rIns="0" bIns="0" rtlCol="0" anchor="ctr"/>
          <a:lstStyle/>
          <a:p>
            <a:pPr indent="0" marL="0">
              <a:lnSpc>
                <a:spcPct val="114000"/>
              </a:lnSpc>
              <a:buNone/>
            </a:pPr>
            <a:r>
              <a:rPr lang="en-US" sz="1150" dirty="0">
                <a:solidFill>
                  <a:srgbClr val="9AA69F"/>
                </a:solidFill>
                <a:latin typeface="Calibri" pitchFamily="34" charset="0"/>
                <a:ea typeface="Calibri" pitchFamily="34" charset="-122"/>
                <a:cs typeface="Calibri" pitchFamily="34" charset="-120"/>
              </a:rPr>
              <a:t>Re-chart the ledger for a business that owns what it sells — the cheapest correction available, and it expires the moment anything builds on it</a:t>
            </a:r>
            <a:endParaRPr lang="en-US" sz="1150" dirty="0"/>
          </a:p>
        </p:txBody>
      </p:sp>
      <p:sp>
        <p:nvSpPr>
          <p:cNvPr id="7" name="Shape 5"/>
          <p:cNvSpPr/>
          <p:nvPr/>
        </p:nvSpPr>
        <p:spPr>
          <a:xfrm>
            <a:off x="548640" y="4078224"/>
            <a:ext cx="182880" cy="182880"/>
          </a:xfrm>
          <a:prstGeom prst="ellipse">
            <a:avLst/>
          </a:prstGeom>
          <a:solidFill>
            <a:srgbClr val="E0A85C"/>
          </a:solidFill>
          <a:ln w="12700">
            <a:solidFill>
              <a:srgbClr val="333333"/>
            </a:solidFill>
            <a:prstDash val="solid"/>
          </a:ln>
        </p:spPr>
      </p:sp>
      <p:sp>
        <p:nvSpPr>
          <p:cNvPr id="8" name="Text 6"/>
          <p:cNvSpPr/>
          <p:nvPr/>
        </p:nvSpPr>
        <p:spPr>
          <a:xfrm>
            <a:off x="877824" y="4005072"/>
            <a:ext cx="1737360" cy="274320"/>
          </a:xfrm>
          <a:prstGeom prst="rect">
            <a:avLst/>
          </a:prstGeom>
          <a:noFill/>
          <a:ln/>
        </p:spPr>
        <p:txBody>
          <a:bodyPr wrap="square" lIns="0" tIns="0" rIns="0" bIns="0" rtlCol="0" anchor="ctr"/>
          <a:lstStyle/>
          <a:p>
            <a:pPr indent="0" marL="0">
              <a:buNone/>
            </a:pPr>
            <a:r>
              <a:rPr lang="en-US" sz="1200" b="1" dirty="0">
                <a:solidFill>
                  <a:srgbClr val="E0A85C"/>
                </a:solidFill>
                <a:latin typeface="Calibri" pitchFamily="34" charset="0"/>
                <a:ea typeface="Calibri" pitchFamily="34" charset="-122"/>
                <a:cs typeface="Calibri" pitchFamily="34" charset="-120"/>
              </a:rPr>
              <a:t>Then</a:t>
            </a:r>
            <a:endParaRPr lang="en-US" sz="1200" dirty="0"/>
          </a:p>
        </p:txBody>
      </p:sp>
      <p:sp>
        <p:nvSpPr>
          <p:cNvPr id="9" name="Text 7"/>
          <p:cNvSpPr/>
          <p:nvPr/>
        </p:nvSpPr>
        <p:spPr>
          <a:xfrm>
            <a:off x="2743200" y="3986784"/>
            <a:ext cx="8869680" cy="566928"/>
          </a:xfrm>
          <a:prstGeom prst="rect">
            <a:avLst/>
          </a:prstGeom>
          <a:noFill/>
          <a:ln/>
        </p:spPr>
        <p:txBody>
          <a:bodyPr wrap="square" lIns="0" tIns="0" rIns="0" bIns="0" rtlCol="0" anchor="ctr"/>
          <a:lstStyle/>
          <a:p>
            <a:pPr indent="0" marL="0">
              <a:lnSpc>
                <a:spcPct val="114000"/>
              </a:lnSpc>
              <a:buNone/>
            </a:pPr>
            <a:r>
              <a:rPr lang="en-US" sz="1150" dirty="0">
                <a:solidFill>
                  <a:srgbClr val="9AA69F"/>
                </a:solidFill>
                <a:latin typeface="Calibri" pitchFamily="34" charset="0"/>
                <a:ea typeface="Calibri" pitchFamily="34" charset="-122"/>
                <a:cs typeface="Calibri" pitchFamily="34" charset="-120"/>
              </a:rPr>
              <a:t>Finish phase 5 completely before anything else. Splitting price from stock touches orders, reservations and batches — building on the old shape gets worse daily</a:t>
            </a:r>
            <a:endParaRPr lang="en-US" sz="1150" dirty="0"/>
          </a:p>
        </p:txBody>
      </p:sp>
      <p:sp>
        <p:nvSpPr>
          <p:cNvPr id="10" name="Shape 8"/>
          <p:cNvSpPr/>
          <p:nvPr/>
        </p:nvSpPr>
        <p:spPr>
          <a:xfrm>
            <a:off x="548640" y="4736592"/>
            <a:ext cx="182880" cy="182880"/>
          </a:xfrm>
          <a:prstGeom prst="ellipse">
            <a:avLst/>
          </a:prstGeom>
          <a:solidFill>
            <a:srgbClr val="E0A85C"/>
          </a:solidFill>
          <a:ln w="12700">
            <a:solidFill>
              <a:srgbClr val="333333"/>
            </a:solidFill>
            <a:prstDash val="solid"/>
          </a:ln>
        </p:spPr>
      </p:sp>
      <p:sp>
        <p:nvSpPr>
          <p:cNvPr id="11" name="Text 9"/>
          <p:cNvSpPr/>
          <p:nvPr/>
        </p:nvSpPr>
        <p:spPr>
          <a:xfrm>
            <a:off x="877824" y="4663440"/>
            <a:ext cx="1737360" cy="274320"/>
          </a:xfrm>
          <a:prstGeom prst="rect">
            <a:avLst/>
          </a:prstGeom>
          <a:noFill/>
          <a:ln/>
        </p:spPr>
        <p:txBody>
          <a:bodyPr wrap="square" lIns="0" tIns="0" rIns="0" bIns="0" rtlCol="0" anchor="ctr"/>
          <a:lstStyle/>
          <a:p>
            <a:pPr indent="0" marL="0">
              <a:buNone/>
            </a:pPr>
            <a:r>
              <a:rPr lang="en-US" sz="1200" b="1" dirty="0">
                <a:solidFill>
                  <a:srgbClr val="E0A85C"/>
                </a:solidFill>
                <a:latin typeface="Calibri" pitchFamily="34" charset="0"/>
                <a:ea typeface="Calibri" pitchFamily="34" charset="-122"/>
                <a:cs typeface="Calibri" pitchFamily="34" charset="-120"/>
              </a:rPr>
              <a:t>In parallel</a:t>
            </a:r>
            <a:endParaRPr lang="en-US" sz="1200" dirty="0"/>
          </a:p>
        </p:txBody>
      </p:sp>
      <p:sp>
        <p:nvSpPr>
          <p:cNvPr id="12" name="Text 10"/>
          <p:cNvSpPr/>
          <p:nvPr/>
        </p:nvSpPr>
        <p:spPr>
          <a:xfrm>
            <a:off x="2743200" y="4645152"/>
            <a:ext cx="8869680" cy="566928"/>
          </a:xfrm>
          <a:prstGeom prst="rect">
            <a:avLst/>
          </a:prstGeom>
          <a:noFill/>
          <a:ln/>
        </p:spPr>
        <p:txBody>
          <a:bodyPr wrap="square" lIns="0" tIns="0" rIns="0" bIns="0" rtlCol="0" anchor="ctr"/>
          <a:lstStyle/>
          <a:p>
            <a:pPr indent="0" marL="0">
              <a:lnSpc>
                <a:spcPct val="114000"/>
              </a:lnSpc>
              <a:buNone/>
            </a:pPr>
            <a:r>
              <a:rPr lang="en-US" sz="1150" dirty="0">
                <a:solidFill>
                  <a:srgbClr val="9AA69F"/>
                </a:solidFill>
                <a:latin typeface="Calibri" pitchFamily="34" charset="0"/>
                <a:ea typeface="Calibri" pitchFamily="34" charset="-122"/>
                <a:cs typeface="Calibri" pitchFamily="34" charset="-120"/>
              </a:rPr>
              <a:t>Registration per branch and verified weighing equipment. Deferring the tax software did not defer these, and they have real lead times</a:t>
            </a:r>
            <a:endParaRPr lang="en-US" sz="1150" dirty="0"/>
          </a:p>
        </p:txBody>
      </p:sp>
      <p:sp>
        <p:nvSpPr>
          <p:cNvPr id="13" name="Shape 11"/>
          <p:cNvSpPr/>
          <p:nvPr/>
        </p:nvSpPr>
        <p:spPr>
          <a:xfrm>
            <a:off x="548640" y="5394960"/>
            <a:ext cx="182880" cy="182880"/>
          </a:xfrm>
          <a:prstGeom prst="ellipse">
            <a:avLst/>
          </a:prstGeom>
          <a:solidFill>
            <a:srgbClr val="E0A85C"/>
          </a:solidFill>
          <a:ln w="12700">
            <a:solidFill>
              <a:srgbClr val="333333"/>
            </a:solidFill>
            <a:prstDash val="solid"/>
          </a:ln>
        </p:spPr>
      </p:sp>
      <p:sp>
        <p:nvSpPr>
          <p:cNvPr id="14" name="Text 12"/>
          <p:cNvSpPr/>
          <p:nvPr/>
        </p:nvSpPr>
        <p:spPr>
          <a:xfrm>
            <a:off x="877824" y="5321808"/>
            <a:ext cx="1737360" cy="274320"/>
          </a:xfrm>
          <a:prstGeom prst="rect">
            <a:avLst/>
          </a:prstGeom>
          <a:noFill/>
          <a:ln/>
        </p:spPr>
        <p:txBody>
          <a:bodyPr wrap="square" lIns="0" tIns="0" rIns="0" bIns="0" rtlCol="0" anchor="ctr"/>
          <a:lstStyle/>
          <a:p>
            <a:pPr indent="0" marL="0">
              <a:buNone/>
            </a:pPr>
            <a:r>
              <a:rPr lang="en-US" sz="1200" b="1" dirty="0">
                <a:solidFill>
                  <a:srgbClr val="E0A85C"/>
                </a:solidFill>
                <a:latin typeface="Calibri" pitchFamily="34" charset="0"/>
                <a:ea typeface="Calibri" pitchFamily="34" charset="-122"/>
                <a:cs typeface="Calibri" pitchFamily="34" charset="-120"/>
              </a:rPr>
              <a:t>When convenient</a:t>
            </a:r>
            <a:endParaRPr lang="en-US" sz="1200" dirty="0"/>
          </a:p>
        </p:txBody>
      </p:sp>
      <p:sp>
        <p:nvSpPr>
          <p:cNvPr id="15" name="Text 13"/>
          <p:cNvSpPr/>
          <p:nvPr/>
        </p:nvSpPr>
        <p:spPr>
          <a:xfrm>
            <a:off x="2743200" y="5303520"/>
            <a:ext cx="8869680" cy="566928"/>
          </a:xfrm>
          <a:prstGeom prst="rect">
            <a:avLst/>
          </a:prstGeom>
          <a:noFill/>
          <a:ln/>
        </p:spPr>
        <p:txBody>
          <a:bodyPr wrap="square" lIns="0" tIns="0" rIns="0" bIns="0" rtlCol="0" anchor="ctr"/>
          <a:lstStyle/>
          <a:p>
            <a:pPr indent="0" marL="0">
              <a:lnSpc>
                <a:spcPct val="114000"/>
              </a:lnSpc>
              <a:buNone/>
            </a:pPr>
            <a:r>
              <a:rPr lang="en-US" sz="1150" dirty="0">
                <a:solidFill>
                  <a:srgbClr val="9AA69F"/>
                </a:solidFill>
                <a:latin typeface="Calibri" pitchFamily="34" charset="0"/>
                <a:ea typeface="Calibri" pitchFamily="34" charset="-122"/>
                <a:cs typeface="Calibri" pitchFamily="34" charset="-120"/>
              </a:rPr>
              <a:t>Real margins and volumes — not to unblock, but to confirm the lever ranking that set the phase order</a:t>
            </a:r>
            <a:endParaRPr lang="en-US" sz="1150" dirty="0"/>
          </a:p>
        </p:txBody>
      </p:sp>
      <p:sp>
        <p:nvSpPr>
          <p:cNvPr id="16" name="Text 14"/>
          <p:cNvSpPr/>
          <p:nvPr/>
        </p:nvSpPr>
        <p:spPr>
          <a:xfrm>
            <a:off x="548640" y="6144768"/>
            <a:ext cx="11064240" cy="274320"/>
          </a:xfrm>
          <a:prstGeom prst="rect">
            <a:avLst/>
          </a:prstGeom>
          <a:noFill/>
          <a:ln/>
        </p:spPr>
        <p:txBody>
          <a:bodyPr wrap="square" lIns="0" tIns="0" rIns="0" bIns="0" rtlCol="0" anchor="ctr"/>
          <a:lstStyle/>
          <a:p>
            <a:pPr indent="0" marL="0">
              <a:buNone/>
            </a:pPr>
            <a:r>
              <a:rPr lang="en-US" sz="1000" dirty="0">
                <a:solidFill>
                  <a:srgbClr val="5C6B63"/>
                </a:solidFill>
                <a:latin typeface="Calibri" pitchFamily="34" charset="0"/>
                <a:ea typeface="Calibri" pitchFamily="34" charset="-122"/>
                <a:cs typeface="Calibri" pitchFamily="34" charset="-120"/>
              </a:rPr>
              <a:t>FreshKirana  ·  business model briefing  ·  companion documents: B2B Business Model &amp; Operating Plan  ·  Build Plan &amp; Workflow</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FreshKirana Model</dc:title>
  <dc:subject>B2B grocery distribution — business model briefing</dc:subject>
  <dc:creator>FreshKirana</dc:creator>
  <cp:lastModifiedBy>FreshKirana</cp:lastModifiedBy>
  <cp:revision>1</cp:revision>
  <dcterms:created xsi:type="dcterms:W3CDTF">2026-08-24T09:03:17Z</dcterms:created>
  <dcterms:modified xsi:type="dcterms:W3CDTF">2026-08-24T09:03:17Z</dcterms:modified>
</cp:coreProperties>
</file>